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520" r:id="rId3"/>
    <p:sldId id="521" r:id="rId5"/>
    <p:sldId id="522" r:id="rId6"/>
    <p:sldId id="523" r:id="rId7"/>
    <p:sldId id="524" r:id="rId8"/>
    <p:sldId id="525" r:id="rId9"/>
    <p:sldId id="42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656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24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6906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56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1555" algn="l" defTabSz="91249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38120" algn="l" defTabSz="91249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194685" algn="l" defTabSz="91249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0615" algn="l" defTabSz="91249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002" autoAdjust="0"/>
    <p:restoredTop sz="94737" autoAdjust="0"/>
  </p:normalViewPr>
  <p:slideViewPr>
    <p:cSldViewPr>
      <p:cViewPr>
        <p:scale>
          <a:sx n="60" d="100"/>
          <a:sy n="60" d="100"/>
        </p:scale>
        <p:origin x="-1564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40DBB-50DA-4473-8951-FC0BEF22A68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22537-213E-4A53-8258-B26F9F84C93D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4402E26-FAA5-45EC-88E4-50C6AE9CA26F}" type="datetimeFigureOut">
              <a:rPr lang="en-US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075F1B93-FA72-4BF5-9350-D61F2032E217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56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49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906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562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1555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120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685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0615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4E59E0D-64FC-4115-B6CE-6BD55FEE5445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4E59E0D-64FC-4115-B6CE-6BD55FEE5445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4E59E0D-64FC-4115-B6CE-6BD55FEE5445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4E59E0D-64FC-4115-B6CE-6BD55FEE5445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4E59E0D-64FC-4115-B6CE-6BD55FEE5445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4E59E0D-64FC-4115-B6CE-6BD55FEE5445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126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1126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002A441-166F-46A0-B4CC-D8D748EA95EA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9"/>
          <p:cNvSpPr/>
          <p:nvPr/>
        </p:nvSpPr>
        <p:spPr>
          <a:xfrm>
            <a:off x="-9525" y="6053150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10"/>
          <p:cNvSpPr/>
          <p:nvPr/>
        </p:nvSpPr>
        <p:spPr>
          <a:xfrm>
            <a:off x="2359025" y="6043625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rgbClr val="FFFFFF"/>
                </a:solidFill>
              </a:defRPr>
            </a:lvl1pPr>
            <a:lvl2pPr marL="456565" indent="0" algn="ctr">
              <a:buNone/>
            </a:lvl2pPr>
            <a:lvl3pPr marL="912495" indent="0" algn="ctr">
              <a:buNone/>
            </a:lvl3pPr>
            <a:lvl4pPr marL="1369060" indent="0" algn="ctr">
              <a:buNone/>
            </a:lvl4pPr>
            <a:lvl5pPr marL="1825625" indent="0" algn="ctr">
              <a:buNone/>
            </a:lvl5pPr>
            <a:lvl6pPr marL="2281555" indent="0" algn="ctr">
              <a:buNone/>
            </a:lvl6pPr>
            <a:lvl7pPr marL="2738120" indent="0" algn="ctr">
              <a:buNone/>
            </a:lvl7pPr>
            <a:lvl8pPr marL="3194685" indent="0" algn="ctr">
              <a:buNone/>
            </a:lvl8pPr>
            <a:lvl9pPr marL="3650615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1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E9E39E-A453-4C5D-8A50-4CA9B97DA6BB}" type="datetime1">
              <a:rPr lang="en-US" smtClean="0"/>
            </a:fld>
            <a:endParaRPr lang="en-US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41"/>
            <a:ext cx="5867400" cy="365125"/>
          </a:xfrm>
        </p:spPr>
        <p:txBody>
          <a:bodyPr/>
          <a:lstStyle>
            <a:lvl1pPr algn="r"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4796404-3ABE-42E0-BAAB-E184FAB6343E}" type="slidenum">
              <a:rPr lang="en-US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7" y="1600200"/>
            <a:ext cx="81534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5B7EF-721A-4696-8828-51DAF9567436}" type="datetime1">
              <a:rPr lang="en-US" smtClean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323B9-1D87-4D56-A1A0-9DA960EA2996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743201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3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0E57A-3AA4-4CE3-848E-D6F39724C0D8}" type="datetime1">
              <a:rPr lang="en-US" smtClean="0"/>
            </a:fld>
            <a:endParaRPr lang="en-US" dirty="0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D2FF345-7B17-4B69-A043-CF629E9F4723}" type="slidenum">
              <a:rPr lang="en-US"/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1A34C40-7D70-4BE3-B5BF-8B71124AD5E1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9410A00-1153-438E-A3B6-B3C6724770AE}" type="slidenum">
              <a:rPr lang="en-US"/>
            </a:fld>
            <a:endParaRPr lang="en-US" dirty="0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1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1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31B0DEF-1B4F-4562-9EE0-1F54C276EF82}" type="datetime1">
              <a:rPr lang="en-US" smtClean="0"/>
            </a:fld>
            <a:endParaRPr lang="en-US" dirty="0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474CB6E-E696-4C16-A68F-E749F6A5BD70}" type="slidenum">
              <a:rPr lang="en-US"/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39A4A-34CD-47CB-BB02-093EA1037AFC}" type="datetime1">
              <a:rPr lang="en-US" smtClean="0"/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A7E5E-6FDD-46DC-9B9A-1EE1DF3B4DA2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DD2585-269D-4D98-9B5A-2298414F676C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B215E6A-49DA-4E1E-A153-DCAF308A2D4A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3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6909" tIns="182547" rIns="136909" bIns="91273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74CB1-9737-4209-AC85-56432E702054}" type="datetime1">
              <a:rPr lang="en-US" smtClean="0"/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BC58E9-1387-4400-8547-C72E690215F0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 bwMode="white">
          <a:xfrm>
            <a:off x="-9525" y="4572013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9"/>
          <p:cNvSpPr/>
          <p:nvPr/>
        </p:nvSpPr>
        <p:spPr>
          <a:xfrm>
            <a:off x="1544637" y="4654550"/>
            <a:ext cx="759936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10"/>
          <p:cNvSpPr/>
          <p:nvPr/>
        </p:nvSpPr>
        <p:spPr bwMode="white">
          <a:xfrm>
            <a:off x="1447801" y="12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800"/>
            </a:lvl4pPr>
            <a:lvl5pPr>
              <a:buFontTx/>
              <a:buNone/>
              <a:defRPr sz="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9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3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6198B5E-D995-478A-A5B2-D32CECFEA186}" type="datetime1">
              <a:rPr lang="en-US" smtClean="0"/>
            </a:fld>
            <a:endParaRPr lang="en-US" dirty="0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447800" cy="663575"/>
          </a:xfrm>
        </p:spPr>
        <p:txBody>
          <a:bodyPr rtlCol="0"/>
          <a:lstStyle>
            <a:lvl1pPr>
              <a:defRPr sz="2800" smtClean="0"/>
            </a:lvl1pPr>
          </a:lstStyle>
          <a:p>
            <a:pPr>
              <a:defRPr/>
            </a:pPr>
            <a:fld id="{F7E6F633-B2BD-4AD1-8584-07D2AEFF3912}" type="slidenum">
              <a:rPr lang="en-US"/>
            </a:fld>
            <a:endParaRPr lang="en-US" dirty="0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6BF75-6B4E-458D-BA30-3DF57B461485}" type="datetime1">
              <a:rPr lang="en-US" smtClean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3028A-3ECF-42DF-877F-44A07ABEBB04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13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8E477-5D52-4F72-AE3F-CB74C7C139F7}" type="datetime1">
              <a:rPr lang="en-US" smtClean="0"/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6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5C686-4C98-447A-9F73-422C495970F1}" type="slidenum">
              <a:rPr lang="en-US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273" tIns="45636" rIns="91273" bIns="45636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13"/>
            <a:ext cx="81534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273" tIns="45636" rIns="91273" bIns="45636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lIns="91273" tIns="45636" rIns="91273" bIns="45636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553C0DF2-60CE-4185-A133-69012A27FFD1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6248400"/>
            <a:ext cx="5421313" cy="365125"/>
          </a:xfrm>
          <a:prstGeom prst="rect">
            <a:avLst/>
          </a:prstGeom>
        </p:spPr>
        <p:txBody>
          <a:bodyPr vert="horz" lIns="91273" tIns="45636" rIns="91273" bIns="45636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School of Computer Engineering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273" tIns="45636" rIns="91273" bIns="4563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533400" cy="244475"/>
          </a:xfrm>
          <a:prstGeom prst="rect">
            <a:avLst/>
          </a:prstGeom>
        </p:spPr>
        <p:txBody>
          <a:bodyPr vert="horz" lIns="91273" tIns="45636" rIns="91273" bIns="45636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 smtClean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6646576E-E10C-4C06-9E13-AEF2D4E28074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5pPr>
      <a:lvl6pPr marL="456565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6pPr>
      <a:lvl7pPr marL="912495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7pPr>
      <a:lvl8pPr marL="1369060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8pPr>
      <a:lvl9pPr marL="1825625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8770" indent="-318770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8810" indent="-272415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912495" indent="-227965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60" indent="-227965" algn="l" rtl="0" fontAlgn="base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25" indent="-227965" algn="l" rtl="0" fontAlgn="base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099310" indent="-227965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2995" indent="-227965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46680" indent="-227965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1000" indent="-227965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24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155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381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946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06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-25413" y="228600"/>
            <a:ext cx="8153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String Representation </a:t>
            </a:r>
            <a:endParaRPr lang="en-US" sz="3600" b="1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2" descr="http://www.entranceforms.com/libs/img/logos/kiit0712.logo.jpg"/>
          <p:cNvPicPr>
            <a:picLocks noChangeAspect="1" noChangeArrowheads="1"/>
          </p:cNvPicPr>
          <p:nvPr/>
        </p:nvPicPr>
        <p:blipFill>
          <a:blip r:embed="rId1" cstate="print"/>
          <a:srcRect l="7585" b="3870"/>
          <a:stretch>
            <a:fillRect/>
          </a:stretch>
        </p:blipFill>
        <p:spPr bwMode="auto">
          <a:xfrm>
            <a:off x="8153403" y="533400"/>
            <a:ext cx="928396" cy="685800"/>
          </a:xfrm>
          <a:prstGeom prst="rect">
            <a:avLst/>
          </a:prstGeom>
          <a:noFill/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506310"/>
            <a:ext cx="8115300" cy="316523"/>
          </a:xfrm>
          <a:solidFill>
            <a:srgbClr val="008000"/>
          </a:solidFill>
          <a:ln>
            <a:solidFill>
              <a:srgbClr val="00B050"/>
            </a:solidFill>
            <a:miter lim="800000"/>
          </a:ln>
        </p:spPr>
        <p:txBody>
          <a:bodyPr wrap="square" lIns="91258" tIns="45628" rIns="91258" bIns="45628" numCol="1" anchorCtr="0" compatLnSpc="1"/>
          <a:lstStyle/>
          <a:p>
            <a:pPr algn="ctr"/>
            <a:r>
              <a:rPr lang="en-US" sz="2200" b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School of Computer Engineering</a:t>
            </a:r>
            <a:endParaRPr lang="en-US" sz="1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263" y="1507153"/>
            <a:ext cx="9008537" cy="3662541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Cambria" panose="02040503050406030204" pitchFamily="18" charset="0"/>
              </a:rPr>
              <a:t>Strings are defined as an array of characters. The difference between a character array and a string is the string is terminated with a </a:t>
            </a:r>
            <a:r>
              <a:rPr lang="en-US" sz="2000" dirty="0" smtClean="0">
                <a:latin typeface="Cambria" panose="02040503050406030204" pitchFamily="18" charset="0"/>
              </a:rPr>
              <a:t>null character </a:t>
            </a:r>
            <a:r>
              <a:rPr lang="en-US" sz="2000" dirty="0" smtClean="0">
                <a:latin typeface="Cambria" panose="02040503050406030204" pitchFamily="18" charset="0"/>
              </a:rPr>
              <a:t>‘\0</a:t>
            </a:r>
            <a:r>
              <a:rPr lang="en-US" sz="2000" dirty="0" smtClean="0">
                <a:latin typeface="Cambria" panose="02040503050406030204" pitchFamily="18" charset="0"/>
              </a:rPr>
              <a:t>’.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lnSpc>
                <a:spcPct val="120000"/>
              </a:lnSpc>
              <a:buClr>
                <a:srgbClr val="C00000"/>
              </a:buClr>
              <a:buSzPct val="80000"/>
            </a:pP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lnSpc>
                <a:spcPct val="12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Cambria" panose="02040503050406030204" pitchFamily="18" charset="0"/>
              </a:rPr>
              <a:t>In </a:t>
            </a:r>
            <a:r>
              <a:rPr lang="en-US" sz="2000" dirty="0" smtClean="0">
                <a:latin typeface="Cambria" panose="02040503050406030204" pitchFamily="18" charset="0"/>
              </a:rPr>
              <a:t>C, a string can be referred to either using a character pointer or as a character </a:t>
            </a:r>
            <a:r>
              <a:rPr lang="en-US" sz="2000" dirty="0" smtClean="0">
                <a:latin typeface="Cambria" panose="02040503050406030204" pitchFamily="18" charset="0"/>
              </a:rPr>
              <a:t>array.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Cambria" panose="02040503050406030204" pitchFamily="18" charset="0"/>
              </a:rPr>
              <a:t>When </a:t>
            </a:r>
            <a:r>
              <a:rPr lang="en-US" sz="2000" dirty="0" smtClean="0">
                <a:latin typeface="Cambria" panose="02040503050406030204" pitchFamily="18" charset="0"/>
              </a:rPr>
              <a:t>strings are declared as character arrays, they are stored like other types of arrays . e.g., char </a:t>
            </a:r>
            <a:r>
              <a:rPr lang="en-US" sz="2000" dirty="0" err="1" smtClean="0">
                <a:latin typeface="Cambria" panose="02040503050406030204" pitchFamily="18" charset="0"/>
              </a:rPr>
              <a:t>str</a:t>
            </a:r>
            <a:r>
              <a:rPr lang="en-US" sz="2000" dirty="0" smtClean="0">
                <a:latin typeface="Cambria" panose="02040503050406030204" pitchFamily="18" charset="0"/>
              </a:rPr>
              <a:t>[4] = “</a:t>
            </a:r>
            <a:r>
              <a:rPr lang="en-US" sz="2000" dirty="0" err="1" smtClean="0">
                <a:latin typeface="Cambria" panose="02040503050406030204" pitchFamily="18" charset="0"/>
              </a:rPr>
              <a:t>mam</a:t>
            </a:r>
            <a:r>
              <a:rPr lang="en-US" sz="2000" dirty="0" smtClean="0">
                <a:latin typeface="Cambria" panose="02040503050406030204" pitchFamily="18" charset="0"/>
              </a:rPr>
              <a:t>”;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Cambria" panose="02040503050406030204" pitchFamily="18" charset="0"/>
              </a:rPr>
              <a:t>Pointer </a:t>
            </a:r>
            <a:r>
              <a:rPr lang="en-US" sz="2000" dirty="0" smtClean="0">
                <a:latin typeface="Cambria" panose="02040503050406030204" pitchFamily="18" charset="0"/>
              </a:rPr>
              <a:t>to string in C can be used to point to the starting address of the array, the first character in the array. These pointers can be </a:t>
            </a:r>
            <a:r>
              <a:rPr lang="en-US" sz="2000" dirty="0" err="1" smtClean="0">
                <a:latin typeface="Cambria" panose="02040503050406030204" pitchFamily="18" charset="0"/>
              </a:rPr>
              <a:t>dereferenced</a:t>
            </a:r>
            <a:r>
              <a:rPr lang="en-US" sz="2000" dirty="0" smtClean="0">
                <a:latin typeface="Cambria" panose="02040503050406030204" pitchFamily="18" charset="0"/>
              </a:rPr>
              <a:t> using the asterisk * operator to identify the character stored at the location.</a:t>
            </a:r>
            <a:endParaRPr lang="en-US" sz="2000" dirty="0" smtClean="0">
              <a:latin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22323B9-1D87-4D56-A1A0-9DA960EA2996}" type="slidenum">
              <a:rPr lang="en-US" smtClean="0"/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93066" y="2427748"/>
          <a:ext cx="118377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421779"/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17066" y="2427748"/>
          <a:ext cx="1828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976"/>
                <a:gridCol w="433976"/>
                <a:gridCol w="480424"/>
                <a:gridCol w="480424"/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\0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93066" y="2142445"/>
            <a:ext cx="1087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char </a:t>
            </a:r>
            <a:r>
              <a:rPr lang="en-GB" sz="1600" dirty="0" smtClean="0">
                <a:latin typeface="Cambria" panose="02040503050406030204" pitchFamily="18" charset="0"/>
              </a:rPr>
              <a:t>array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50466" y="2122948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string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833789" y="5730240"/>
          <a:ext cx="1828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976"/>
                <a:gridCol w="433976"/>
                <a:gridCol w="480424"/>
                <a:gridCol w="480424"/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\0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44159" y="5467886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100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1754" y="5457339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101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58017" y="5446706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102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29189" y="5457339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103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54222" y="5730240"/>
            <a:ext cx="6663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Value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4581" y="5436073"/>
            <a:ext cx="896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Address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662589" y="5632774"/>
            <a:ext cx="381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717523" y="5912951"/>
            <a:ext cx="3810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614589" y="5730240"/>
          <a:ext cx="609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 smtClean="0"/>
                        <a:t>100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669523" y="6000303"/>
            <a:ext cx="4523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ptr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93323" y="5452646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8000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96154" y="5431466"/>
            <a:ext cx="896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Address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4157389" y="5638800"/>
            <a:ext cx="4572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71589" y="5715000"/>
            <a:ext cx="6663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>
                <a:latin typeface="Cambria" panose="02040503050406030204" pitchFamily="18" charset="0"/>
              </a:rPr>
              <a:t>Value</a:t>
            </a:r>
            <a:endParaRPr lang="en-GB" sz="1600" dirty="0" smtClean="0">
              <a:latin typeface="Cambria" panose="02040503050406030204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rot="10800000">
            <a:off x="4113088" y="5911701"/>
            <a:ext cx="4572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hape 34"/>
          <p:cNvCxnSpPr>
            <a:stCxn id="27" idx="2"/>
            <a:endCxn id="13" idx="0"/>
          </p:cNvCxnSpPr>
          <p:nvPr/>
        </p:nvCxnSpPr>
        <p:spPr>
          <a:xfrm rot="5400000" flipH="1" flipV="1">
            <a:off x="5015973" y="5347619"/>
            <a:ext cx="870971" cy="1111505"/>
          </a:xfrm>
          <a:prstGeom prst="bentConnector5">
            <a:avLst>
              <a:gd name="adj1" fmla="val -10377"/>
              <a:gd name="adj2" fmla="val 48341"/>
              <a:gd name="adj3" fmla="val 12624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3400" y="5334000"/>
            <a:ext cx="2218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</a:rPr>
              <a:t>char </a:t>
            </a:r>
            <a:r>
              <a:rPr lang="en-US" dirty="0" err="1" smtClean="0">
                <a:latin typeface="Cambria" panose="02040503050406030204" pitchFamily="18" charset="0"/>
              </a:rPr>
              <a:t>str</a:t>
            </a:r>
            <a:r>
              <a:rPr lang="en-US" dirty="0" smtClean="0">
                <a:latin typeface="Cambria" panose="02040503050406030204" pitchFamily="18" charset="0"/>
              </a:rPr>
              <a:t>[4] = </a:t>
            </a:r>
            <a:r>
              <a:rPr lang="en-US" dirty="0" smtClean="0">
                <a:latin typeface="Cambria" panose="02040503050406030204" pitchFamily="18" charset="0"/>
              </a:rPr>
              <a:t>“MAM”;</a:t>
            </a:r>
            <a:endParaRPr lang="en-US" dirty="0" smtClean="0">
              <a:latin typeface="Cambria" panose="02040503050406030204" pitchFamily="18" charset="0"/>
            </a:endParaRPr>
          </a:p>
          <a:p>
            <a:r>
              <a:rPr lang="en-US" dirty="0" smtClean="0">
                <a:latin typeface="Cambria" panose="02040503050406030204" pitchFamily="18" charset="0"/>
              </a:rPr>
              <a:t>char *</a:t>
            </a:r>
            <a:r>
              <a:rPr lang="en-US" dirty="0" err="1" smtClean="0">
                <a:latin typeface="Cambria" panose="02040503050406030204" pitchFamily="18" charset="0"/>
              </a:rPr>
              <a:t>ptr</a:t>
            </a:r>
            <a:r>
              <a:rPr lang="en-US" dirty="0" smtClean="0">
                <a:latin typeface="Cambria" panose="02040503050406030204" pitchFamily="18" charset="0"/>
              </a:rPr>
              <a:t> = </a:t>
            </a:r>
            <a:r>
              <a:rPr lang="en-US" dirty="0" err="1" smtClean="0">
                <a:latin typeface="Cambria" panose="02040503050406030204" pitchFamily="18" charset="0"/>
              </a:rPr>
              <a:t>str</a:t>
            </a:r>
            <a:r>
              <a:rPr lang="en-US" dirty="0" smtClean="0">
                <a:latin typeface="Cambria" panose="02040503050406030204" pitchFamily="18" charset="0"/>
              </a:rPr>
              <a:t>;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-25413" y="228600"/>
            <a:ext cx="8153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String </a:t>
            </a:r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Manipulation</a:t>
            </a:r>
            <a:endParaRPr lang="en-US" sz="3600" b="1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2" descr="http://www.entranceforms.com/libs/img/logos/kiit0712.logo.jpg"/>
          <p:cNvPicPr>
            <a:picLocks noChangeAspect="1" noChangeArrowheads="1"/>
          </p:cNvPicPr>
          <p:nvPr/>
        </p:nvPicPr>
        <p:blipFill>
          <a:blip r:embed="rId1" cstate="print"/>
          <a:srcRect l="7585" b="3870"/>
          <a:stretch>
            <a:fillRect/>
          </a:stretch>
        </p:blipFill>
        <p:spPr bwMode="auto">
          <a:xfrm>
            <a:off x="8153403" y="533400"/>
            <a:ext cx="928396" cy="685800"/>
          </a:xfrm>
          <a:prstGeom prst="rect">
            <a:avLst/>
          </a:prstGeom>
          <a:noFill/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506310"/>
            <a:ext cx="8115300" cy="316523"/>
          </a:xfrm>
          <a:solidFill>
            <a:srgbClr val="008000"/>
          </a:solidFill>
          <a:ln>
            <a:solidFill>
              <a:srgbClr val="00B050"/>
            </a:solidFill>
            <a:miter lim="800000"/>
          </a:ln>
        </p:spPr>
        <p:txBody>
          <a:bodyPr wrap="square" lIns="91258" tIns="45628" rIns="91258" bIns="45628" numCol="1" anchorCtr="0" compatLnSpc="1"/>
          <a:lstStyle/>
          <a:p>
            <a:pPr algn="ctr"/>
            <a:r>
              <a:rPr lang="en-US" sz="2200" b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School of Computer Engineering</a:t>
            </a:r>
            <a:endParaRPr lang="en-US" sz="1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263" y="1507153"/>
            <a:ext cx="9008537" cy="504433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String manipulation basically refers to the process of handling and analyzing strings. It involves various operations concerned with modification and parsing of strings to use and change its data</a:t>
            </a:r>
            <a:r>
              <a:rPr lang="en-US" sz="2000" dirty="0" smtClean="0">
                <a:latin typeface="Cambria" panose="02040503050406030204" pitchFamily="18" charset="0"/>
              </a:rPr>
              <a:t>.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b="1" dirty="0" smtClean="0">
                <a:latin typeface="Cambria" panose="02040503050406030204" pitchFamily="18" charset="0"/>
              </a:rPr>
              <a:t>Concatenation of Strings: </a:t>
            </a:r>
            <a:r>
              <a:rPr lang="en-US" sz="2000" dirty="0" smtClean="0">
                <a:latin typeface="Cambria" panose="02040503050406030204" pitchFamily="18" charset="0"/>
              </a:rPr>
              <a:t>The process of combining more than one string together is known as </a:t>
            </a:r>
            <a:r>
              <a:rPr lang="en-US" sz="2000" dirty="0" smtClean="0">
                <a:latin typeface="Cambria" panose="02040503050406030204" pitchFamily="18" charset="0"/>
              </a:rPr>
              <a:t>concatenation</a:t>
            </a:r>
            <a:r>
              <a:rPr lang="en-US" sz="2000" dirty="0" smtClean="0">
                <a:latin typeface="Cambria" panose="02040503050406030204" pitchFamily="18" charset="0"/>
              </a:rPr>
              <a:t>. String </a:t>
            </a:r>
            <a:r>
              <a:rPr lang="en-US" sz="2000" dirty="0" smtClean="0">
                <a:latin typeface="Cambria" panose="02040503050406030204" pitchFamily="18" charset="0"/>
              </a:rPr>
              <a:t>concatenation </a:t>
            </a:r>
            <a:r>
              <a:rPr lang="en-US" sz="2000" dirty="0" smtClean="0">
                <a:latin typeface="Cambria" panose="02040503050406030204" pitchFamily="18" charset="0"/>
              </a:rPr>
              <a:t>is the technique of combining two strings. Below is the algorithm for the </a:t>
            </a:r>
            <a:r>
              <a:rPr lang="en-US" sz="2000" dirty="0" smtClean="0">
                <a:latin typeface="Cambria" panose="02040503050406030204" pitchFamily="18" charset="0"/>
              </a:rPr>
              <a:t>concatenation </a:t>
            </a:r>
            <a:r>
              <a:rPr lang="en-US" sz="2000" dirty="0" smtClean="0">
                <a:latin typeface="Cambria" panose="02040503050406030204" pitchFamily="18" charset="0"/>
              </a:rPr>
              <a:t>of two strings: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VOID CONCATENATE </a:t>
            </a:r>
            <a:r>
              <a:rPr lang="en-US" sz="2000" dirty="0" smtClean="0">
                <a:latin typeface="Cambria" panose="02040503050406030204" pitchFamily="18" charset="0"/>
              </a:rPr>
              <a:t>(STR1, STR2, STR3</a:t>
            </a:r>
            <a:r>
              <a:rPr lang="en-US" sz="2000" dirty="0" smtClean="0">
                <a:latin typeface="Cambria" panose="02040503050406030204" pitchFamily="18" charset="0"/>
              </a:rPr>
              <a:t>)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1. LEN1 = LENGTH(STR1</a:t>
            </a:r>
            <a:r>
              <a:rPr lang="en-US" sz="2000" dirty="0" smtClean="0">
                <a:latin typeface="Cambria" panose="02040503050406030204" pitchFamily="18" charset="0"/>
              </a:rPr>
              <a:t>)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2. LEN2 = LENGTH(STR2</a:t>
            </a:r>
            <a:r>
              <a:rPr lang="en-US" sz="2000" dirty="0" smtClean="0">
                <a:latin typeface="Cambria" panose="02040503050406030204" pitchFamily="18" charset="0"/>
              </a:rPr>
              <a:t>)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3. SET I = </a:t>
            </a:r>
            <a:r>
              <a:rPr lang="en-US" sz="2000" dirty="0" smtClean="0">
                <a:latin typeface="Cambria" panose="02040503050406030204" pitchFamily="18" charset="0"/>
              </a:rPr>
              <a:t>0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4. Repeat Steps 5 and 6 while I &lt; LEN1-1: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5.     STR3[I] = STR1[I</a:t>
            </a:r>
            <a:r>
              <a:rPr lang="en-US" sz="2000" dirty="0" smtClean="0">
                <a:latin typeface="Cambria" panose="02040503050406030204" pitchFamily="18" charset="0"/>
              </a:rPr>
              <a:t>]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6.     SET I = </a:t>
            </a:r>
            <a:r>
              <a:rPr lang="en-US" sz="2000" dirty="0" smtClean="0">
                <a:latin typeface="Cambria" panose="02040503050406030204" pitchFamily="18" charset="0"/>
              </a:rPr>
              <a:t>I+1</a:t>
            </a:r>
            <a:endParaRPr lang="en-US" sz="2000" dirty="0" smtClean="0">
              <a:latin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22323B9-1D87-4D56-A1A0-9DA960EA2996}" type="slidenum">
              <a:rPr lang="en-US" smtClean="0"/>
            </a:fld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953000" y="4267200"/>
            <a:ext cx="3886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Cambria" panose="02040503050406030204" pitchFamily="18" charset="0"/>
              </a:rPr>
              <a:t>7. SET J = 0.</a:t>
            </a:r>
            <a:endParaRPr lang="en-GB" sz="2000" dirty="0" smtClean="0">
              <a:latin typeface="Cambria" panose="02040503050406030204" pitchFamily="18" charset="0"/>
            </a:endParaRPr>
          </a:p>
          <a:p>
            <a:r>
              <a:rPr lang="en-GB" sz="2000" dirty="0" smtClean="0">
                <a:latin typeface="Cambria" panose="02040503050406030204" pitchFamily="18" charset="0"/>
              </a:rPr>
              <a:t>8. </a:t>
            </a:r>
            <a:r>
              <a:rPr lang="en-GB" sz="2000" dirty="0" smtClean="0">
                <a:latin typeface="Cambria" panose="02040503050406030204" pitchFamily="18" charset="0"/>
              </a:rPr>
              <a:t>Repeat Steps 9 to 11 </a:t>
            </a:r>
            <a:r>
              <a:rPr lang="en-GB" sz="2000" dirty="0" smtClean="0">
                <a:latin typeface="Cambria" panose="02040503050406030204" pitchFamily="18" charset="0"/>
              </a:rPr>
              <a:t>WHILE I </a:t>
            </a:r>
            <a:r>
              <a:rPr lang="en-GB" sz="2000" dirty="0" smtClean="0">
                <a:latin typeface="Cambria" panose="02040503050406030204" pitchFamily="18" charset="0"/>
              </a:rPr>
              <a:t>&lt; (LEN1 + LEN2 - 2):</a:t>
            </a:r>
            <a:endParaRPr lang="en-GB" sz="2000" dirty="0" smtClean="0">
              <a:latin typeface="Cambria" panose="02040503050406030204" pitchFamily="18" charset="0"/>
            </a:endParaRPr>
          </a:p>
          <a:p>
            <a:r>
              <a:rPr lang="en-GB" sz="2000" dirty="0" smtClean="0">
                <a:latin typeface="Cambria" panose="02040503050406030204" pitchFamily="18" charset="0"/>
              </a:rPr>
              <a:t>9.     STR3[I] = STR2[J].</a:t>
            </a:r>
            <a:endParaRPr lang="en-GB" sz="2000" dirty="0" smtClean="0">
              <a:latin typeface="Cambria" panose="02040503050406030204" pitchFamily="18" charset="0"/>
            </a:endParaRPr>
          </a:p>
          <a:p>
            <a:r>
              <a:rPr lang="en-GB" sz="2000" dirty="0" smtClean="0">
                <a:latin typeface="Cambria" panose="02040503050406030204" pitchFamily="18" charset="0"/>
              </a:rPr>
              <a:t>10.    J = J+1.</a:t>
            </a:r>
            <a:endParaRPr lang="en-GB" sz="2000" dirty="0" smtClean="0">
              <a:latin typeface="Cambria" panose="02040503050406030204" pitchFamily="18" charset="0"/>
            </a:endParaRPr>
          </a:p>
          <a:p>
            <a:r>
              <a:rPr lang="en-GB" sz="2000" dirty="0" smtClean="0">
                <a:latin typeface="Cambria" panose="02040503050406030204" pitchFamily="18" charset="0"/>
              </a:rPr>
              <a:t>11.    I = I+1.</a:t>
            </a:r>
            <a:endParaRPr lang="en-GB" sz="2000" dirty="0" smtClean="0">
              <a:latin typeface="Cambria" panose="02040503050406030204" pitchFamily="18" charset="0"/>
            </a:endParaRPr>
          </a:p>
          <a:p>
            <a:r>
              <a:rPr lang="en-GB" sz="2000" dirty="0" smtClean="0">
                <a:latin typeface="Cambria" panose="02040503050406030204" pitchFamily="18" charset="0"/>
              </a:rPr>
              <a:t>12. EXIT</a:t>
            </a:r>
            <a:endParaRPr lang="en-GB" sz="2000" dirty="0" smtClean="0"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-25413" y="228600"/>
            <a:ext cx="8153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String </a:t>
            </a:r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Manipulation cont’d</a:t>
            </a:r>
            <a:endParaRPr lang="en-US" sz="3600" b="1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2" descr="http://www.entranceforms.com/libs/img/logos/kiit0712.logo.jpg"/>
          <p:cNvPicPr>
            <a:picLocks noChangeAspect="1" noChangeArrowheads="1"/>
          </p:cNvPicPr>
          <p:nvPr/>
        </p:nvPicPr>
        <p:blipFill>
          <a:blip r:embed="rId1" cstate="print"/>
          <a:srcRect l="7585" b="3870"/>
          <a:stretch>
            <a:fillRect/>
          </a:stretch>
        </p:blipFill>
        <p:spPr bwMode="auto">
          <a:xfrm>
            <a:off x="8153403" y="533400"/>
            <a:ext cx="928396" cy="685800"/>
          </a:xfrm>
          <a:prstGeom prst="rect">
            <a:avLst/>
          </a:prstGeom>
          <a:noFill/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506310"/>
            <a:ext cx="8115300" cy="316523"/>
          </a:xfrm>
          <a:solidFill>
            <a:srgbClr val="008000"/>
          </a:solidFill>
          <a:ln>
            <a:solidFill>
              <a:srgbClr val="00B050"/>
            </a:solidFill>
            <a:miter lim="800000"/>
          </a:ln>
        </p:spPr>
        <p:txBody>
          <a:bodyPr wrap="square" lIns="91258" tIns="45628" rIns="91258" bIns="45628" numCol="1" anchorCtr="0" compatLnSpc="1"/>
          <a:lstStyle/>
          <a:p>
            <a:pPr algn="ctr"/>
            <a:r>
              <a:rPr lang="en-US" sz="2200" b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School of Computer Engineering</a:t>
            </a:r>
            <a:endParaRPr lang="en-US" sz="1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263" y="1507153"/>
            <a:ext cx="9008537" cy="230832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INT LENGTH(STR1)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1. SET LEN = 0 AND I = 0.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2. Repeat Steps 3 to 4 while STRING[I] </a:t>
            </a:r>
            <a:r>
              <a:rPr lang="en-US" sz="2000" dirty="0" smtClean="0">
                <a:latin typeface="Cambria" panose="02040503050406030204" pitchFamily="18" charset="0"/>
              </a:rPr>
              <a:t>IS NOT NULL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3. </a:t>
            </a:r>
            <a:r>
              <a:rPr lang="en-US" sz="2000" dirty="0" smtClean="0">
                <a:latin typeface="Cambria" panose="02040503050406030204" pitchFamily="18" charset="0"/>
              </a:rPr>
              <a:t>    LEN </a:t>
            </a:r>
            <a:r>
              <a:rPr lang="en-US" sz="2000" dirty="0" smtClean="0">
                <a:latin typeface="Cambria" panose="02040503050406030204" pitchFamily="18" charset="0"/>
              </a:rPr>
              <a:t>= LEN + </a:t>
            </a:r>
            <a:r>
              <a:rPr lang="en-US" sz="2000" dirty="0" smtClean="0">
                <a:latin typeface="Cambria" panose="02040503050406030204" pitchFamily="18" charset="0"/>
              </a:rPr>
              <a:t>1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4. </a:t>
            </a:r>
            <a:r>
              <a:rPr lang="en-US" sz="2000" dirty="0" smtClean="0">
                <a:latin typeface="Cambria" panose="02040503050406030204" pitchFamily="18" charset="0"/>
              </a:rPr>
              <a:t>    SET </a:t>
            </a:r>
            <a:r>
              <a:rPr lang="en-US" sz="2000" dirty="0" smtClean="0">
                <a:latin typeface="Cambria" panose="02040503050406030204" pitchFamily="18" charset="0"/>
              </a:rPr>
              <a:t>I = I + </a:t>
            </a:r>
            <a:r>
              <a:rPr lang="en-US" sz="2000" dirty="0" smtClean="0">
                <a:latin typeface="Cambria" panose="02040503050406030204" pitchFamily="18" charset="0"/>
              </a:rPr>
              <a:t>1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798830" lvl="1" indent="-798830" algn="just">
              <a:lnSpc>
                <a:spcPct val="120000"/>
              </a:lnSpc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5. </a:t>
            </a:r>
            <a:r>
              <a:rPr lang="en-US" sz="2000" dirty="0" smtClean="0">
                <a:latin typeface="Cambria" panose="02040503050406030204" pitchFamily="18" charset="0"/>
              </a:rPr>
              <a:t>EXIT</a:t>
            </a:r>
            <a:endParaRPr lang="en-US" sz="2000" dirty="0" smtClean="0">
              <a:latin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22323B9-1D87-4D56-A1A0-9DA960EA2996}" type="slidenum">
              <a:rPr lang="en-US" smtClean="0"/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2400" y="3744433"/>
            <a:ext cx="4013796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i="1" dirty="0" smtClean="0">
                <a:solidFill>
                  <a:schemeClr val="bg1"/>
                </a:solidFill>
                <a:latin typeface="+mn-lt"/>
              </a:rPr>
              <a:t>Home Work</a:t>
            </a:r>
            <a:endParaRPr lang="en-US" sz="2000" i="1" dirty="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63" y="4015565"/>
            <a:ext cx="9008537" cy="255454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Cambria" panose="02040503050406030204" pitchFamily="18" charset="0"/>
              </a:rPr>
              <a:t>Check whether a string is </a:t>
            </a:r>
            <a:r>
              <a:rPr lang="en-US" sz="2000" dirty="0" smtClean="0">
                <a:latin typeface="Cambria" panose="02040503050406030204" pitchFamily="18" charset="0"/>
              </a:rPr>
              <a:t>binary string. A </a:t>
            </a:r>
            <a:r>
              <a:rPr lang="en-US" sz="2000" dirty="0" smtClean="0">
                <a:latin typeface="Cambria" panose="02040503050406030204" pitchFamily="18" charset="0"/>
              </a:rPr>
              <a:t>binary string </a:t>
            </a:r>
            <a:r>
              <a:rPr lang="en-US" sz="2000" dirty="0" smtClean="0">
                <a:latin typeface="Cambria" panose="02040503050406030204" pitchFamily="18" charset="0"/>
              </a:rPr>
              <a:t>is a special kind of string made up of only two types of characters, such as 0 and 1</a:t>
            </a:r>
            <a:r>
              <a:rPr lang="en-US" sz="2000" dirty="0" smtClean="0">
                <a:latin typeface="Cambria" panose="02040503050406030204" pitchFamily="18" charset="0"/>
              </a:rPr>
              <a:t>. For example: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	 Input: </a:t>
            </a:r>
            <a:r>
              <a:rPr lang="en-US" sz="2000" dirty="0" err="1" smtClean="0">
                <a:latin typeface="Cambria" panose="02040503050406030204" pitchFamily="18" charset="0"/>
              </a:rPr>
              <a:t>str</a:t>
            </a:r>
            <a:r>
              <a:rPr lang="en-US" sz="2000" dirty="0" smtClean="0">
                <a:latin typeface="Cambria" panose="02040503050406030204" pitchFamily="18" charset="0"/>
              </a:rPr>
              <a:t> = "01010101010"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	Output</a:t>
            </a:r>
            <a:r>
              <a:rPr lang="en-US" sz="2000" dirty="0" smtClean="0">
                <a:latin typeface="Cambria" panose="02040503050406030204" pitchFamily="18" charset="0"/>
              </a:rPr>
              <a:t>: Yes, it is a </a:t>
            </a:r>
            <a:r>
              <a:rPr lang="en-US" sz="2000" dirty="0" smtClean="0">
                <a:latin typeface="Cambria" panose="02040503050406030204" pitchFamily="18" charset="0"/>
              </a:rPr>
              <a:t>binary string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</a:pP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	Input</a:t>
            </a:r>
            <a:r>
              <a:rPr lang="en-US" sz="2000" dirty="0" smtClean="0">
                <a:latin typeface="Cambria" panose="02040503050406030204" pitchFamily="18" charset="0"/>
              </a:rPr>
              <a:t>: </a:t>
            </a:r>
            <a:r>
              <a:rPr lang="en-US" sz="2000" dirty="0" err="1" smtClean="0">
                <a:latin typeface="Cambria" panose="02040503050406030204" pitchFamily="18" charset="0"/>
              </a:rPr>
              <a:t>str</a:t>
            </a:r>
            <a:r>
              <a:rPr lang="en-US" sz="2000" dirty="0" smtClean="0">
                <a:latin typeface="Cambria" panose="02040503050406030204" pitchFamily="18" charset="0"/>
              </a:rPr>
              <a:t> = </a:t>
            </a:r>
            <a:r>
              <a:rPr lang="en-US" sz="2000" dirty="0" smtClean="0">
                <a:latin typeface="Cambria" panose="02040503050406030204" pitchFamily="18" charset="0"/>
              </a:rPr>
              <a:t>“CS 07"</a:t>
            </a:r>
            <a:endParaRPr lang="en-US" sz="20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</a:pPr>
            <a:r>
              <a:rPr lang="en-US" sz="2000" dirty="0" smtClean="0">
                <a:latin typeface="Cambria" panose="02040503050406030204" pitchFamily="18" charset="0"/>
              </a:rPr>
              <a:t>	Output</a:t>
            </a:r>
            <a:r>
              <a:rPr lang="en-US" sz="2000" dirty="0" smtClean="0">
                <a:latin typeface="Cambria" panose="02040503050406030204" pitchFamily="18" charset="0"/>
              </a:rPr>
              <a:t>: No, it is not a </a:t>
            </a:r>
            <a:r>
              <a:rPr lang="en-US" sz="2000" dirty="0" smtClean="0">
                <a:latin typeface="Cambria" panose="02040503050406030204" pitchFamily="18" charset="0"/>
              </a:rPr>
              <a:t>binary string</a:t>
            </a:r>
            <a:endParaRPr lang="en-US" sz="2000" dirty="0" smtClean="0"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-25413" y="228600"/>
            <a:ext cx="8153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String </a:t>
            </a:r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Manipulation Home Work</a:t>
            </a:r>
            <a:endParaRPr lang="en-US" sz="3600" b="1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2" descr="http://www.entranceforms.com/libs/img/logos/kiit0712.logo.jpg"/>
          <p:cNvPicPr>
            <a:picLocks noChangeAspect="1" noChangeArrowheads="1"/>
          </p:cNvPicPr>
          <p:nvPr/>
        </p:nvPicPr>
        <p:blipFill>
          <a:blip r:embed="rId1" cstate="print"/>
          <a:srcRect l="7585" b="3870"/>
          <a:stretch>
            <a:fillRect/>
          </a:stretch>
        </p:blipFill>
        <p:spPr bwMode="auto">
          <a:xfrm>
            <a:off x="8153403" y="533400"/>
            <a:ext cx="928396" cy="685800"/>
          </a:xfrm>
          <a:prstGeom prst="rect">
            <a:avLst/>
          </a:prstGeom>
          <a:noFill/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506310"/>
            <a:ext cx="8115300" cy="316523"/>
          </a:xfrm>
          <a:solidFill>
            <a:srgbClr val="008000"/>
          </a:solidFill>
          <a:ln>
            <a:solidFill>
              <a:srgbClr val="00B050"/>
            </a:solidFill>
            <a:miter lim="800000"/>
          </a:ln>
        </p:spPr>
        <p:txBody>
          <a:bodyPr wrap="square" lIns="91258" tIns="45628" rIns="91258" bIns="45628" numCol="1" anchorCtr="0" compatLnSpc="1"/>
          <a:lstStyle/>
          <a:p>
            <a:pPr algn="ctr"/>
            <a:r>
              <a:rPr lang="en-US" sz="2200" b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School of Computer Engineering</a:t>
            </a:r>
            <a:endParaRPr lang="en-US" sz="1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22323B9-1D87-4D56-A1A0-9DA960EA2996}" type="slidenum">
              <a:rPr lang="en-US" smtClean="0"/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263" y="1484055"/>
            <a:ext cx="9008537" cy="5047536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300" dirty="0" smtClean="0">
                <a:latin typeface="Cambria" panose="02040503050406030204" pitchFamily="18" charset="0"/>
              </a:rPr>
              <a:t>Develop an algorithm to check whether a string </a:t>
            </a:r>
            <a:r>
              <a:rPr lang="en-US" sz="2300" dirty="0" smtClean="0">
                <a:latin typeface="Cambria" panose="02040503050406030204" pitchFamily="18" charset="0"/>
              </a:rPr>
              <a:t>is palindrome. A </a:t>
            </a:r>
            <a:r>
              <a:rPr lang="en-US" sz="2300" dirty="0" smtClean="0">
                <a:latin typeface="Cambria" panose="02040503050406030204" pitchFamily="18" charset="0"/>
              </a:rPr>
              <a:t>string </a:t>
            </a:r>
            <a:r>
              <a:rPr lang="en-US" sz="2300" dirty="0" smtClean="0">
                <a:latin typeface="Cambria" panose="02040503050406030204" pitchFamily="18" charset="0"/>
              </a:rPr>
              <a:t>is said to be a palindrome if the reverse of the string is the same as the string</a:t>
            </a:r>
            <a:r>
              <a:rPr lang="en-US" sz="2300" dirty="0" smtClean="0">
                <a:latin typeface="Cambria" panose="02040503050406030204" pitchFamily="18" charset="0"/>
              </a:rPr>
              <a:t>.</a:t>
            </a:r>
            <a:endParaRPr lang="en-US" sz="23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300" dirty="0" smtClean="0">
                <a:latin typeface="Cambria" panose="02040503050406030204" pitchFamily="18" charset="0"/>
              </a:rPr>
              <a:t>Develop an algorithm to </a:t>
            </a:r>
            <a:r>
              <a:rPr lang="en-US" sz="2300" dirty="0" smtClean="0">
                <a:latin typeface="Cambria" panose="02040503050406030204" pitchFamily="18" charset="0"/>
              </a:rPr>
              <a:t>find </a:t>
            </a:r>
            <a:r>
              <a:rPr lang="en-US" sz="2300" dirty="0" smtClean="0">
                <a:latin typeface="Cambria" panose="02040503050406030204" pitchFamily="18" charset="0"/>
              </a:rPr>
              <a:t>a character in </a:t>
            </a:r>
            <a:r>
              <a:rPr lang="en-US" sz="2300" dirty="0" smtClean="0">
                <a:latin typeface="Cambria" panose="02040503050406030204" pitchFamily="18" charset="0"/>
              </a:rPr>
              <a:t>string.</a:t>
            </a:r>
            <a:endParaRPr lang="en-US" sz="23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300" dirty="0" smtClean="0">
                <a:latin typeface="Cambria" panose="02040503050406030204" pitchFamily="18" charset="0"/>
              </a:rPr>
              <a:t>Develop an algorithm to </a:t>
            </a:r>
            <a:r>
              <a:rPr lang="en-US" sz="2300" dirty="0" smtClean="0">
                <a:latin typeface="Cambria" panose="02040503050406030204" pitchFamily="18" charset="0"/>
              </a:rPr>
              <a:t>find </a:t>
            </a:r>
            <a:r>
              <a:rPr lang="en-US" sz="2300" dirty="0" smtClean="0">
                <a:latin typeface="Cambria" panose="02040503050406030204" pitchFamily="18" charset="0"/>
              </a:rPr>
              <a:t>a substring in another </a:t>
            </a:r>
            <a:r>
              <a:rPr lang="en-US" sz="2300" dirty="0" smtClean="0">
                <a:latin typeface="Cambria" panose="02040503050406030204" pitchFamily="18" charset="0"/>
              </a:rPr>
              <a:t>string.</a:t>
            </a:r>
            <a:endParaRPr lang="en-US" sz="23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300" dirty="0" smtClean="0">
                <a:latin typeface="Cambria" panose="02040503050406030204" pitchFamily="18" charset="0"/>
              </a:rPr>
              <a:t>Develop an algorithm </a:t>
            </a:r>
            <a:r>
              <a:rPr lang="en-US" sz="2300" dirty="0" smtClean="0">
                <a:latin typeface="Cambria" panose="02040503050406030204" pitchFamily="18" charset="0"/>
              </a:rPr>
              <a:t>to trim the string. Below </a:t>
            </a:r>
            <a:r>
              <a:rPr lang="en-US" sz="2300" dirty="0" smtClean="0">
                <a:latin typeface="Cambria" panose="02040503050406030204" pitchFamily="18" charset="0"/>
              </a:rPr>
              <a:t>is a </a:t>
            </a:r>
            <a:r>
              <a:rPr lang="en-US" sz="2300" dirty="0" smtClean="0">
                <a:latin typeface="Cambria" panose="02040503050406030204" pitchFamily="18" charset="0"/>
              </a:rPr>
              <a:t>simple solution</a:t>
            </a:r>
            <a:r>
              <a:rPr lang="en-US" sz="2300" dirty="0" smtClean="0">
                <a:latin typeface="Cambria" panose="02040503050406030204" pitchFamily="18" charset="0"/>
              </a:rPr>
              <a:t>:</a:t>
            </a:r>
            <a:endParaRPr lang="en-US" sz="2300" dirty="0" smtClean="0">
              <a:latin typeface="Cambria" panose="02040503050406030204" pitchFamily="18" charset="0"/>
            </a:endParaRPr>
          </a:p>
          <a:p>
            <a:pPr marL="342900" indent="-342900" algn="just">
              <a:buClr>
                <a:srgbClr val="C00000"/>
              </a:buClr>
              <a:buSzPct val="80000"/>
            </a:pPr>
            <a:r>
              <a:rPr lang="en-US" sz="2300" dirty="0" smtClean="0">
                <a:latin typeface="Cambria" panose="02040503050406030204" pitchFamily="18" charset="0"/>
              </a:rPr>
              <a:t>	</a:t>
            </a:r>
            <a:r>
              <a:rPr lang="en-US" sz="2300" dirty="0" smtClean="0">
                <a:latin typeface="Cambria" panose="02040503050406030204" pitchFamily="18" charset="0"/>
              </a:rPr>
              <a:t>Iterate </a:t>
            </a:r>
            <a:r>
              <a:rPr lang="en-US" sz="2300" dirty="0" smtClean="0">
                <a:latin typeface="Cambria" panose="02040503050406030204" pitchFamily="18" charset="0"/>
              </a:rPr>
              <a:t>through all characters of given string, do </a:t>
            </a:r>
            <a:r>
              <a:rPr lang="en-US" sz="2300" dirty="0" smtClean="0">
                <a:latin typeface="Cambria" panose="02040503050406030204" pitchFamily="18" charset="0"/>
              </a:rPr>
              <a:t>following:</a:t>
            </a:r>
            <a:endParaRPr lang="en-US" sz="2300" dirty="0" smtClean="0">
              <a:latin typeface="Cambria" panose="02040503050406030204" pitchFamily="18" charset="0"/>
            </a:endParaRPr>
          </a:p>
          <a:p>
            <a:pPr marL="799465" lvl="1" indent="-342900" algn="just">
              <a:buClr>
                <a:srgbClr val="C00000"/>
              </a:buClr>
              <a:buSzPct val="80000"/>
            </a:pPr>
            <a:r>
              <a:rPr lang="en-US" sz="2300" dirty="0" smtClean="0">
                <a:latin typeface="Cambria" panose="02040503050406030204" pitchFamily="18" charset="0"/>
              </a:rPr>
              <a:t>  </a:t>
            </a:r>
            <a:r>
              <a:rPr lang="en-US" sz="2300" dirty="0" smtClean="0">
                <a:latin typeface="Cambria" panose="02040503050406030204" pitchFamily="18" charset="0"/>
              </a:rPr>
              <a:t>If </a:t>
            </a:r>
            <a:r>
              <a:rPr lang="en-US" sz="2300" dirty="0" smtClean="0">
                <a:latin typeface="Cambria" panose="02040503050406030204" pitchFamily="18" charset="0"/>
              </a:rPr>
              <a:t>current character is a space, then move all subsequent characters one position back and decrease length of the result string</a:t>
            </a:r>
            <a:r>
              <a:rPr lang="en-US" sz="2300" dirty="0" smtClean="0">
                <a:latin typeface="Cambria" panose="02040503050406030204" pitchFamily="18" charset="0"/>
              </a:rPr>
              <a:t>.</a:t>
            </a:r>
            <a:endParaRPr lang="en-US" sz="2300" dirty="0" smtClean="0">
              <a:latin typeface="Cambria" panose="02040503050406030204" pitchFamily="18" charset="0"/>
            </a:endParaRPr>
          </a:p>
          <a:p>
            <a:pPr marL="342900" lvl="1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300" dirty="0" smtClean="0">
                <a:latin typeface="Cambria" panose="02040503050406030204" pitchFamily="18" charset="0"/>
              </a:rPr>
              <a:t>Develop an algorithm to </a:t>
            </a:r>
            <a:r>
              <a:rPr lang="en-US" sz="2300" dirty="0" smtClean="0">
                <a:latin typeface="Cambria" panose="02040503050406030204" pitchFamily="18" charset="0"/>
              </a:rPr>
              <a:t>reverse a </a:t>
            </a:r>
            <a:r>
              <a:rPr lang="en-US" sz="2300" dirty="0" smtClean="0">
                <a:latin typeface="Cambria" panose="02040503050406030204" pitchFamily="18" charset="0"/>
              </a:rPr>
              <a:t>string. The reversing of a string is nothing but simply substituting the last element of a string to the 1st position of the string</a:t>
            </a:r>
            <a:r>
              <a:rPr lang="en-US" sz="2300" dirty="0" smtClean="0">
                <a:latin typeface="Cambria" panose="02040503050406030204" pitchFamily="18" charset="0"/>
              </a:rPr>
              <a:t>.</a:t>
            </a:r>
            <a:endParaRPr lang="en-US" sz="2300" dirty="0" smtClean="0">
              <a:latin typeface="Cambria" panose="02040503050406030204" pitchFamily="18" charset="0"/>
            </a:endParaRPr>
          </a:p>
          <a:p>
            <a:pPr marL="342900" lvl="1" indent="-342900" algn="just"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300" dirty="0" smtClean="0">
                <a:latin typeface="Cambria" panose="02040503050406030204" pitchFamily="18" charset="0"/>
              </a:rPr>
              <a:t>Develop an algorithm to convert a string to lower and upper case.</a:t>
            </a:r>
            <a:endParaRPr lang="en-US" sz="2300" dirty="0" smtClean="0"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-25413" y="228600"/>
            <a:ext cx="8153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Pattern Matching</a:t>
            </a:r>
            <a:endParaRPr lang="en-US" sz="3600" b="1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2" descr="http://www.entranceforms.com/libs/img/logos/kiit0712.logo.jpg"/>
          <p:cNvPicPr>
            <a:picLocks noChangeAspect="1" noChangeArrowheads="1"/>
          </p:cNvPicPr>
          <p:nvPr/>
        </p:nvPicPr>
        <p:blipFill>
          <a:blip r:embed="rId1" cstate="print"/>
          <a:srcRect l="7585" b="3870"/>
          <a:stretch>
            <a:fillRect/>
          </a:stretch>
        </p:blipFill>
        <p:spPr bwMode="auto">
          <a:xfrm>
            <a:off x="8153403" y="533400"/>
            <a:ext cx="928396" cy="685800"/>
          </a:xfrm>
          <a:prstGeom prst="rect">
            <a:avLst/>
          </a:prstGeom>
          <a:noFill/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506310"/>
            <a:ext cx="8115300" cy="316523"/>
          </a:xfrm>
          <a:solidFill>
            <a:srgbClr val="008000"/>
          </a:solidFill>
          <a:ln>
            <a:solidFill>
              <a:srgbClr val="00B050"/>
            </a:solidFill>
            <a:miter lim="800000"/>
          </a:ln>
        </p:spPr>
        <p:txBody>
          <a:bodyPr wrap="square" lIns="91258" tIns="45628" rIns="91258" bIns="45628" numCol="1" anchorCtr="0" compatLnSpc="1"/>
          <a:lstStyle/>
          <a:p>
            <a:pPr algn="ctr"/>
            <a:r>
              <a:rPr lang="en-US" sz="2200" b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School of Computer Engineering</a:t>
            </a:r>
            <a:endParaRPr lang="en-US" sz="1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22323B9-1D87-4D56-A1A0-9DA960EA2996}" type="slidenum">
              <a:rPr lang="en-US" smtClean="0"/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299" y="2009775"/>
            <a:ext cx="86677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76200" y="1534924"/>
            <a:ext cx="751782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latin typeface="Cambria" panose="02040503050406030204" pitchFamily="18" charset="0"/>
              </a:rPr>
              <a:t>Pattern matching is searching a given pattern in the string.</a:t>
            </a:r>
            <a:endParaRPr lang="en-GB" sz="2300" dirty="0" smtClean="0">
              <a:latin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0" y="5867400"/>
            <a:ext cx="235282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smtClean="0">
                <a:latin typeface="Cambria" panose="02040503050406030204" pitchFamily="18" charset="0"/>
              </a:rPr>
              <a:t>Pattern </a:t>
            </a:r>
            <a:r>
              <a:rPr lang="en-US" sz="2300" dirty="0" smtClean="0">
                <a:latin typeface="Cambria" panose="02040503050406030204" pitchFamily="18" charset="0"/>
              </a:rPr>
              <a:t>found at?</a:t>
            </a:r>
            <a:endParaRPr lang="en-GB" sz="2300" dirty="0" smtClean="0">
              <a:latin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-25413" y="228600"/>
            <a:ext cx="8153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Cambria" panose="02040503050406030204" pitchFamily="18" charset="0"/>
              </a:rPr>
              <a:t>Pattern Matching Algorithm</a:t>
            </a:r>
            <a:endParaRPr lang="en-US" sz="3600" b="1" dirty="0" smtClean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2" descr="http://www.entranceforms.com/libs/img/logos/kiit0712.logo.jpg"/>
          <p:cNvPicPr>
            <a:picLocks noChangeAspect="1" noChangeArrowheads="1"/>
          </p:cNvPicPr>
          <p:nvPr/>
        </p:nvPicPr>
        <p:blipFill>
          <a:blip r:embed="rId1" cstate="print"/>
          <a:srcRect l="7585" b="3870"/>
          <a:stretch>
            <a:fillRect/>
          </a:stretch>
        </p:blipFill>
        <p:spPr bwMode="auto">
          <a:xfrm>
            <a:off x="8153403" y="533400"/>
            <a:ext cx="928396" cy="685800"/>
          </a:xfrm>
          <a:prstGeom prst="rect">
            <a:avLst/>
          </a:prstGeom>
          <a:noFill/>
        </p:spPr>
      </p:pic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506310"/>
            <a:ext cx="8115300" cy="316523"/>
          </a:xfrm>
          <a:solidFill>
            <a:srgbClr val="008000"/>
          </a:solidFill>
          <a:ln>
            <a:solidFill>
              <a:srgbClr val="00B050"/>
            </a:solidFill>
            <a:miter lim="800000"/>
          </a:ln>
        </p:spPr>
        <p:txBody>
          <a:bodyPr wrap="square" lIns="91258" tIns="45628" rIns="91258" bIns="45628" numCol="1" anchorCtr="0" compatLnSpc="1"/>
          <a:lstStyle/>
          <a:p>
            <a:pPr algn="ctr"/>
            <a:r>
              <a:rPr lang="en-US" sz="2200" b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School of Computer Engineering</a:t>
            </a:r>
            <a:endParaRPr lang="en-US" sz="1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22323B9-1D87-4D56-A1A0-9DA960EA2996}" type="slidenum">
              <a:rPr lang="en-US" smtClean="0"/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981200"/>
            <a:ext cx="4385944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Cambria" panose="02040503050406030204" pitchFamily="18" charset="0"/>
              </a:rPr>
              <a:t>int match(char text[], char pattern[]) </a:t>
            </a:r>
            <a:endParaRPr lang="en-US" sz="1400" dirty="0" smtClean="0">
              <a:latin typeface="Cambria" panose="02040503050406030204" pitchFamily="18" charset="0"/>
            </a:endParaRPr>
          </a:p>
          <a:p>
            <a:r>
              <a:rPr lang="en-US" sz="1400" dirty="0" smtClean="0">
                <a:latin typeface="Cambria" panose="02040503050406030204" pitchFamily="18" charset="0"/>
              </a:rPr>
              <a:t>{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int c, d, e, </a:t>
            </a:r>
            <a:r>
              <a:rPr lang="en-US" sz="1400" dirty="0" err="1" smtClean="0">
                <a:latin typeface="Cambria" panose="02040503050406030204" pitchFamily="18" charset="0"/>
              </a:rPr>
              <a:t>text_length</a:t>
            </a:r>
            <a:r>
              <a:rPr lang="en-US" sz="1400" dirty="0" smtClean="0">
                <a:latin typeface="Cambria" panose="02040503050406030204" pitchFamily="18" charset="0"/>
              </a:rPr>
              <a:t>, </a:t>
            </a:r>
            <a:r>
              <a:rPr lang="en-US" sz="1400" dirty="0" err="1" smtClean="0">
                <a:latin typeface="Cambria" panose="02040503050406030204" pitchFamily="18" charset="0"/>
              </a:rPr>
              <a:t>pattern_length</a:t>
            </a:r>
            <a:r>
              <a:rPr lang="en-US" sz="1400" dirty="0" smtClean="0">
                <a:latin typeface="Cambria" panose="02040503050406030204" pitchFamily="18" charset="0"/>
              </a:rPr>
              <a:t>, position = -1;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</a:t>
            </a:r>
            <a:r>
              <a:rPr lang="en-US" sz="1400" dirty="0" err="1" smtClean="0">
                <a:latin typeface="Cambria" panose="02040503050406030204" pitchFamily="18" charset="0"/>
              </a:rPr>
              <a:t>text_length</a:t>
            </a:r>
            <a:r>
              <a:rPr lang="en-US" sz="1400" dirty="0" smtClean="0">
                <a:latin typeface="Cambria" panose="02040503050406030204" pitchFamily="18" charset="0"/>
              </a:rPr>
              <a:t>    = </a:t>
            </a:r>
            <a:r>
              <a:rPr lang="en-US" sz="1400" dirty="0" err="1" smtClean="0">
                <a:latin typeface="Cambria" panose="02040503050406030204" pitchFamily="18" charset="0"/>
              </a:rPr>
              <a:t>strlen</a:t>
            </a:r>
            <a:r>
              <a:rPr lang="en-US" sz="1400" dirty="0" smtClean="0">
                <a:latin typeface="Cambria" panose="02040503050406030204" pitchFamily="18" charset="0"/>
              </a:rPr>
              <a:t>(text);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</a:t>
            </a:r>
            <a:r>
              <a:rPr lang="en-US" sz="1400" dirty="0" err="1" smtClean="0">
                <a:latin typeface="Cambria" panose="02040503050406030204" pitchFamily="18" charset="0"/>
              </a:rPr>
              <a:t>pattern_length</a:t>
            </a:r>
            <a:r>
              <a:rPr lang="en-US" sz="1400" dirty="0" smtClean="0">
                <a:latin typeface="Cambria" panose="02040503050406030204" pitchFamily="18" charset="0"/>
              </a:rPr>
              <a:t> = </a:t>
            </a:r>
            <a:r>
              <a:rPr lang="en-US" sz="1400" dirty="0" err="1" smtClean="0">
                <a:latin typeface="Cambria" panose="02040503050406030204" pitchFamily="18" charset="0"/>
              </a:rPr>
              <a:t>strlen</a:t>
            </a:r>
            <a:r>
              <a:rPr lang="en-US" sz="1400" dirty="0" smtClean="0">
                <a:latin typeface="Cambria" panose="02040503050406030204" pitchFamily="18" charset="0"/>
              </a:rPr>
              <a:t>(pattern);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if (</a:t>
            </a:r>
            <a:r>
              <a:rPr lang="en-US" sz="1400" dirty="0" err="1" smtClean="0">
                <a:latin typeface="Cambria" panose="02040503050406030204" pitchFamily="18" charset="0"/>
              </a:rPr>
              <a:t>pattern_length</a:t>
            </a:r>
            <a:r>
              <a:rPr lang="en-US" sz="1400" dirty="0" smtClean="0">
                <a:latin typeface="Cambria" panose="02040503050406030204" pitchFamily="18" charset="0"/>
              </a:rPr>
              <a:t> &gt; </a:t>
            </a:r>
            <a:r>
              <a:rPr lang="en-US" sz="1400" dirty="0" err="1" smtClean="0">
                <a:latin typeface="Cambria" panose="02040503050406030204" pitchFamily="18" charset="0"/>
              </a:rPr>
              <a:t>text_length</a:t>
            </a:r>
            <a:r>
              <a:rPr lang="en-US" sz="1400" dirty="0" smtClean="0">
                <a:latin typeface="Cambria" panose="02040503050406030204" pitchFamily="18" charset="0"/>
              </a:rPr>
              <a:t>)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{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  return -1;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}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endParaRPr lang="en-US" sz="1400" dirty="0" smtClean="0">
              <a:latin typeface="Cambria" panose="02040503050406030204" pitchFamily="18" charset="0"/>
            </a:endParaRPr>
          </a:p>
          <a:p>
            <a:r>
              <a:rPr lang="en-US" sz="1400" dirty="0" smtClean="0">
                <a:latin typeface="Cambria" panose="02040503050406030204" pitchFamily="18" charset="0"/>
              </a:rPr>
              <a:t>}</a:t>
            </a:r>
            <a:endParaRPr lang="en-GB" sz="1400" dirty="0" smtClean="0">
              <a:latin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0" y="1828800"/>
            <a:ext cx="4217052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</a:t>
            </a:r>
            <a:r>
              <a:rPr lang="en-US" sz="1400" dirty="0" smtClean="0">
                <a:latin typeface="Cambria" panose="02040503050406030204" pitchFamily="18" charset="0"/>
              </a:rPr>
              <a:t>for (c = 0; c &lt;= </a:t>
            </a:r>
            <a:r>
              <a:rPr lang="en-US" sz="1400" dirty="0" err="1" smtClean="0">
                <a:latin typeface="Cambria" panose="02040503050406030204" pitchFamily="18" charset="0"/>
              </a:rPr>
              <a:t>text_length</a:t>
            </a:r>
            <a:r>
              <a:rPr lang="en-US" sz="1400" dirty="0" smtClean="0">
                <a:latin typeface="Cambria" panose="02040503050406030204" pitchFamily="18" charset="0"/>
              </a:rPr>
              <a:t> - </a:t>
            </a:r>
            <a:r>
              <a:rPr lang="en-US" sz="1400" dirty="0" err="1" smtClean="0">
                <a:latin typeface="Cambria" panose="02040503050406030204" pitchFamily="18" charset="0"/>
              </a:rPr>
              <a:t>pattern_length</a:t>
            </a:r>
            <a:r>
              <a:rPr lang="en-US" sz="1400" dirty="0" smtClean="0">
                <a:latin typeface="Cambria" panose="02040503050406030204" pitchFamily="18" charset="0"/>
              </a:rPr>
              <a:t>; </a:t>
            </a:r>
            <a:r>
              <a:rPr lang="en-US" sz="1400" dirty="0" err="1" smtClean="0">
                <a:latin typeface="Cambria" panose="02040503050406030204" pitchFamily="18" charset="0"/>
              </a:rPr>
              <a:t>c++</a:t>
            </a:r>
            <a:r>
              <a:rPr lang="en-US" sz="1400" dirty="0" smtClean="0">
                <a:latin typeface="Cambria" panose="02040503050406030204" pitchFamily="18" charset="0"/>
              </a:rPr>
              <a:t>)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{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position = e = c;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for (d = 0; d &lt; </a:t>
            </a:r>
            <a:r>
              <a:rPr lang="en-US" sz="1400" dirty="0" err="1" smtClean="0">
                <a:latin typeface="Cambria" panose="02040503050406030204" pitchFamily="18" charset="0"/>
              </a:rPr>
              <a:t>pattern_length</a:t>
            </a:r>
            <a:r>
              <a:rPr lang="en-US" sz="1400" dirty="0" smtClean="0">
                <a:latin typeface="Cambria" panose="02040503050406030204" pitchFamily="18" charset="0"/>
              </a:rPr>
              <a:t>; d++)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{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if (pattern[d] == text[e])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{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  e++;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}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else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{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  break;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}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}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if (d == </a:t>
            </a:r>
            <a:r>
              <a:rPr lang="en-US" sz="1400" dirty="0" err="1" smtClean="0">
                <a:latin typeface="Cambria" panose="02040503050406030204" pitchFamily="18" charset="0"/>
              </a:rPr>
              <a:t>pattern_length</a:t>
            </a:r>
            <a:r>
              <a:rPr lang="en-US" sz="1400" dirty="0" smtClean="0">
                <a:latin typeface="Cambria" panose="02040503050406030204" pitchFamily="18" charset="0"/>
              </a:rPr>
              <a:t>)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{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  return position;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457200"/>
            <a:r>
              <a:rPr lang="en-US" sz="1400" dirty="0" smtClean="0">
                <a:latin typeface="Cambria" panose="02040503050406030204" pitchFamily="18" charset="0"/>
              </a:rPr>
              <a:t>    </a:t>
            </a:r>
            <a:r>
              <a:rPr lang="en-US" sz="1400" dirty="0" smtClean="0">
                <a:latin typeface="Cambria" panose="02040503050406030204" pitchFamily="18" charset="0"/>
              </a:rPr>
              <a:t>}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87655"/>
            <a:r>
              <a:rPr lang="en-US" sz="1400" dirty="0" smtClean="0">
                <a:latin typeface="Cambria" panose="02040503050406030204" pitchFamily="18" charset="0"/>
              </a:rPr>
              <a:t>}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indent="233680"/>
            <a:r>
              <a:rPr lang="en-US" sz="1400" dirty="0" smtClean="0">
                <a:latin typeface="Cambria" panose="02040503050406030204" pitchFamily="18" charset="0"/>
              </a:rPr>
              <a:t>  return -1</a:t>
            </a:r>
            <a:r>
              <a:rPr lang="en-US" sz="1400" dirty="0" smtClean="0">
                <a:latin typeface="Cambria" panose="02040503050406030204" pitchFamily="18" charset="0"/>
              </a:rPr>
              <a:t>;</a:t>
            </a:r>
            <a:endParaRPr lang="en-US" sz="1400" dirty="0" smtClean="0">
              <a:latin typeface="Cambria" panose="02040503050406030204" pitchFamily="18" charset="0"/>
            </a:endParaRPr>
          </a:p>
        </p:txBody>
      </p:sp>
      <p:cxnSp>
        <p:nvCxnSpPr>
          <p:cNvPr id="11" name="Shape 10"/>
          <p:cNvCxnSpPr>
            <a:endCxn id="8" idx="0"/>
          </p:cNvCxnSpPr>
          <p:nvPr/>
        </p:nvCxnSpPr>
        <p:spPr>
          <a:xfrm flipV="1">
            <a:off x="609600" y="1828800"/>
            <a:ext cx="6299526" cy="2743200"/>
          </a:xfrm>
          <a:prstGeom prst="bentConnector4">
            <a:avLst>
              <a:gd name="adj1" fmla="val 64827"/>
              <a:gd name="adj2" fmla="val 108333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Up Arrow Callout 15"/>
          <p:cNvSpPr/>
          <p:nvPr/>
        </p:nvSpPr>
        <p:spPr>
          <a:xfrm>
            <a:off x="152400" y="5181600"/>
            <a:ext cx="4572000" cy="685800"/>
          </a:xfrm>
          <a:prstGeom prst="upArrowCallou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What is the drawback in the algorithm?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506310"/>
            <a:ext cx="8115300" cy="316523"/>
          </a:xfrm>
          <a:solidFill>
            <a:srgbClr val="008000"/>
          </a:solidFill>
          <a:ln>
            <a:solidFill>
              <a:srgbClr val="00B050"/>
            </a:solidFill>
            <a:miter lim="800000"/>
          </a:ln>
        </p:spPr>
        <p:txBody>
          <a:bodyPr wrap="square" lIns="91258" tIns="45628" rIns="91258" bIns="45628" numCol="1" anchorCtr="0" compatLnSpc="1"/>
          <a:lstStyle/>
          <a:p>
            <a:pPr algn="ctr"/>
            <a:r>
              <a:rPr lang="en-US" sz="2200" b="1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School of Computer Engineering</a:t>
            </a:r>
            <a:endParaRPr lang="en-US" sz="1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2" descr="http://www.entranceforms.com/libs/img/logos/kiit0712.logo.jpg"/>
          <p:cNvPicPr>
            <a:picLocks noChangeAspect="1" noChangeArrowheads="1"/>
          </p:cNvPicPr>
          <p:nvPr/>
        </p:nvPicPr>
        <p:blipFill>
          <a:blip r:embed="rId1" cstate="print"/>
          <a:srcRect l="7585" b="3870"/>
          <a:stretch>
            <a:fillRect/>
          </a:stretch>
        </p:blipFill>
        <p:spPr bwMode="auto">
          <a:xfrm>
            <a:off x="8153403" y="533400"/>
            <a:ext cx="928396" cy="685800"/>
          </a:xfrm>
          <a:prstGeom prst="rect">
            <a:avLst/>
          </a:prstGeom>
          <a:noFill/>
        </p:spPr>
      </p:pic>
      <p:pic>
        <p:nvPicPr>
          <p:cNvPr id="3078" name="Picture 6" descr="Image result for Than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46996" y="2590800"/>
            <a:ext cx="2838450" cy="1609726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22323B9-1D87-4D56-A1A0-9DA960EA2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3607</Words>
  <Application>WPS Presentation</Application>
  <PresentationFormat>On-screen Show (4:3)</PresentationFormat>
  <Paragraphs>182</Paragraphs>
  <Slides>7</Slides>
  <Notes>95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Tw Cen MT</vt:lpstr>
      <vt:lpstr>Wingdings 2</vt:lpstr>
      <vt:lpstr>Wingdings</vt:lpstr>
      <vt:lpstr>Cambria</vt:lpstr>
      <vt:lpstr>Times New Roman</vt:lpstr>
      <vt:lpstr>Cambria Math</vt:lpstr>
      <vt:lpstr>Microsoft YaHei</vt:lpstr>
      <vt:lpstr>Arial Unicode MS</vt:lpstr>
      <vt:lpstr>Calibri</vt:lpstr>
      <vt:lpstr>Haettenschweiler</vt:lpstr>
      <vt:lpstr>Calibri</vt:lpstr>
      <vt:lpstr>Median</vt:lpstr>
      <vt:lpstr>String Representation </vt:lpstr>
      <vt:lpstr>String Manipulation</vt:lpstr>
      <vt:lpstr>String Manipulation cont’d</vt:lpstr>
      <vt:lpstr>String Manipulation Home Work</vt:lpstr>
      <vt:lpstr>Pattern Matching</vt:lpstr>
      <vt:lpstr>Pattern Matching Algorithm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KIIT</cp:lastModifiedBy>
  <cp:revision>1126</cp:revision>
  <dcterms:created xsi:type="dcterms:W3CDTF">2006-08-16T00:00:00Z</dcterms:created>
  <dcterms:modified xsi:type="dcterms:W3CDTF">2023-08-31T05:56:52Z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C9B09206626740ABB8648288C81DD56A_12</vt:lpwstr>
  </property>
  <property fmtid="{D5CDD505-2E9C-101B-9397-08002B2CF9AE}" pid="3" name="KSOProductBuildVer">
    <vt:lpwstr>1033-12.2.0.13110</vt:lpwstr>
  </property>
</Properties>
</file>