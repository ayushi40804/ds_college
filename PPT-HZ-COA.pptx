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1"/>
  </p:notesMasterIdLst>
  <p:sldIdLst>
    <p:sldId id="256" r:id="rId2"/>
    <p:sldId id="264" r:id="rId3"/>
    <p:sldId id="259" r:id="rId4"/>
    <p:sldId id="260" r:id="rId5"/>
    <p:sldId id="261" r:id="rId6"/>
    <p:sldId id="262" r:id="rId7"/>
    <p:sldId id="263" r:id="rId8"/>
    <p:sldId id="295" r:id="rId9"/>
    <p:sldId id="29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49" r:id="rId88"/>
    <p:sldId id="350" r:id="rId89"/>
    <p:sldId id="351" r:id="rId90"/>
    <p:sldId id="352" r:id="rId91"/>
    <p:sldId id="353" r:id="rId92"/>
    <p:sldId id="354" r:id="rId93"/>
    <p:sldId id="355" r:id="rId94"/>
    <p:sldId id="356" r:id="rId95"/>
    <p:sldId id="357" r:id="rId96"/>
    <p:sldId id="358" r:id="rId97"/>
    <p:sldId id="359" r:id="rId98"/>
    <p:sldId id="360" r:id="rId99"/>
    <p:sldId id="361" r:id="rId100"/>
    <p:sldId id="362" r:id="rId101"/>
    <p:sldId id="363" r:id="rId102"/>
    <p:sldId id="364" r:id="rId103"/>
    <p:sldId id="365" r:id="rId104"/>
    <p:sldId id="366" r:id="rId105"/>
    <p:sldId id="367" r:id="rId106"/>
    <p:sldId id="368" r:id="rId107"/>
    <p:sldId id="369" r:id="rId108"/>
    <p:sldId id="370" r:id="rId109"/>
    <p:sldId id="371" r:id="rId110"/>
    <p:sldId id="372" r:id="rId111"/>
    <p:sldId id="373" r:id="rId112"/>
    <p:sldId id="374" r:id="rId113"/>
    <p:sldId id="375" r:id="rId114"/>
    <p:sldId id="376" r:id="rId115"/>
    <p:sldId id="377" r:id="rId116"/>
    <p:sldId id="378" r:id="rId117"/>
    <p:sldId id="379" r:id="rId118"/>
    <p:sldId id="380" r:id="rId119"/>
    <p:sldId id="381" r:id="rId1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9AA8B1-80B9-4AEC-B0ED-E0FD4085354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786466-1504-444B-92A1-ED3C87E2C22E}" type="slidenum">
              <a:rPr lang="en-US"/>
              <a:pPr/>
              <a:t>35</a:t>
            </a:fld>
            <a:endParaRPr lang="en-US"/>
          </a:p>
        </p:txBody>
      </p:sp>
      <p:sp>
        <p:nvSpPr>
          <p:cNvPr id="563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E8FF035-EB77-463B-A811-49B2F087BF4B}" type="slidenum">
              <a:rPr lang="ar-SA" sz="1200"/>
              <a:pPr algn="r"/>
              <a:t>35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5FE01F-43BA-472C-B917-4B6EBDDF47F8}" type="slidenum">
              <a:rPr lang="en-US"/>
              <a:pPr/>
              <a:t>36</a:t>
            </a:fld>
            <a:endParaRPr lang="en-US"/>
          </a:p>
        </p:txBody>
      </p:sp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E63ADCE-5226-4254-91B2-7F2AE5A2BA7C}" type="slidenum">
              <a:rPr lang="ar-SA" sz="1200"/>
              <a:pPr algn="r"/>
              <a:t>36</a:t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2F19D5-6E1F-496A-8995-8913A15642C5}" type="slidenum">
              <a:rPr lang="en-US"/>
              <a:pPr/>
              <a:t>37</a:t>
            </a:fld>
            <a:endParaRPr lang="en-US"/>
          </a:p>
        </p:txBody>
      </p:sp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07229A0-FEA7-46AE-B37E-A5EF88CC1F2B}" type="slidenum">
              <a:rPr lang="ar-SA" sz="1200"/>
              <a:pPr algn="r"/>
              <a:t>37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570C6D-5E45-4912-ACAF-259001928A90}" type="slidenum">
              <a:rPr lang="en-US"/>
              <a:pPr/>
              <a:t>38</a:t>
            </a:fld>
            <a:endParaRPr lang="en-US"/>
          </a:p>
        </p:txBody>
      </p:sp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4E71DFA-2D00-4745-9460-2613A45B42FD}" type="slidenum">
              <a:rPr lang="ar-SA" sz="1200"/>
              <a:pPr algn="r"/>
              <a:t>38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13C1A1-C132-4FB2-B4E5-3C2F542413D0}" type="slidenum">
              <a:rPr lang="en-US"/>
              <a:pPr/>
              <a:t>39</a:t>
            </a:fld>
            <a:endParaRPr lang="en-US"/>
          </a:p>
        </p:txBody>
      </p:sp>
      <p:sp>
        <p:nvSpPr>
          <p:cNvPr id="645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38F2652-3CF7-4AD5-91C1-28AC77EEB519}" type="slidenum">
              <a:rPr lang="ar-SA" sz="1200"/>
              <a:pPr algn="r"/>
              <a:t>39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F258A4-4F8F-47D8-83D5-E377CEE9EBC9}" type="slidenum">
              <a:rPr lang="en-US"/>
              <a:pPr/>
              <a:t>40</a:t>
            </a:fld>
            <a:endParaRPr lang="en-US"/>
          </a:p>
        </p:txBody>
      </p:sp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706C96-9695-408C-91FD-14C558D3F0A1}" type="slidenum">
              <a:rPr lang="ar-SA" sz="1200"/>
              <a:pPr algn="r"/>
              <a:t>40</a:t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998E95-5DC0-4FFF-A1F1-9E86AEE718B1}" type="slidenum">
              <a:rPr lang="en-US"/>
              <a:pPr/>
              <a:t>41</a:t>
            </a:fld>
            <a:endParaRPr lang="en-US"/>
          </a:p>
        </p:txBody>
      </p:sp>
      <p:sp>
        <p:nvSpPr>
          <p:cNvPr id="686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71D766E-42C1-43F0-9B88-30363C2526F8}" type="slidenum">
              <a:rPr lang="ar-SA" sz="1200"/>
              <a:pPr algn="r"/>
              <a:t>41</a:t>
            </a:fld>
            <a:endParaRPr 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FA0C48-3573-40E4-AC3D-4A8C0379C193}" type="slidenum">
              <a:rPr lang="en-US"/>
              <a:pPr/>
              <a:t>42</a:t>
            </a:fld>
            <a:endParaRPr lang="en-US"/>
          </a:p>
        </p:txBody>
      </p:sp>
      <p:sp>
        <p:nvSpPr>
          <p:cNvPr id="706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D844B7F-1A04-48EC-954C-7B22A0031468}" type="slidenum">
              <a:rPr lang="ar-SA" sz="1200"/>
              <a:pPr algn="r"/>
              <a:t>42</a:t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A99059-1C2F-440C-B469-908C59D9DD46}" type="slidenum">
              <a:rPr lang="en-US"/>
              <a:pPr/>
              <a:t>43</a:t>
            </a:fld>
            <a:endParaRPr lang="en-US"/>
          </a:p>
        </p:txBody>
      </p:sp>
      <p:sp>
        <p:nvSpPr>
          <p:cNvPr id="727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F3DEC79-13DE-4EDF-9A21-C24D8ED36C1B}" type="slidenum">
              <a:rPr lang="ar-SA" sz="1200"/>
              <a:pPr algn="r"/>
              <a:t>43</a:t>
            </a:fld>
            <a:endParaRPr 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E60C71-8023-4BF0-A72E-9EEA3695FAA2}" type="slidenum">
              <a:rPr lang="en-US"/>
              <a:pPr/>
              <a:t>44</a:t>
            </a:fld>
            <a:endParaRPr lang="en-US"/>
          </a:p>
        </p:txBody>
      </p:sp>
      <p:sp>
        <p:nvSpPr>
          <p:cNvPr id="747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0FA0F78-D1CD-4898-B0F7-5AADB8300BC2}" type="slidenum">
              <a:rPr lang="ar-SA" sz="1200"/>
              <a:pPr algn="r"/>
              <a:t>44</a:t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A4E47B-5D44-4132-BA84-1DE7F05724A3}" type="slidenum">
              <a:rPr lang="en-US"/>
              <a:pPr/>
              <a:t>45</a:t>
            </a:fld>
            <a:endParaRPr lang="en-US"/>
          </a:p>
        </p:txBody>
      </p:sp>
      <p:sp>
        <p:nvSpPr>
          <p:cNvPr id="768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FCE19E1-08C1-4D04-87C5-A5C786893E62}" type="slidenum">
              <a:rPr lang="ar-SA" sz="1200"/>
              <a:pPr algn="r"/>
              <a:t>45</a:t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24EB2A-0FA1-4CD9-9042-DEEF20C791F7}" type="slidenum">
              <a:rPr lang="en-US"/>
              <a:pPr/>
              <a:t>46</a:t>
            </a:fld>
            <a:endParaRPr lang="en-US"/>
          </a:p>
        </p:txBody>
      </p:sp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6B281D7-7B90-4730-A00E-5F2D7981BCFA}" type="slidenum">
              <a:rPr lang="ar-SA" sz="1200"/>
              <a:pPr algn="r"/>
              <a:t>46</a:t>
            </a:fld>
            <a:endParaRPr 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B207A3-8878-40C1-8A45-9CA25CC67BDD}" type="slidenum">
              <a:rPr lang="en-US"/>
              <a:pPr/>
              <a:t>47</a:t>
            </a:fld>
            <a:endParaRPr lang="en-US"/>
          </a:p>
        </p:txBody>
      </p:sp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8ECDDC-CED9-46EE-B271-6A6C319AC570}" type="slidenum">
              <a:rPr lang="ar-SA" sz="1200"/>
              <a:pPr algn="r"/>
              <a:t>47</a:t>
            </a:fld>
            <a:endParaRPr 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BA227A-1F46-4017-A6A9-8807334A1B3E}" type="slidenum">
              <a:rPr lang="en-US"/>
              <a:pPr/>
              <a:t>48</a:t>
            </a:fld>
            <a:endParaRPr lang="en-US"/>
          </a:p>
        </p:txBody>
      </p:sp>
      <p:sp>
        <p:nvSpPr>
          <p:cNvPr id="829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CEC19F5-8736-4266-B997-2D0659AD3A57}" type="slidenum">
              <a:rPr lang="ar-SA" sz="1200"/>
              <a:pPr algn="r"/>
              <a:t>48</a:t>
            </a:fld>
            <a:endParaRPr 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84017-DCCB-40E2-9574-143611234608}" type="slidenum">
              <a:rPr lang="en-US"/>
              <a:pPr/>
              <a:t>49</a:t>
            </a:fld>
            <a:endParaRPr lang="en-US"/>
          </a:p>
        </p:txBody>
      </p:sp>
      <p:sp>
        <p:nvSpPr>
          <p:cNvPr id="849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317EED6-461B-49EF-AF72-16450CF3AD5E}" type="slidenum">
              <a:rPr lang="ar-SA" sz="1200"/>
              <a:pPr algn="r"/>
              <a:t>49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66E000-BA76-4515-BBF6-981A65AADB1D}" type="slidenum">
              <a:rPr lang="en-US"/>
              <a:pPr/>
              <a:t>50</a:t>
            </a:fld>
            <a:endParaRPr lang="en-US"/>
          </a:p>
        </p:txBody>
      </p:sp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65C40EE-E900-4C86-8B72-EA7B290DAD5D}" type="slidenum">
              <a:rPr lang="ar-SA" sz="1200"/>
              <a:pPr algn="r"/>
              <a:t>50</a:t>
            </a:fld>
            <a:endParaRPr lang="en-US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1267F5-BB27-4BAF-A9D8-20061BF1C59C}" type="slidenum">
              <a:rPr lang="en-US"/>
              <a:pPr/>
              <a:t>51</a:t>
            </a:fld>
            <a:endParaRPr lang="en-US"/>
          </a:p>
        </p:txBody>
      </p:sp>
      <p:sp>
        <p:nvSpPr>
          <p:cNvPr id="890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9317306-1151-4D31-A929-BA133744AF9C}" type="slidenum">
              <a:rPr lang="ar-SA" sz="1200"/>
              <a:pPr algn="r"/>
              <a:t>51</a:t>
            </a:fld>
            <a:endParaRPr lang="en-US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8FDBB5-EC83-4B3E-AB80-0AA487F2AF34}" type="slidenum">
              <a:rPr lang="en-US"/>
              <a:pPr/>
              <a:t>52</a:t>
            </a:fld>
            <a:endParaRPr lang="en-US"/>
          </a:p>
        </p:txBody>
      </p:sp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093C7D7-EA0D-42A6-9DBE-27B78885FFA6}" type="slidenum">
              <a:rPr lang="ar-SA" sz="1200"/>
              <a:pPr algn="r"/>
              <a:t>52</a:t>
            </a:fld>
            <a:endParaRPr 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92318A-EF33-4434-9826-9873E95C6591}" type="slidenum">
              <a:rPr lang="en-US"/>
              <a:pPr/>
              <a:t>53</a:t>
            </a:fld>
            <a:endParaRPr lang="en-US"/>
          </a:p>
        </p:txBody>
      </p:sp>
      <p:sp>
        <p:nvSpPr>
          <p:cNvPr id="931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9234809-1552-4D15-9B16-5535620D9F1D}" type="slidenum">
              <a:rPr lang="ar-SA" sz="1200"/>
              <a:pPr algn="r"/>
              <a:t>53</a:t>
            </a:fld>
            <a:endParaRPr 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65C633-118B-4427-B2FA-1025C19BDA6C}" type="slidenum">
              <a:rPr lang="en-US"/>
              <a:pPr/>
              <a:t>54</a:t>
            </a:fld>
            <a:endParaRPr lang="en-US"/>
          </a:p>
        </p:txBody>
      </p:sp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F055194-A5D4-4E51-8323-26B41752EBD5}" type="slidenum">
              <a:rPr lang="ar-SA" sz="1200"/>
              <a:pPr algn="r"/>
              <a:t>54</a:t>
            </a:fld>
            <a:endParaRPr 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4BACCB-ECF0-4FF4-8EF1-FD067E7ED944}" type="slidenum">
              <a:rPr lang="en-US"/>
              <a:pPr/>
              <a:t>55</a:t>
            </a:fld>
            <a:endParaRPr lang="en-US"/>
          </a:p>
        </p:txBody>
      </p:sp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9FB7719-DA43-4C79-8353-D24557D93258}" type="slidenum">
              <a:rPr lang="ar-SA" sz="1200"/>
              <a:pPr algn="r"/>
              <a:t>55</a:t>
            </a:fld>
            <a:endParaRPr 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1C1C81-100E-40CB-BEDA-5491AF819660}" type="slidenum">
              <a:rPr lang="en-US"/>
              <a:pPr/>
              <a:t>56</a:t>
            </a:fld>
            <a:endParaRPr lang="en-US"/>
          </a:p>
        </p:txBody>
      </p:sp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2F9906C-D4AA-4F6F-8A13-5EC38BD13A75}" type="slidenum">
              <a:rPr lang="ar-SA" sz="1200"/>
              <a:pPr algn="r"/>
              <a:t>56</a:t>
            </a:fld>
            <a:endParaRPr 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58CC17-3F08-4EAB-88EE-943F14BCE68C}" type="slidenum">
              <a:rPr lang="en-US"/>
              <a:pPr/>
              <a:t>57</a:t>
            </a:fld>
            <a:endParaRPr lang="en-US"/>
          </a:p>
        </p:txBody>
      </p:sp>
      <p:sp>
        <p:nvSpPr>
          <p:cNvPr id="1013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34F2672-0D68-4673-96D9-8FF57F691BC6}" type="slidenum">
              <a:rPr lang="ar-SA" sz="1200"/>
              <a:pPr algn="r"/>
              <a:t>57</a:t>
            </a:fld>
            <a:endParaRPr 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188AAC-9BEC-4A47-A157-E2818E30A66E}" type="slidenum">
              <a:rPr lang="en-US"/>
              <a:pPr/>
              <a:t>58</a:t>
            </a:fld>
            <a:endParaRPr lang="en-US"/>
          </a:p>
        </p:txBody>
      </p:sp>
      <p:sp>
        <p:nvSpPr>
          <p:cNvPr id="1034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23876FF-D43A-45AB-99F9-358E67BC633D}" type="slidenum">
              <a:rPr lang="ar-SA" sz="1200"/>
              <a:pPr algn="r"/>
              <a:t>58</a:t>
            </a:fld>
            <a:endParaRPr 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2FDD6E-AC11-4A41-8913-388E59D6422A}" type="slidenum">
              <a:rPr lang="en-US"/>
              <a:pPr/>
              <a:t>59</a:t>
            </a:fld>
            <a:endParaRPr lang="en-US"/>
          </a:p>
        </p:txBody>
      </p:sp>
      <p:sp>
        <p:nvSpPr>
          <p:cNvPr id="1054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D2EB27B-5B80-49CF-BDAF-8BF9846DF6DC}" type="slidenum">
              <a:rPr lang="ar-SA" sz="1200"/>
              <a:pPr algn="r"/>
              <a:t>59</a:t>
            </a:fld>
            <a:endParaRPr 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C0358C-C588-4EFE-B4FF-29C9AA8B9B38}" type="slidenum">
              <a:rPr lang="en-US"/>
              <a:pPr/>
              <a:t>60</a:t>
            </a:fld>
            <a:endParaRPr lang="en-US"/>
          </a:p>
        </p:txBody>
      </p:sp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A221793-2003-4C35-ABCD-638B6D48BAFE}" type="slidenum">
              <a:rPr lang="ar-SA" sz="1200"/>
              <a:pPr algn="r"/>
              <a:t>60</a:t>
            </a:fld>
            <a:endParaRPr 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258A5D-9D87-4995-A13B-61EAAAE1EA1A}" type="slidenum">
              <a:rPr lang="en-US"/>
              <a:pPr/>
              <a:t>68</a:t>
            </a:fld>
            <a:endParaRPr lang="en-US"/>
          </a:p>
        </p:txBody>
      </p:sp>
      <p:sp>
        <p:nvSpPr>
          <p:cNvPr id="1167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5C0E28B-55A3-4C37-A1FF-A3C98E1B68C1}" type="slidenum">
              <a:rPr lang="ar-SA" sz="1200"/>
              <a:pPr algn="r"/>
              <a:t>68</a:t>
            </a:fld>
            <a:endParaRPr 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876FC7-0679-4FE1-B07E-1D0EA399174A}" type="slidenum">
              <a:rPr lang="en-US"/>
              <a:pPr/>
              <a:t>69</a:t>
            </a:fld>
            <a:endParaRPr lang="en-US"/>
          </a:p>
        </p:txBody>
      </p:sp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445CA6A-E546-4804-B8A6-578507FE78F9}" type="slidenum">
              <a:rPr lang="ar-SA" sz="1200"/>
              <a:pPr algn="r"/>
              <a:t>69</a:t>
            </a:fld>
            <a:endParaRPr 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9574B-363A-412C-A388-E61225395343}" type="slidenum">
              <a:rPr lang="en-US"/>
              <a:pPr/>
              <a:t>70</a:t>
            </a:fld>
            <a:endParaRPr lang="en-US"/>
          </a:p>
        </p:txBody>
      </p:sp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C2EC357-F3DE-4623-BF52-5CA6A6DF7512}" type="slidenum">
              <a:rPr lang="ar-SA" sz="1200"/>
              <a:pPr algn="r"/>
              <a:t>70</a:t>
            </a:fld>
            <a:endParaRPr 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14C00C-943C-4C62-A548-F4132491F5C6}" type="slidenum">
              <a:rPr lang="en-US"/>
              <a:pPr/>
              <a:t>71</a:t>
            </a:fld>
            <a:endParaRPr lang="en-US"/>
          </a:p>
        </p:txBody>
      </p:sp>
      <p:sp>
        <p:nvSpPr>
          <p:cNvPr id="1228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3B2FDEB-B93C-47CB-8EDF-97A55C44AA7C}" type="slidenum">
              <a:rPr lang="ar-SA" sz="1200"/>
              <a:pPr algn="r"/>
              <a:t>71</a:t>
            </a:fld>
            <a:endParaRPr 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9A74F4-771A-4C96-A7A9-E8EE84BF2D58}" type="slidenum">
              <a:rPr lang="en-US"/>
              <a:pPr/>
              <a:t>72</a:t>
            </a:fld>
            <a:endParaRPr lang="en-US"/>
          </a:p>
        </p:txBody>
      </p:sp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C7C7A0C-9EAD-4D85-A402-E37C2B253B2D}" type="slidenum">
              <a:rPr lang="ar-SA" sz="1200"/>
              <a:pPr algn="r"/>
              <a:t>72</a:t>
            </a:fld>
            <a:endParaRPr 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B9515F-0B08-4AA8-97C8-7C4A3950E3A6}" type="slidenum">
              <a:rPr lang="en-US"/>
              <a:pPr/>
              <a:t>75</a:t>
            </a:fld>
            <a:endParaRPr lang="en-US"/>
          </a:p>
        </p:txBody>
      </p:sp>
      <p:sp>
        <p:nvSpPr>
          <p:cNvPr id="1290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42F71FC-6574-437B-A550-9C5340090003}" type="slidenum">
              <a:rPr lang="ar-SA" sz="1200"/>
              <a:pPr algn="r"/>
              <a:t>75</a:t>
            </a:fld>
            <a:endParaRPr lang="en-US" sz="12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34B703-997B-4CEC-AB03-62221CFBD2C2}" type="slidenum">
              <a:rPr lang="en-US"/>
              <a:pPr/>
              <a:t>76</a:t>
            </a:fld>
            <a:endParaRPr lang="en-US"/>
          </a:p>
        </p:txBody>
      </p:sp>
      <p:sp>
        <p:nvSpPr>
          <p:cNvPr id="1310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346F6E1-1341-4B1D-9364-44CE80144598}" type="slidenum">
              <a:rPr lang="ar-SA" sz="1200"/>
              <a:pPr algn="r"/>
              <a:t>76</a:t>
            </a:fld>
            <a:endParaRPr 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711978-75E0-484E-B5F4-78D1F5D1A4F1}" type="slidenum">
              <a:rPr lang="en-US"/>
              <a:pPr/>
              <a:t>83</a:t>
            </a:fld>
            <a:endParaRPr lang="en-US"/>
          </a:p>
        </p:txBody>
      </p:sp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6F08F4B-AD1B-4FC3-97A9-2D0BB07B916E}" type="slidenum">
              <a:rPr lang="ar-SA" sz="1200"/>
              <a:pPr algn="r"/>
              <a:t>83</a:t>
            </a:fld>
            <a:endParaRPr 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83D699-97EB-4613-A54D-A4A6753E485E}" type="slidenum">
              <a:rPr lang="en-US"/>
              <a:pPr/>
              <a:t>84</a:t>
            </a:fld>
            <a:endParaRPr lang="en-US"/>
          </a:p>
        </p:txBody>
      </p:sp>
      <p:sp>
        <p:nvSpPr>
          <p:cNvPr id="1413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FDCA364-E0A1-4229-89D7-1290D6264A8A}" type="slidenum">
              <a:rPr lang="ar-SA" sz="1200"/>
              <a:pPr algn="r"/>
              <a:t>84</a:t>
            </a:fld>
            <a:endParaRPr 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C84948-1606-4101-9582-1EA15E3C50B2}" type="slidenum">
              <a:rPr lang="en-US"/>
              <a:pPr/>
              <a:t>85</a:t>
            </a:fld>
            <a:endParaRPr lang="en-US"/>
          </a:p>
        </p:txBody>
      </p:sp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AC42F79-E70E-44F0-A483-7D72D6F9785F}" type="slidenum">
              <a:rPr lang="ar-SA" sz="1200"/>
              <a:pPr algn="r"/>
              <a:t>85</a:t>
            </a:fld>
            <a:endParaRPr 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F8010D-B01C-4F08-971C-AEFE232212A9}" type="slidenum">
              <a:rPr lang="en-US"/>
              <a:pPr/>
              <a:t>86</a:t>
            </a:fld>
            <a:endParaRPr lang="en-US"/>
          </a:p>
        </p:txBody>
      </p:sp>
      <p:sp>
        <p:nvSpPr>
          <p:cNvPr id="145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C38AF7E-4AD4-4A4A-8B87-DD276F23E82B}" type="slidenum">
              <a:rPr lang="ar-SA" sz="1200"/>
              <a:pPr algn="r"/>
              <a:t>86</a:t>
            </a:fld>
            <a:endParaRPr 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56FEC6-ADF5-42CF-A215-5AE977C106E3}" type="slidenum">
              <a:rPr lang="en-US"/>
              <a:pPr/>
              <a:t>87</a:t>
            </a:fld>
            <a:endParaRPr lang="en-US"/>
          </a:p>
        </p:txBody>
      </p:sp>
      <p:sp>
        <p:nvSpPr>
          <p:cNvPr id="147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B1209C5-6D7A-40D2-A613-A487309E5500}" type="slidenum">
              <a:rPr lang="ar-SA" sz="1200"/>
              <a:pPr algn="r"/>
              <a:t>87</a:t>
            </a:fld>
            <a:endParaRPr lang="en-US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A9D09A-895D-492B-B5DF-A37E8810468E}" type="slidenum">
              <a:rPr lang="en-US"/>
              <a:pPr/>
              <a:t>88</a:t>
            </a:fld>
            <a:endParaRPr lang="en-US"/>
          </a:p>
        </p:txBody>
      </p:sp>
      <p:sp>
        <p:nvSpPr>
          <p:cNvPr id="149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FDAB68B-49AE-468B-B428-9743DC472BE9}" type="slidenum">
              <a:rPr lang="ar-SA" sz="1200"/>
              <a:pPr algn="r"/>
              <a:t>88</a:t>
            </a:fld>
            <a:endParaRPr 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F55176-7841-4E04-8E60-F8031A9CCBDA}" type="slidenum">
              <a:rPr lang="en-US"/>
              <a:pPr/>
              <a:t>94</a:t>
            </a:fld>
            <a:endParaRPr lang="en-US"/>
          </a:p>
        </p:txBody>
      </p:sp>
      <p:sp>
        <p:nvSpPr>
          <p:cNvPr id="1566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1719BA4-9CE8-4BEA-A24E-CBBFB09634C2}" type="slidenum">
              <a:rPr lang="ar-SA" sz="1200"/>
              <a:pPr algn="r"/>
              <a:t>94</a:t>
            </a:fld>
            <a:endParaRPr 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8116DC-21A4-4CCB-961E-9AE6FA63D466}" type="slidenum">
              <a:rPr lang="en-US"/>
              <a:pPr/>
              <a:t>95</a:t>
            </a:fld>
            <a:endParaRPr lang="en-US"/>
          </a:p>
        </p:txBody>
      </p:sp>
      <p:sp>
        <p:nvSpPr>
          <p:cNvPr id="1587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BB364EB-2B30-419F-9952-183A60CD4495}" type="slidenum">
              <a:rPr lang="ar-SA" sz="1200"/>
              <a:pPr algn="r"/>
              <a:t>95</a:t>
            </a:fld>
            <a:endParaRPr 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2C8F3F-FB14-426A-8F9C-85F7EC8A6E82}" type="slidenum">
              <a:rPr lang="en-US"/>
              <a:pPr/>
              <a:t>96</a:t>
            </a:fld>
            <a:endParaRPr lang="en-US"/>
          </a:p>
        </p:txBody>
      </p:sp>
      <p:sp>
        <p:nvSpPr>
          <p:cNvPr id="1607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210EDD1-7AE1-4E99-9A72-10E92D2C2AB4}" type="slidenum">
              <a:rPr lang="ar-SA" sz="1200"/>
              <a:pPr algn="r"/>
              <a:t>96</a:t>
            </a:fld>
            <a:endParaRPr lang="en-US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37B294-7E9C-4D7A-8BC3-26A2CCF36B12}" type="slidenum">
              <a:rPr lang="en-US"/>
              <a:pPr/>
              <a:t>97</a:t>
            </a:fld>
            <a:endParaRPr lang="en-US"/>
          </a:p>
        </p:txBody>
      </p:sp>
      <p:sp>
        <p:nvSpPr>
          <p:cNvPr id="1628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A67A8BC-DA6B-44EC-B4B9-10D7CE90592F}" type="slidenum">
              <a:rPr lang="ar-SA" sz="1200"/>
              <a:pPr algn="r"/>
              <a:t>97</a:t>
            </a:fld>
            <a:endParaRPr lang="en-US" sz="12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91F240-1A6E-4441-8E76-EF52606672C1}" type="slidenum">
              <a:rPr lang="en-US"/>
              <a:pPr/>
              <a:t>98</a:t>
            </a:fld>
            <a:endParaRPr lang="en-US"/>
          </a:p>
        </p:txBody>
      </p:sp>
      <p:sp>
        <p:nvSpPr>
          <p:cNvPr id="1648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1587130-A0D1-4FF3-A392-5A47C8551E65}" type="slidenum">
              <a:rPr lang="ar-SA" sz="1200"/>
              <a:pPr algn="r"/>
              <a:t>98</a:t>
            </a:fld>
            <a:endParaRPr 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4F7C89-E9B8-4415-9EBF-37B0B824583F}" type="slidenum">
              <a:rPr lang="en-US"/>
              <a:pPr/>
              <a:t>99</a:t>
            </a:fld>
            <a:endParaRPr lang="en-US"/>
          </a:p>
        </p:txBody>
      </p:sp>
      <p:sp>
        <p:nvSpPr>
          <p:cNvPr id="1669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8611426-CDE4-4398-8390-74D6671B301C}" type="slidenum">
              <a:rPr lang="ar-SA" sz="1200"/>
              <a:pPr algn="r"/>
              <a:t>99</a:t>
            </a:fld>
            <a:endParaRPr 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CF5452-BB68-4566-800B-079ADF0B9063}" type="slidenum">
              <a:rPr lang="en-US"/>
              <a:pPr/>
              <a:t>100</a:t>
            </a:fld>
            <a:endParaRPr lang="en-US"/>
          </a:p>
        </p:txBody>
      </p:sp>
      <p:sp>
        <p:nvSpPr>
          <p:cNvPr id="1689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E57556E-B850-4C9F-9FDA-0B193E2DA4C3}" type="slidenum">
              <a:rPr lang="ar-SA" sz="1200"/>
              <a:pPr algn="r"/>
              <a:t>100</a:t>
            </a:fld>
            <a:endParaRPr 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DCAD2A-3F95-437D-BC93-F72F61A1AC7D}" type="slidenum">
              <a:rPr lang="en-US"/>
              <a:pPr/>
              <a:t>101</a:t>
            </a:fld>
            <a:endParaRPr lang="en-US"/>
          </a:p>
        </p:txBody>
      </p:sp>
      <p:sp>
        <p:nvSpPr>
          <p:cNvPr id="1710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A155502-FB73-4536-9D37-D4EEE49DF596}" type="slidenum">
              <a:rPr lang="ar-SA" sz="1200"/>
              <a:pPr algn="r"/>
              <a:t>101</a:t>
            </a:fld>
            <a:endParaRPr 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A0B6EA-9B9D-4EA9-844A-AFFDDB787A98}" type="slidenum">
              <a:rPr lang="en-US"/>
              <a:pPr/>
              <a:t>110</a:t>
            </a:fld>
            <a:endParaRPr lang="en-US"/>
          </a:p>
        </p:txBody>
      </p:sp>
      <p:sp>
        <p:nvSpPr>
          <p:cNvPr id="1812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6695B30-A665-4E16-9638-8406433BF432}" type="slidenum">
              <a:rPr lang="ar-SA" sz="1200"/>
              <a:pPr algn="r"/>
              <a:t>110</a:t>
            </a:fld>
            <a:endParaRPr lang="en-US" sz="1200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0E665F-7723-4612-B4AF-C6E089C4F13A}" type="slidenum">
              <a:rPr lang="en-US"/>
              <a:pPr/>
              <a:t>111</a:t>
            </a:fld>
            <a:endParaRPr lang="en-US"/>
          </a:p>
        </p:txBody>
      </p:sp>
      <p:sp>
        <p:nvSpPr>
          <p:cNvPr id="1832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0259B36-4BBA-4A03-9CE0-FA10FBCCD387}" type="slidenum">
              <a:rPr lang="ar-SA" sz="1200"/>
              <a:pPr algn="r"/>
              <a:t>111</a:t>
            </a:fld>
            <a:endParaRPr lang="en-US" sz="120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28E4D7-68BF-434E-A218-F7FF9AB7D3F9}" type="slidenum">
              <a:rPr lang="en-US"/>
              <a:pPr/>
              <a:t>112</a:t>
            </a:fld>
            <a:endParaRPr lang="en-US"/>
          </a:p>
        </p:txBody>
      </p:sp>
      <p:sp>
        <p:nvSpPr>
          <p:cNvPr id="1853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0863AA1-3C4A-469D-9563-CF6649698C2F}" type="slidenum">
              <a:rPr lang="ar-SA" sz="1200"/>
              <a:pPr algn="r"/>
              <a:t>112</a:t>
            </a:fld>
            <a:endParaRPr lang="en-US" sz="1200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B79B6E-B7FF-40FD-87E4-1F6F2DA142B8}" type="slidenum">
              <a:rPr lang="en-US"/>
              <a:pPr/>
              <a:t>113</a:t>
            </a:fld>
            <a:endParaRPr lang="en-US"/>
          </a:p>
        </p:txBody>
      </p:sp>
      <p:sp>
        <p:nvSpPr>
          <p:cNvPr id="1873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E796D27-D1A3-4A1F-A55C-83D7E57619BB}" type="slidenum">
              <a:rPr lang="ar-SA" sz="1200"/>
              <a:pPr algn="r"/>
              <a:t>113</a:t>
            </a:fld>
            <a:endParaRPr lang="en-US" sz="1200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B01EF-7C83-49B9-B7B1-7C0A22C33ADB}" type="slidenum">
              <a:rPr lang="en-US"/>
              <a:pPr/>
              <a:t>114</a:t>
            </a:fld>
            <a:endParaRPr lang="en-US"/>
          </a:p>
        </p:txBody>
      </p:sp>
      <p:sp>
        <p:nvSpPr>
          <p:cNvPr id="1894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D2623D6-4E2A-4CF4-9469-A6E1EE4ECD80}" type="slidenum">
              <a:rPr lang="ar-SA" sz="1200"/>
              <a:pPr algn="r"/>
              <a:t>114</a:t>
            </a:fld>
            <a:endParaRPr lang="en-US" sz="120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053303-2309-45FF-B37F-35E6D93B0C76}" type="slidenum">
              <a:rPr lang="en-US"/>
              <a:pPr/>
              <a:t>115</a:t>
            </a:fld>
            <a:endParaRPr lang="en-US"/>
          </a:p>
        </p:txBody>
      </p:sp>
      <p:sp>
        <p:nvSpPr>
          <p:cNvPr id="1914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85586F6-52AE-4C81-B264-A32F67AF325E}" type="slidenum">
              <a:rPr lang="ar-SA" sz="1200"/>
              <a:pPr algn="r"/>
              <a:t>115</a:t>
            </a:fld>
            <a:endParaRPr lang="en-US" sz="1200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0575D8-BC61-40B8-BE4E-D92600BB6AE1}" type="slidenum">
              <a:rPr lang="en-US"/>
              <a:pPr/>
              <a:t>116</a:t>
            </a:fld>
            <a:endParaRPr lang="en-US"/>
          </a:p>
        </p:txBody>
      </p:sp>
      <p:sp>
        <p:nvSpPr>
          <p:cNvPr id="1935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C211445-A44D-4CB3-96CA-FE6D1BBDD43A}" type="slidenum">
              <a:rPr lang="ar-SA" sz="1200"/>
              <a:pPr algn="r"/>
              <a:t>116</a:t>
            </a:fld>
            <a:endParaRPr lang="en-US" sz="1200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28219-3E82-4EFA-83C3-82DBC33DBB7C}" type="slidenum">
              <a:rPr lang="en-US"/>
              <a:pPr/>
              <a:t>117</a:t>
            </a:fld>
            <a:endParaRPr lang="en-US"/>
          </a:p>
        </p:txBody>
      </p:sp>
      <p:sp>
        <p:nvSpPr>
          <p:cNvPr id="1955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F347A7D-11B7-44C9-AF8C-CE811EA43992}" type="slidenum">
              <a:rPr lang="ar-SA" sz="1200"/>
              <a:pPr algn="r"/>
              <a:t>117</a:t>
            </a:fld>
            <a:endParaRPr lang="en-US" sz="120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7FA471-1DA9-4204-8A89-E8E7148D36A1}" type="slidenum">
              <a:rPr lang="en-US"/>
              <a:pPr/>
              <a:t>118</a:t>
            </a:fld>
            <a:endParaRPr lang="en-US"/>
          </a:p>
        </p:txBody>
      </p:sp>
      <p:sp>
        <p:nvSpPr>
          <p:cNvPr id="1976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D497619-CD52-4411-9D61-23F6E9F6DBDA}" type="slidenum">
              <a:rPr lang="ar-SA" sz="1200"/>
              <a:pPr algn="r"/>
              <a:t>118</a:t>
            </a:fld>
            <a:endParaRPr lang="en-US" sz="1200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8619BD-FCE2-42C0-96F0-E02549270C2E}" type="slidenum">
              <a:rPr lang="en-US"/>
              <a:pPr/>
              <a:t>119</a:t>
            </a:fld>
            <a:endParaRPr lang="en-US"/>
          </a:p>
        </p:txBody>
      </p:sp>
      <p:sp>
        <p:nvSpPr>
          <p:cNvPr id="1996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9E6A240-C350-4D17-BFD6-539A0C9608F7}" type="slidenum">
              <a:rPr lang="ar-SA" sz="1200"/>
              <a:pPr algn="r"/>
              <a:t>119</a:t>
            </a:fld>
            <a:endParaRPr lang="en-US" sz="1200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579929C-C20D-4184-8ECF-E01A90ACED41}" type="slidenum">
              <a:rPr lang="ar-SA" altLang="en-US"/>
              <a:pPr/>
              <a:t>‹#›</a:t>
            </a:fld>
            <a:endParaRPr lang="en-US" altLang="en-US"/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2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4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3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5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3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60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AB44F4-95C8-498D-9EED-DC230BFF736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EBEB4-975D-4FA9-A3B7-9D5D174833A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A3A75E-CF43-45F4-B37F-167407F2A64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4CF612-D547-4C69-B8BF-37B95C49E0E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C25D2-9802-4AB2-8BE4-86C9542DA87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F4E36-C226-4CEB-B771-D0296946D18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61CB2-0FA2-405D-ADA5-8D07103B64E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0322F0-A4C7-4AC1-8540-5BDA9F21D63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BE7A35-6ADC-486E-B744-2384E239F44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53A738-CF7F-4CD6-A632-EC7AD8744EC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E45D51B-9457-4CBB-9651-5B7B7200559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cs typeface="Arial" pitchFamily="34" charset="0"/>
              </a:defRPr>
            </a:lvl1pPr>
          </a:lstStyle>
          <a:p>
            <a:fld id="{763BA28D-02A9-40D8-8216-479350F3E950}" type="slidenum">
              <a:rPr lang="ar-SA" altLang="en-US"/>
              <a:pPr/>
              <a:t>‹#›</a:t>
            </a:fld>
            <a:endParaRPr lang="en-US" altLang="en-US"/>
          </a:p>
        </p:txBody>
      </p:sp>
      <p:grpSp>
        <p:nvGrpSpPr>
          <p:cNvPr id="410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Chapter 1. Basic Structure of Computers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sz="24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Functional Units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Units</a:t>
            </a:r>
          </a:p>
        </p:txBody>
      </p:sp>
      <p:sp>
        <p:nvSpPr>
          <p:cNvPr id="9220" name="Freeform 4"/>
          <p:cNvSpPr>
            <a:spLocks/>
          </p:cNvSpPr>
          <p:nvPr/>
        </p:nvSpPr>
        <p:spPr bwMode="auto">
          <a:xfrm>
            <a:off x="5484813" y="1501775"/>
            <a:ext cx="2370137" cy="3556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240"/>
              </a:cxn>
              <a:cxn ang="0">
                <a:pos x="1493" y="2240"/>
              </a:cxn>
              <a:cxn ang="0">
                <a:pos x="1493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1493" h="2240">
                <a:moveTo>
                  <a:pt x="0" y="0"/>
                </a:moveTo>
                <a:lnTo>
                  <a:pt x="0" y="2240"/>
                </a:lnTo>
                <a:lnTo>
                  <a:pt x="1493" y="2240"/>
                </a:lnTo>
                <a:lnTo>
                  <a:pt x="1493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FFFF"/>
          </a:solidFill>
          <a:ln w="0">
            <a:solidFill>
              <a:srgbClr val="E5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484813" y="1501775"/>
            <a:ext cx="2370137" cy="3556000"/>
          </a:xfrm>
          <a:prstGeom prst="rect">
            <a:avLst/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2" name="Freeform 6"/>
          <p:cNvSpPr>
            <a:spLocks/>
          </p:cNvSpPr>
          <p:nvPr/>
        </p:nvSpPr>
        <p:spPr bwMode="auto">
          <a:xfrm>
            <a:off x="742950" y="1501775"/>
            <a:ext cx="2370138" cy="3556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240"/>
              </a:cxn>
              <a:cxn ang="0">
                <a:pos x="1493" y="2240"/>
              </a:cxn>
              <a:cxn ang="0">
                <a:pos x="1493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1493" h="2240">
                <a:moveTo>
                  <a:pt x="0" y="0"/>
                </a:moveTo>
                <a:lnTo>
                  <a:pt x="0" y="2240"/>
                </a:lnTo>
                <a:lnTo>
                  <a:pt x="1493" y="2240"/>
                </a:lnTo>
                <a:lnTo>
                  <a:pt x="1493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FFFF"/>
          </a:solidFill>
          <a:ln w="0">
            <a:solidFill>
              <a:srgbClr val="E5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742950" y="1501775"/>
            <a:ext cx="2370138" cy="3556000"/>
          </a:xfrm>
          <a:prstGeom prst="rect">
            <a:avLst/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1027113" y="3279775"/>
            <a:ext cx="1778000" cy="118586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1027113" y="3279775"/>
            <a:ext cx="1778000" cy="1185863"/>
          </a:xfrm>
          <a:prstGeom prst="rect">
            <a:avLst/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1773238" y="6038850"/>
            <a:ext cx="54276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Nimbus Roman No9 L" charset="0"/>
              </a:rPr>
              <a:t>Figure 1.1.  Basic functional units of a computer.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2546350" y="4646613"/>
            <a:ext cx="304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I/O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6824663" y="4646613"/>
            <a:ext cx="10287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Processor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1593850" y="3717925"/>
            <a:ext cx="685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Output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3397250" y="2533650"/>
            <a:ext cx="1803400" cy="1184275"/>
          </a:xfrm>
          <a:prstGeom prst="rect">
            <a:avLst/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3886200" y="2971800"/>
            <a:ext cx="8255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Memory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1027113" y="1785938"/>
            <a:ext cx="1778000" cy="118586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1027113" y="1785938"/>
            <a:ext cx="1778000" cy="1185862"/>
          </a:xfrm>
          <a:prstGeom prst="rect">
            <a:avLst/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5792788" y="1785938"/>
            <a:ext cx="1778000" cy="118586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5792788" y="1785938"/>
            <a:ext cx="1778000" cy="1185862"/>
          </a:xfrm>
          <a:prstGeom prst="rect">
            <a:avLst/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5792788" y="3279775"/>
            <a:ext cx="1778000" cy="118586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5792788" y="3279775"/>
            <a:ext cx="1778000" cy="1185863"/>
          </a:xfrm>
          <a:prstGeom prst="rect">
            <a:avLst/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1671638" y="2224088"/>
            <a:ext cx="508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Input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39" name="Rectangle 23"/>
          <p:cNvSpPr>
            <a:spLocks noChangeArrowheads="1"/>
          </p:cNvSpPr>
          <p:nvPr/>
        </p:nvSpPr>
        <p:spPr bwMode="auto">
          <a:xfrm>
            <a:off x="6515100" y="2198688"/>
            <a:ext cx="381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and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6180138" y="1939925"/>
            <a:ext cx="1016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Arithmetic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6437313" y="2481263"/>
            <a:ext cx="469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logic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6308725" y="3717925"/>
            <a:ext cx="73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Nimbus Roman No9 L" charset="0"/>
              </a:rPr>
              <a:t>Control</a:t>
            </a:r>
            <a:endParaRPr lang="en-US" sz="2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Handled by a Computer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3100"/>
              <a:t>Instructions/machine instructions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Govern the transfer of information within a computer as well as between the computer and its I/O devices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Specify the arithmetic and logic operations to be performed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Program</a:t>
            </a:r>
          </a:p>
          <a:p>
            <a:pPr>
              <a:lnSpc>
                <a:spcPct val="90000"/>
              </a:lnSpc>
            </a:pPr>
            <a:r>
              <a:rPr lang="en-US" sz="3100"/>
              <a:t>Data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Used as operands by the instructions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Source program</a:t>
            </a:r>
          </a:p>
          <a:p>
            <a:pPr>
              <a:lnSpc>
                <a:spcPct val="90000"/>
              </a:lnSpc>
            </a:pPr>
            <a:r>
              <a:rPr lang="en-US" sz="3100"/>
              <a:t>Encoded in binary code – 0 and 1</a:t>
            </a:r>
          </a:p>
          <a:p>
            <a:pPr>
              <a:lnSpc>
                <a:spcPct val="90000"/>
              </a:lnSpc>
            </a:pPr>
            <a:endParaRPr lang="en-US" sz="3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Unit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Store programs and data</a:t>
            </a:r>
          </a:p>
          <a:p>
            <a:pPr>
              <a:lnSpc>
                <a:spcPct val="90000"/>
              </a:lnSpc>
            </a:pPr>
            <a:r>
              <a:rPr lang="en-US"/>
              <a:t>Two classes of storage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Primary storage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2000"/>
              <a:t>Fast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2000"/>
              <a:t>Programs must be stored in memory while they are being executed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2000"/>
              <a:t>Large number of semiconductor storage cells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2000"/>
              <a:t>Processed in words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2000"/>
              <a:t>Address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2000"/>
              <a:t>RAM and memory access time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2000"/>
              <a:t>Memory hierarchy – cache, main memory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Secondary storage – larger and cheaper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Arithmetic and Logic Unit (ALU)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computer operations are executed in ALU of the processor.</a:t>
            </a:r>
          </a:p>
          <a:p>
            <a:r>
              <a:rPr lang="en-US"/>
              <a:t>Load the operands into memory – bring them to the processor – perform operation in ALU – store the result back to memory or retain in the processor.</a:t>
            </a:r>
          </a:p>
          <a:p>
            <a:r>
              <a:rPr lang="en-US"/>
              <a:t>Registers</a:t>
            </a:r>
          </a:p>
          <a:p>
            <a:r>
              <a:rPr lang="en-US"/>
              <a:t>Fast control of ALU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Unit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600"/>
              <a:t>All computer operations are controlled by the control unit.</a:t>
            </a:r>
          </a:p>
          <a:p>
            <a:pPr>
              <a:lnSpc>
                <a:spcPct val="80000"/>
              </a:lnSpc>
            </a:pPr>
            <a:r>
              <a:rPr lang="en-US" sz="2600"/>
              <a:t>The timing signals that govern the I/O transfers are also generated by the control unit.</a:t>
            </a:r>
          </a:p>
          <a:p>
            <a:pPr>
              <a:lnSpc>
                <a:spcPct val="80000"/>
              </a:lnSpc>
            </a:pPr>
            <a:r>
              <a:rPr lang="en-US" sz="2600"/>
              <a:t>Control unit is usually distributed throughout the machine instead of standing alone.</a:t>
            </a:r>
          </a:p>
          <a:p>
            <a:pPr>
              <a:lnSpc>
                <a:spcPct val="80000"/>
              </a:lnSpc>
            </a:pPr>
            <a:r>
              <a:rPr lang="en-US" sz="2600"/>
              <a:t>Operations of a computer:</a:t>
            </a:r>
          </a:p>
          <a:p>
            <a:pPr>
              <a:lnSpc>
                <a:spcPct val="80000"/>
              </a:lnSpc>
              <a:buFont typeface="Wingdings" pitchFamily="2" charset="2"/>
              <a:buChar char="Ø"/>
            </a:pPr>
            <a:r>
              <a:rPr lang="en-US" sz="2000"/>
              <a:t>Accept information in the form of programs and data through an input unit and store it in the memory</a:t>
            </a:r>
          </a:p>
          <a:p>
            <a:pPr>
              <a:lnSpc>
                <a:spcPct val="80000"/>
              </a:lnSpc>
              <a:buFont typeface="Wingdings" pitchFamily="2" charset="2"/>
              <a:buChar char="Ø"/>
            </a:pPr>
            <a:r>
              <a:rPr lang="en-US" sz="2000"/>
              <a:t>Fetch the information stored in the memory, under program control, into an ALU, where the information is processed</a:t>
            </a:r>
          </a:p>
          <a:p>
            <a:pPr>
              <a:lnSpc>
                <a:spcPct val="80000"/>
              </a:lnSpc>
              <a:buFont typeface="Wingdings" pitchFamily="2" charset="2"/>
              <a:buChar char="Ø"/>
            </a:pPr>
            <a:r>
              <a:rPr lang="en-US" sz="2000"/>
              <a:t>Output the processed information through an output unit</a:t>
            </a:r>
          </a:p>
          <a:p>
            <a:pPr>
              <a:lnSpc>
                <a:spcPct val="80000"/>
              </a:lnSpc>
              <a:buFont typeface="Wingdings" pitchFamily="2" charset="2"/>
              <a:buChar char="Ø"/>
            </a:pPr>
            <a:r>
              <a:rPr lang="en-US" sz="2000"/>
              <a:t>Control all activities inside the machine through a control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/>
              <a:t>The processor : Data Path and Control</a:t>
            </a: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>
            <p:ph idx="1"/>
          </p:nvPr>
        </p:nvGraphicFramePr>
        <p:xfrm>
          <a:off x="0" y="1412875"/>
          <a:ext cx="8964613" cy="4030663"/>
        </p:xfrm>
        <a:graphic>
          <a:graphicData uri="http://schemas.openxmlformats.org/presentationml/2006/ole">
            <p:oleObj spid="_x0000_s52227" name="Visio" r:id="rId3" imgW="6542227" imgH="2942234" progId="">
              <p:embed/>
            </p:oleObj>
          </a:graphicData>
        </a:graphic>
      </p:graphicFrame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468313" y="5516563"/>
            <a:ext cx="7848600" cy="9858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en-US" b="1"/>
              <a:t>Two types of functional units: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Ø"/>
            </a:pPr>
            <a:r>
              <a:rPr lang="en-US" b="1"/>
              <a:t>elements that operate on data values (combinational)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Ø"/>
            </a:pPr>
            <a:r>
              <a:rPr lang="en-US"/>
              <a:t> </a:t>
            </a:r>
            <a:r>
              <a:rPr lang="en-US" b="1"/>
              <a:t>elements that contain state (state elements)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Execution Steps</a:t>
            </a:r>
          </a:p>
        </p:txBody>
      </p:sp>
      <p:graphicFrame>
        <p:nvGraphicFramePr>
          <p:cNvPr id="51203" name="Group 3"/>
          <p:cNvGraphicFramePr>
            <a:graphicFrameLocks noGrp="1"/>
          </p:cNvGraphicFramePr>
          <p:nvPr>
            <p:ph idx="1"/>
          </p:nvPr>
        </p:nvGraphicFramePr>
        <p:xfrm>
          <a:off x="179388" y="1628775"/>
          <a:ext cx="8785225" cy="4438652"/>
        </p:xfrm>
        <a:graphic>
          <a:graphicData uri="http://schemas.openxmlformats.org/drawingml/2006/table">
            <a:tbl>
              <a:tblPr/>
              <a:tblGrid>
                <a:gridCol w="2363787"/>
                <a:gridCol w="1622425"/>
                <a:gridCol w="2259013"/>
                <a:gridCol w="1339850"/>
                <a:gridCol w="1200150"/>
              </a:tblGrid>
              <a:tr h="61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</a:rPr>
                        <a:t>Step name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</a:rPr>
                        <a:t>Action for R-type instructions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</a:rPr>
                        <a:t>Action for Memory-reference Instructions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</a:rPr>
                        <a:t>Action for branches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</a:rPr>
                        <a:t>Action for jumps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Instruction fetch</a:t>
                      </a:r>
                    </a:p>
                  </a:txBody>
                  <a:tcPr marL="63500" marR="63500" marT="25400" marB="25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IR = MEM[PC]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PC = PC + 4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49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Instruction decode/ register fetch</a:t>
                      </a:r>
                    </a:p>
                  </a:txBody>
                  <a:tcPr marL="63500" marR="63500" marT="25400" marB="25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 = Reg[IR[25-21]]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 = Reg[IR[20-16]]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ALUOut =  PC + (sign extend (IR[15-0])&lt;&lt;2)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49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Execution, address computation, branch/jump completion </a:t>
                      </a:r>
                    </a:p>
                  </a:txBody>
                  <a:tcPr marL="63500" marR="63500" marT="25400" marB="25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ALUOut = A op B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ALUOut = A+sign extend(IR[15-0])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IF(A==B) Then PC=ALUOut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PC=PC[31-28]||(IR[25-0]&lt;&lt;2)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9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Memory access or R-type completion </a:t>
                      </a:r>
                    </a:p>
                  </a:txBody>
                  <a:tcPr marL="63500" marR="63500" marT="25400" marB="25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Reg[IR[15-11]] = ALUOut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Load:MDR =Mem[ALUOut]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Store:Mem[ALUOut] = B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Memory read completion</a:t>
                      </a:r>
                    </a:p>
                  </a:txBody>
                  <a:tcPr marL="63500" marR="63500" marT="25400" marB="25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Load: Reg[IR[20-16]] = MDR</a:t>
                      </a: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63500" marR="63500" marT="25400" marB="254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Basic Operational Concepts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/>
              <a:t>Activity in a computer is governed by instructions.</a:t>
            </a:r>
          </a:p>
          <a:p>
            <a:r>
              <a:rPr lang="en-US" sz="2600"/>
              <a:t>To perform a task, an appropriate program consisting of a list of instructions is stored in the memory.</a:t>
            </a:r>
          </a:p>
          <a:p>
            <a:r>
              <a:rPr lang="en-US" sz="2600"/>
              <a:t>Individual instructions are brought from the memory into the processor, which executes the specified operations.</a:t>
            </a:r>
          </a:p>
          <a:p>
            <a:r>
              <a:rPr lang="en-US" sz="2600"/>
              <a:t>Data to be used as operands are also stored in the memory.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Typical Instruction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rgbClr val="CC0000"/>
                </a:solidFill>
              </a:rPr>
              <a:t>Add LOCA, R0</a:t>
            </a:r>
          </a:p>
          <a:p>
            <a:pPr>
              <a:lnSpc>
                <a:spcPct val="90000"/>
              </a:lnSpc>
            </a:pPr>
            <a:r>
              <a:rPr lang="en-US" sz="2600"/>
              <a:t>Add the operand at memory location LOCA to the operand in a register R0 in the processor.</a:t>
            </a:r>
          </a:p>
          <a:p>
            <a:pPr>
              <a:lnSpc>
                <a:spcPct val="90000"/>
              </a:lnSpc>
            </a:pPr>
            <a:r>
              <a:rPr lang="en-US" sz="2600"/>
              <a:t>Place the sum into register R0.</a:t>
            </a:r>
          </a:p>
          <a:p>
            <a:pPr>
              <a:lnSpc>
                <a:spcPct val="90000"/>
              </a:lnSpc>
            </a:pPr>
            <a:r>
              <a:rPr lang="en-US" sz="2600"/>
              <a:t>The original contents of LOCA are preserved.</a:t>
            </a:r>
          </a:p>
          <a:p>
            <a:pPr>
              <a:lnSpc>
                <a:spcPct val="90000"/>
              </a:lnSpc>
            </a:pPr>
            <a:r>
              <a:rPr lang="en-US" sz="2600"/>
              <a:t>The original contents of R0 is overwritten.</a:t>
            </a:r>
          </a:p>
          <a:p>
            <a:pPr>
              <a:lnSpc>
                <a:spcPct val="90000"/>
              </a:lnSpc>
            </a:pPr>
            <a:r>
              <a:rPr lang="en-US" sz="2600"/>
              <a:t>Instruction is fetched from the memory into the processor – the operand at LOCA is fetched and added to the contents of R0 – the resulting sum is stored in register R0.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Separate Memory Access and ALU Operation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Load LOCA, R1</a:t>
            </a:r>
          </a:p>
          <a:p>
            <a:r>
              <a:rPr lang="en-US"/>
              <a:t>Add R1, R0</a:t>
            </a:r>
          </a:p>
          <a:p>
            <a:r>
              <a:rPr lang="en-US"/>
              <a:t>Whose contents will be overwritten?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Connection Between the Processor and the Memory</a:t>
            </a:r>
          </a:p>
        </p:txBody>
      </p:sp>
      <p:pic>
        <p:nvPicPr>
          <p:cNvPr id="21508" name="Picture 4" descr="figure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368425"/>
            <a:ext cx="5680075" cy="5413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Instruction register (IR)</a:t>
            </a:r>
          </a:p>
          <a:p>
            <a:r>
              <a:rPr lang="en-US"/>
              <a:t>Program counter (PC)</a:t>
            </a:r>
          </a:p>
          <a:p>
            <a:r>
              <a:rPr lang="en-US"/>
              <a:t>General-purpose register (R</a:t>
            </a:r>
            <a:r>
              <a:rPr lang="en-US" baseline="-25000"/>
              <a:t>0</a:t>
            </a:r>
            <a:r>
              <a:rPr lang="en-US"/>
              <a:t> – R</a:t>
            </a:r>
            <a:r>
              <a:rPr lang="en-US" baseline="-25000"/>
              <a:t>n-1</a:t>
            </a:r>
            <a:r>
              <a:rPr lang="en-US"/>
              <a:t>)</a:t>
            </a:r>
          </a:p>
          <a:p>
            <a:r>
              <a:rPr lang="en-US"/>
              <a:t>Memory address register (MAR)</a:t>
            </a:r>
          </a:p>
          <a:p>
            <a:r>
              <a:rPr lang="en-US"/>
              <a:t>Memory data register (MDR)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Operating Steps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Programs reside in the memory through input devices</a:t>
            </a:r>
          </a:p>
          <a:p>
            <a:pPr>
              <a:lnSpc>
                <a:spcPct val="90000"/>
              </a:lnSpc>
            </a:pPr>
            <a:r>
              <a:rPr lang="en-US"/>
              <a:t>PC is set to point to the first instruction</a:t>
            </a:r>
          </a:p>
          <a:p>
            <a:pPr>
              <a:lnSpc>
                <a:spcPct val="90000"/>
              </a:lnSpc>
            </a:pPr>
            <a:r>
              <a:rPr lang="en-US"/>
              <a:t>The contents of PC are transferred to MAR</a:t>
            </a:r>
          </a:p>
          <a:p>
            <a:pPr>
              <a:lnSpc>
                <a:spcPct val="90000"/>
              </a:lnSpc>
            </a:pPr>
            <a:r>
              <a:rPr lang="en-US"/>
              <a:t>A Read signal is sent to the memory</a:t>
            </a:r>
          </a:p>
          <a:p>
            <a:pPr>
              <a:lnSpc>
                <a:spcPct val="90000"/>
              </a:lnSpc>
            </a:pPr>
            <a:r>
              <a:rPr lang="en-US"/>
              <a:t>The first instruction is read out and loaded into MDR</a:t>
            </a:r>
          </a:p>
          <a:p>
            <a:pPr>
              <a:lnSpc>
                <a:spcPct val="90000"/>
              </a:lnSpc>
            </a:pPr>
            <a:r>
              <a:rPr lang="en-US"/>
              <a:t>The contents of MDR are transferred to IR</a:t>
            </a:r>
          </a:p>
          <a:p>
            <a:pPr>
              <a:lnSpc>
                <a:spcPct val="90000"/>
              </a:lnSpc>
            </a:pPr>
            <a:r>
              <a:rPr lang="en-US"/>
              <a:t>Decode and execute the instruction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Operating Steps (Cont’)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3400"/>
              <a:t>Get operands for ALU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General-purpose register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Memory (address to MAR – Read – MDR to ALU)</a:t>
            </a:r>
          </a:p>
          <a:p>
            <a:pPr>
              <a:lnSpc>
                <a:spcPct val="90000"/>
              </a:lnSpc>
            </a:pPr>
            <a:r>
              <a:rPr lang="en-US" sz="3400"/>
              <a:t>Perform operation in ALU</a:t>
            </a:r>
          </a:p>
          <a:p>
            <a:pPr>
              <a:lnSpc>
                <a:spcPct val="90000"/>
              </a:lnSpc>
            </a:pPr>
            <a:r>
              <a:rPr lang="en-US" sz="3400"/>
              <a:t>Store the result back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To general-purpose register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To memory (address to MAR, result to MDR – Write)</a:t>
            </a:r>
          </a:p>
          <a:p>
            <a:pPr>
              <a:lnSpc>
                <a:spcPct val="90000"/>
              </a:lnSpc>
            </a:pPr>
            <a:r>
              <a:rPr lang="en-US" sz="3400"/>
              <a:t>During the execution, PC is incremented to the next instruction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Interrupt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/>
              <a:t>Normal execution of programs may be preempted if some device requires urgent servicing.</a:t>
            </a:r>
          </a:p>
          <a:p>
            <a:r>
              <a:rPr lang="en-US" sz="2600"/>
              <a:t>The normal execution of the current program must be interrupted – the device raises an </a:t>
            </a:r>
            <a:r>
              <a:rPr lang="en-US" sz="2600" i="1"/>
              <a:t>interrupt</a:t>
            </a:r>
            <a:r>
              <a:rPr lang="en-US" sz="2600"/>
              <a:t> signal.</a:t>
            </a:r>
          </a:p>
          <a:p>
            <a:r>
              <a:rPr lang="en-US" sz="2600"/>
              <a:t>Interrupt-service routine</a:t>
            </a:r>
          </a:p>
          <a:p>
            <a:r>
              <a:rPr lang="en-US" sz="2600"/>
              <a:t>Current system information backup and restore (PC, general-purpose registers, control information, specific information)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 Structures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many ways to connect different parts inside a computer together.</a:t>
            </a:r>
          </a:p>
          <a:p>
            <a:r>
              <a:rPr lang="en-US"/>
              <a:t>A group of lines that serves as a connecting path for several devices is called a </a:t>
            </a:r>
            <a:r>
              <a:rPr lang="en-US" i="1"/>
              <a:t>bus</a:t>
            </a:r>
            <a:r>
              <a:rPr lang="en-US"/>
              <a:t>.</a:t>
            </a:r>
          </a:p>
          <a:p>
            <a:r>
              <a:rPr lang="en-US"/>
              <a:t>Address/data/control</a:t>
            </a:r>
          </a:p>
          <a:p>
            <a:pPr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 Structure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566737"/>
          </a:xfrm>
        </p:spPr>
        <p:txBody>
          <a:bodyPr/>
          <a:lstStyle/>
          <a:p>
            <a:r>
              <a:rPr lang="en-US"/>
              <a:t>Single-bus</a:t>
            </a:r>
          </a:p>
        </p:txBody>
      </p:sp>
      <p:pic>
        <p:nvPicPr>
          <p:cNvPr id="27652" name="Picture 4" descr="figure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743200"/>
            <a:ext cx="6632575" cy="2886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Speed Issue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devices have different transfer/operate speed.</a:t>
            </a:r>
          </a:p>
          <a:p>
            <a:r>
              <a:rPr lang="en-US"/>
              <a:t>If the speed of bus is bounded by the slowest device connected to it, the efficiency will be very low.</a:t>
            </a:r>
          </a:p>
          <a:p>
            <a:r>
              <a:rPr lang="en-US"/>
              <a:t>How to solve this?</a:t>
            </a:r>
          </a:p>
          <a:p>
            <a:r>
              <a:rPr lang="en-US"/>
              <a:t>A common approach – use buffers.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most important measure of a computer is how quickly it can execute programs.</a:t>
            </a:r>
          </a:p>
          <a:p>
            <a:r>
              <a:rPr lang="en-US"/>
              <a:t>Three factors affect performance:</a:t>
            </a:r>
          </a:p>
          <a:p>
            <a:pPr>
              <a:buFont typeface="Wingdings" pitchFamily="2" charset="2"/>
              <a:buChar char="Ø"/>
            </a:pPr>
            <a:r>
              <a:rPr lang="en-US" sz="2400"/>
              <a:t>Hardware design</a:t>
            </a:r>
          </a:p>
          <a:p>
            <a:pPr>
              <a:buFont typeface="Wingdings" pitchFamily="2" charset="2"/>
              <a:buChar char="Ø"/>
            </a:pPr>
            <a:r>
              <a:rPr lang="en-US" sz="2400"/>
              <a:t>Instruction set</a:t>
            </a:r>
          </a:p>
          <a:p>
            <a:pPr>
              <a:buFont typeface="Wingdings" pitchFamily="2" charset="2"/>
              <a:buChar char="Ø"/>
            </a:pPr>
            <a:r>
              <a:rPr lang="en-US" sz="2400"/>
              <a:t>Compiler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8715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100"/>
              <a:t>Processor time to execute a program depends on the hardware involved in the execution of individual machine instructions.</a:t>
            </a:r>
          </a:p>
        </p:txBody>
      </p:sp>
      <p:sp>
        <p:nvSpPr>
          <p:cNvPr id="37892" name="Freeform 4"/>
          <p:cNvSpPr>
            <a:spLocks/>
          </p:cNvSpPr>
          <p:nvPr/>
        </p:nvSpPr>
        <p:spPr bwMode="auto">
          <a:xfrm>
            <a:off x="5972175" y="4064000"/>
            <a:ext cx="300038" cy="1223963"/>
          </a:xfrm>
          <a:custGeom>
            <a:avLst/>
            <a:gdLst/>
            <a:ahLst/>
            <a:cxnLst>
              <a:cxn ang="0">
                <a:pos x="11" y="9"/>
              </a:cxn>
              <a:cxn ang="0">
                <a:pos x="8" y="9"/>
              </a:cxn>
              <a:cxn ang="0">
                <a:pos x="8" y="37"/>
              </a:cxn>
              <a:cxn ang="0">
                <a:pos x="11" y="37"/>
              </a:cxn>
              <a:cxn ang="0">
                <a:pos x="6" y="45"/>
              </a:cxn>
              <a:cxn ang="0">
                <a:pos x="0" y="37"/>
              </a:cxn>
              <a:cxn ang="0">
                <a:pos x="3" y="37"/>
              </a:cxn>
              <a:cxn ang="0">
                <a:pos x="3" y="9"/>
              </a:cxn>
              <a:cxn ang="0">
                <a:pos x="0" y="9"/>
              </a:cxn>
              <a:cxn ang="0">
                <a:pos x="6" y="0"/>
              </a:cxn>
              <a:cxn ang="0">
                <a:pos x="11" y="9"/>
              </a:cxn>
            </a:cxnLst>
            <a:rect l="0" t="0" r="r" b="b"/>
            <a:pathLst>
              <a:path w="11" h="45">
                <a:moveTo>
                  <a:pt x="11" y="9"/>
                </a:moveTo>
                <a:lnTo>
                  <a:pt x="8" y="9"/>
                </a:lnTo>
                <a:lnTo>
                  <a:pt x="8" y="37"/>
                </a:lnTo>
                <a:lnTo>
                  <a:pt x="11" y="37"/>
                </a:lnTo>
                <a:lnTo>
                  <a:pt x="6" y="45"/>
                </a:lnTo>
                <a:lnTo>
                  <a:pt x="0" y="37"/>
                </a:lnTo>
                <a:lnTo>
                  <a:pt x="3" y="37"/>
                </a:lnTo>
                <a:lnTo>
                  <a:pt x="3" y="9"/>
                </a:lnTo>
                <a:lnTo>
                  <a:pt x="0" y="9"/>
                </a:lnTo>
                <a:lnTo>
                  <a:pt x="6" y="0"/>
                </a:lnTo>
                <a:lnTo>
                  <a:pt x="11" y="9"/>
                </a:lnTo>
              </a:path>
            </a:pathLst>
          </a:custGeom>
          <a:noFill/>
          <a:ln w="26988">
            <a:solidFill>
              <a:srgbClr val="00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1485900" y="2514600"/>
            <a:ext cx="1849438" cy="1549400"/>
          </a:xfrm>
          <a:prstGeom prst="rect">
            <a:avLst/>
          </a:prstGeom>
          <a:noFill/>
          <a:ln w="26988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4586288" y="2514600"/>
            <a:ext cx="3071812" cy="1549400"/>
          </a:xfrm>
          <a:prstGeom prst="rect">
            <a:avLst/>
          </a:prstGeom>
          <a:solidFill>
            <a:srgbClr val="E5FFFF"/>
          </a:solidFill>
          <a:ln w="0">
            <a:solidFill>
              <a:srgbClr val="E5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4586288" y="2514600"/>
            <a:ext cx="3071812" cy="1549400"/>
          </a:xfrm>
          <a:prstGeom prst="rect">
            <a:avLst/>
          </a:prstGeom>
          <a:noFill/>
          <a:ln w="26988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4884738" y="2841625"/>
            <a:ext cx="1250950" cy="9239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4884738" y="2841625"/>
            <a:ext cx="1250950" cy="923925"/>
          </a:xfrm>
          <a:prstGeom prst="rect">
            <a:avLst/>
          </a:prstGeom>
          <a:noFill/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2165350" y="2976563"/>
            <a:ext cx="5254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Nimbus Roman No9 L" charset="0"/>
              </a:rPr>
              <a:t>Main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2001838" y="3249613"/>
            <a:ext cx="8747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Nimbus Roman No9 L" charset="0"/>
              </a:rPr>
              <a:t>memory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6462713" y="3140075"/>
            <a:ext cx="10890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Nimbus Roman No9 L" charset="0"/>
              </a:rPr>
              <a:t>Processor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901" name="Freeform 13"/>
          <p:cNvSpPr>
            <a:spLocks/>
          </p:cNvSpPr>
          <p:nvPr/>
        </p:nvSpPr>
        <p:spPr bwMode="auto">
          <a:xfrm>
            <a:off x="2273300" y="4064000"/>
            <a:ext cx="300038" cy="1223963"/>
          </a:xfrm>
          <a:custGeom>
            <a:avLst/>
            <a:gdLst/>
            <a:ahLst/>
            <a:cxnLst>
              <a:cxn ang="0">
                <a:pos x="11" y="9"/>
              </a:cxn>
              <a:cxn ang="0">
                <a:pos x="8" y="9"/>
              </a:cxn>
              <a:cxn ang="0">
                <a:pos x="8" y="37"/>
              </a:cxn>
              <a:cxn ang="0">
                <a:pos x="11" y="37"/>
              </a:cxn>
              <a:cxn ang="0">
                <a:pos x="5" y="45"/>
              </a:cxn>
              <a:cxn ang="0">
                <a:pos x="0" y="37"/>
              </a:cxn>
              <a:cxn ang="0">
                <a:pos x="3" y="37"/>
              </a:cxn>
              <a:cxn ang="0">
                <a:pos x="3" y="9"/>
              </a:cxn>
              <a:cxn ang="0">
                <a:pos x="0" y="9"/>
              </a:cxn>
              <a:cxn ang="0">
                <a:pos x="5" y="0"/>
              </a:cxn>
              <a:cxn ang="0">
                <a:pos x="11" y="9"/>
              </a:cxn>
            </a:cxnLst>
            <a:rect l="0" t="0" r="r" b="b"/>
            <a:pathLst>
              <a:path w="11" h="45">
                <a:moveTo>
                  <a:pt x="11" y="9"/>
                </a:moveTo>
                <a:lnTo>
                  <a:pt x="8" y="9"/>
                </a:lnTo>
                <a:lnTo>
                  <a:pt x="8" y="37"/>
                </a:lnTo>
                <a:lnTo>
                  <a:pt x="11" y="37"/>
                </a:lnTo>
                <a:lnTo>
                  <a:pt x="5" y="45"/>
                </a:lnTo>
                <a:lnTo>
                  <a:pt x="0" y="37"/>
                </a:lnTo>
                <a:lnTo>
                  <a:pt x="3" y="37"/>
                </a:lnTo>
                <a:lnTo>
                  <a:pt x="3" y="9"/>
                </a:lnTo>
                <a:lnTo>
                  <a:pt x="0" y="9"/>
                </a:lnTo>
                <a:lnTo>
                  <a:pt x="5" y="0"/>
                </a:lnTo>
                <a:lnTo>
                  <a:pt x="11" y="9"/>
                </a:lnTo>
              </a:path>
            </a:pathLst>
          </a:custGeom>
          <a:noFill/>
          <a:ln w="26988">
            <a:solidFill>
              <a:srgbClr val="00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2" name="Freeform 14"/>
          <p:cNvSpPr>
            <a:spLocks/>
          </p:cNvSpPr>
          <p:nvPr/>
        </p:nvSpPr>
        <p:spPr bwMode="auto">
          <a:xfrm>
            <a:off x="560388" y="5233988"/>
            <a:ext cx="8023225" cy="298450"/>
          </a:xfrm>
          <a:custGeom>
            <a:avLst/>
            <a:gdLst/>
            <a:ahLst/>
            <a:cxnLst>
              <a:cxn ang="0">
                <a:pos x="287" y="2"/>
              </a:cxn>
              <a:cxn ang="0">
                <a:pos x="287" y="0"/>
              </a:cxn>
              <a:cxn ang="0">
                <a:pos x="295" y="5"/>
              </a:cxn>
              <a:cxn ang="0">
                <a:pos x="287" y="11"/>
              </a:cxn>
              <a:cxn ang="0">
                <a:pos x="287" y="8"/>
              </a:cxn>
              <a:cxn ang="0">
                <a:pos x="9" y="8"/>
              </a:cxn>
              <a:cxn ang="0">
                <a:pos x="9" y="11"/>
              </a:cxn>
              <a:cxn ang="0">
                <a:pos x="0" y="5"/>
              </a:cxn>
              <a:cxn ang="0">
                <a:pos x="9" y="0"/>
              </a:cxn>
              <a:cxn ang="0">
                <a:pos x="9" y="2"/>
              </a:cxn>
              <a:cxn ang="0">
                <a:pos x="287" y="2"/>
              </a:cxn>
            </a:cxnLst>
            <a:rect l="0" t="0" r="r" b="b"/>
            <a:pathLst>
              <a:path w="295" h="11">
                <a:moveTo>
                  <a:pt x="287" y="2"/>
                </a:moveTo>
                <a:lnTo>
                  <a:pt x="287" y="0"/>
                </a:lnTo>
                <a:lnTo>
                  <a:pt x="295" y="5"/>
                </a:lnTo>
                <a:lnTo>
                  <a:pt x="287" y="11"/>
                </a:lnTo>
                <a:lnTo>
                  <a:pt x="287" y="8"/>
                </a:lnTo>
                <a:lnTo>
                  <a:pt x="9" y="8"/>
                </a:lnTo>
                <a:lnTo>
                  <a:pt x="9" y="11"/>
                </a:lnTo>
                <a:lnTo>
                  <a:pt x="0" y="5"/>
                </a:lnTo>
                <a:lnTo>
                  <a:pt x="9" y="0"/>
                </a:lnTo>
                <a:lnTo>
                  <a:pt x="9" y="2"/>
                </a:lnTo>
                <a:lnTo>
                  <a:pt x="287" y="2"/>
                </a:lnTo>
              </a:path>
            </a:pathLst>
          </a:custGeom>
          <a:noFill/>
          <a:ln w="26988">
            <a:solidFill>
              <a:srgbClr val="00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4068763" y="4826000"/>
            <a:ext cx="4159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Nimbus Roman No9 L" charset="0"/>
              </a:rPr>
              <a:t>Bus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5211763" y="2976563"/>
            <a:ext cx="70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Nimbus Roman No9 L" charset="0"/>
              </a:rPr>
              <a:t>Cache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905" name="Rectangle 17"/>
          <p:cNvSpPr>
            <a:spLocks noChangeArrowheads="1"/>
          </p:cNvSpPr>
          <p:nvPr/>
        </p:nvSpPr>
        <p:spPr bwMode="auto">
          <a:xfrm>
            <a:off x="5102225" y="3249613"/>
            <a:ext cx="87471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Nimbus Roman No9 L" charset="0"/>
              </a:rPr>
              <a:t>memory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2709863" y="5943600"/>
            <a:ext cx="1273175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100">
                <a:solidFill>
                  <a:srgbClr val="000000"/>
                </a:solidFill>
                <a:latin typeface="Nimbus Roman No9 L" charset="0"/>
              </a:rPr>
              <a:t>Figure 1.5.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4149725" y="5943600"/>
            <a:ext cx="2560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100">
                <a:solidFill>
                  <a:srgbClr val="000000"/>
                </a:solidFill>
                <a:latin typeface="Nimbus Roman No9 L" charset="0"/>
              </a:rPr>
              <a:t>The processor cache.</a:t>
            </a:r>
            <a:endParaRPr lang="en-US" sz="24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processor and a relatively small cache memory can be fabricated on a single integrated circuit chip.</a:t>
            </a:r>
          </a:p>
          <a:p>
            <a:r>
              <a:rPr lang="en-US"/>
              <a:t>Speed</a:t>
            </a:r>
          </a:p>
          <a:p>
            <a:r>
              <a:rPr lang="en-US"/>
              <a:t>Cost</a:t>
            </a:r>
          </a:p>
          <a:p>
            <a:r>
              <a:rPr lang="en-US"/>
              <a:t>Memory management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Processor Clock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Clock, clock cycle, and clock rate</a:t>
            </a:r>
          </a:p>
          <a:p>
            <a:r>
              <a:rPr lang="en-US"/>
              <a:t>The execution of each instruction is divided into several steps, each of which completes in one clock cycle.</a:t>
            </a:r>
          </a:p>
          <a:p>
            <a:r>
              <a:rPr lang="en-US"/>
              <a:t>Hertz – cycles per second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Performance Equation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25479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100"/>
              <a:t>T – processor time required to execute a program that has been prepared in high-level language</a:t>
            </a:r>
          </a:p>
          <a:p>
            <a:pPr>
              <a:lnSpc>
                <a:spcPct val="80000"/>
              </a:lnSpc>
            </a:pPr>
            <a:r>
              <a:rPr lang="en-US" sz="2100"/>
              <a:t>N – number of actual machine language instructions needed to complete the execution (note: loop)</a:t>
            </a:r>
          </a:p>
          <a:p>
            <a:pPr>
              <a:lnSpc>
                <a:spcPct val="80000"/>
              </a:lnSpc>
            </a:pPr>
            <a:r>
              <a:rPr lang="en-US" sz="2100"/>
              <a:t>S – average number of basic steps needed to execute one machine instruction. Each step completes in one clock cycle</a:t>
            </a:r>
          </a:p>
          <a:p>
            <a:pPr>
              <a:lnSpc>
                <a:spcPct val="80000"/>
              </a:lnSpc>
            </a:pPr>
            <a:r>
              <a:rPr lang="en-US" sz="2100"/>
              <a:t>R – clock rate</a:t>
            </a:r>
          </a:p>
          <a:p>
            <a:pPr>
              <a:lnSpc>
                <a:spcPct val="80000"/>
              </a:lnSpc>
            </a:pPr>
            <a:r>
              <a:rPr lang="en-US" sz="2100"/>
              <a:t>Note: these are not independent to each other</a:t>
            </a:r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3505200" y="4343400"/>
          <a:ext cx="1371600" cy="914400"/>
        </p:xfrm>
        <a:graphic>
          <a:graphicData uri="http://schemas.openxmlformats.org/presentationml/2006/ole">
            <p:oleObj spid="_x0000_s40964" name="Equation" r:id="rId3" imgW="660240" imgH="393480" progId="">
              <p:embed/>
            </p:oleObj>
          </a:graphicData>
        </a:graphic>
      </p:graphicFrame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1203325" y="5522913"/>
            <a:ext cx="2101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How to improve 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and Superscalar Operation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600"/>
              <a:t>Instructions are not necessarily executed one after another.</a:t>
            </a:r>
          </a:p>
          <a:p>
            <a:pPr>
              <a:lnSpc>
                <a:spcPct val="90000"/>
              </a:lnSpc>
            </a:pPr>
            <a:r>
              <a:rPr lang="en-US" sz="2600"/>
              <a:t>The value of S doesn’t have to be the number of clock cycles to execute one instruction.</a:t>
            </a:r>
          </a:p>
          <a:p>
            <a:pPr>
              <a:lnSpc>
                <a:spcPct val="90000"/>
              </a:lnSpc>
            </a:pPr>
            <a:r>
              <a:rPr lang="en-US" sz="2600"/>
              <a:t>Pipelining – overlapping the execution of successive instructions.</a:t>
            </a:r>
          </a:p>
          <a:p>
            <a:pPr>
              <a:lnSpc>
                <a:spcPct val="90000"/>
              </a:lnSpc>
            </a:pPr>
            <a:r>
              <a:rPr lang="en-US" sz="2600"/>
              <a:t>Add R1, R2, R3</a:t>
            </a:r>
          </a:p>
          <a:p>
            <a:pPr>
              <a:lnSpc>
                <a:spcPct val="90000"/>
              </a:lnSpc>
            </a:pPr>
            <a:r>
              <a:rPr lang="en-US" sz="2600"/>
              <a:t>Superscalar operation – multiple instruction pipelines are implemented in the processor.</a:t>
            </a:r>
          </a:p>
          <a:p>
            <a:pPr>
              <a:lnSpc>
                <a:spcPct val="90000"/>
              </a:lnSpc>
            </a:pPr>
            <a:r>
              <a:rPr lang="en-US" sz="2600"/>
              <a:t>Goal – reduce S (could become &lt;1!)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 Rate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Increase clock rate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Improve the integrated-circuit (IC) technology to make the circuits faster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/>
              <a:t>Reduce the amount of processing done in one basic step (however, this may increase the number of basic steps needed)</a:t>
            </a:r>
          </a:p>
          <a:p>
            <a:pPr>
              <a:lnSpc>
                <a:spcPct val="90000"/>
              </a:lnSpc>
            </a:pPr>
            <a:r>
              <a:rPr lang="en-US"/>
              <a:t>Increases in R that are entirely caused by improvements in IC technology affect all aspects of the processor’s operation equally except the time to access the main memory.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CISC and RISC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Tradeoff between N and S</a:t>
            </a:r>
          </a:p>
          <a:p>
            <a:r>
              <a:rPr lang="en-US"/>
              <a:t>A key consideration is the use of pipelining</a:t>
            </a:r>
          </a:p>
          <a:p>
            <a:pPr>
              <a:buFont typeface="Wingdings" pitchFamily="2" charset="2"/>
              <a:buChar char="Ø"/>
            </a:pPr>
            <a:r>
              <a:rPr lang="en-US" sz="2400"/>
              <a:t>S is close to 1 even though the number of basic steps per instruction may be considerably larger</a:t>
            </a:r>
          </a:p>
          <a:p>
            <a:pPr>
              <a:buFont typeface="Wingdings" pitchFamily="2" charset="2"/>
              <a:buChar char="Ø"/>
            </a:pPr>
            <a:r>
              <a:rPr lang="en-US" sz="2400"/>
              <a:t>It is much easier to implement efficient pipelining in processor with simple instruction sets</a:t>
            </a:r>
          </a:p>
          <a:p>
            <a:r>
              <a:rPr lang="en-US"/>
              <a:t>Reduced Instruction Set Computers (RISC)</a:t>
            </a:r>
          </a:p>
          <a:p>
            <a:r>
              <a:rPr lang="en-US"/>
              <a:t>Complex Instruction Set Computers (CISC)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Compiler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/>
              <a:t>A compiler translates a high-level language program into a sequence of machine instructions.</a:t>
            </a:r>
          </a:p>
          <a:p>
            <a:r>
              <a:rPr lang="en-US" sz="2600"/>
              <a:t>To reduce N, we need a suitable machine instruction set and a compiler that makes good use of it.</a:t>
            </a:r>
          </a:p>
          <a:p>
            <a:r>
              <a:rPr lang="en-US" sz="2600"/>
              <a:t>Goal – reduce N</a:t>
            </a:r>
            <a:r>
              <a:rPr lang="en-US" sz="2600">
                <a:cs typeface="Arial" pitchFamily="34" charset="0"/>
              </a:rPr>
              <a:t>×</a:t>
            </a:r>
            <a:r>
              <a:rPr lang="en-US" sz="2600"/>
              <a:t>S</a:t>
            </a:r>
          </a:p>
          <a:p>
            <a:r>
              <a:rPr lang="en-US" sz="2600"/>
              <a:t>A compiler may not be designed for a specific processor; however, a high-quality compiler is usually designed for, and with, a specific processor.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Measurement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23955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900"/>
              <a:t>T is difficult to compute.</a:t>
            </a:r>
          </a:p>
          <a:p>
            <a:pPr>
              <a:lnSpc>
                <a:spcPct val="80000"/>
              </a:lnSpc>
            </a:pPr>
            <a:r>
              <a:rPr lang="en-US" sz="1900"/>
              <a:t>Measure computer performance using benchmark programs.</a:t>
            </a:r>
          </a:p>
          <a:p>
            <a:pPr>
              <a:lnSpc>
                <a:spcPct val="80000"/>
              </a:lnSpc>
            </a:pPr>
            <a:r>
              <a:rPr lang="en-US" sz="1900"/>
              <a:t>System Performance Evaluation Corporation (SPEC) selects and publishes representative application programs for different application domains, together with test results for many commercially available computers.</a:t>
            </a:r>
          </a:p>
          <a:p>
            <a:pPr>
              <a:lnSpc>
                <a:spcPct val="80000"/>
              </a:lnSpc>
            </a:pPr>
            <a:r>
              <a:rPr lang="en-US" sz="1900"/>
              <a:t>Compile and run (no simulation)</a:t>
            </a:r>
          </a:p>
          <a:p>
            <a:pPr>
              <a:lnSpc>
                <a:spcPct val="80000"/>
              </a:lnSpc>
            </a:pPr>
            <a:r>
              <a:rPr lang="en-US" sz="1900"/>
              <a:t>Reference computer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533400" y="4038600"/>
          <a:ext cx="8229600" cy="1827213"/>
        </p:xfrm>
        <a:graphic>
          <a:graphicData uri="http://schemas.openxmlformats.org/presentationml/2006/ole">
            <p:oleObj spid="_x0000_s47108" name="Equation" r:id="rId3" imgW="3492360" imgH="8888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Multiprocessors and Multicomputers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/>
              <a:t>Multiprocessor computer</a:t>
            </a:r>
          </a:p>
          <a:p>
            <a:pPr>
              <a:buFont typeface="Wingdings" pitchFamily="2" charset="2"/>
              <a:buChar char="Ø"/>
            </a:pPr>
            <a:r>
              <a:rPr lang="en-US" sz="2000"/>
              <a:t>Execute a number of different application tasks in parallel</a:t>
            </a:r>
          </a:p>
          <a:p>
            <a:pPr>
              <a:buFont typeface="Wingdings" pitchFamily="2" charset="2"/>
              <a:buChar char="Ø"/>
            </a:pPr>
            <a:r>
              <a:rPr lang="en-US" sz="2000"/>
              <a:t>Execute subtasks of a single large task in parallel</a:t>
            </a:r>
          </a:p>
          <a:p>
            <a:pPr>
              <a:buFont typeface="Wingdings" pitchFamily="2" charset="2"/>
              <a:buChar char="Ø"/>
            </a:pPr>
            <a:r>
              <a:rPr lang="en-US" sz="2000"/>
              <a:t>All processors have access to all of the memory – shared-memory multiprocessor</a:t>
            </a:r>
          </a:p>
          <a:p>
            <a:pPr>
              <a:buFont typeface="Wingdings" pitchFamily="2" charset="2"/>
              <a:buChar char="Ø"/>
            </a:pPr>
            <a:r>
              <a:rPr lang="en-US" sz="2000"/>
              <a:t>Cost – processors, memory units, complex interconnection networks</a:t>
            </a:r>
          </a:p>
          <a:p>
            <a:r>
              <a:rPr lang="en-US" sz="2600"/>
              <a:t>Multicomputers</a:t>
            </a:r>
          </a:p>
          <a:p>
            <a:pPr>
              <a:buFont typeface="Wingdings" pitchFamily="2" charset="2"/>
              <a:buChar char="Ø"/>
            </a:pPr>
            <a:r>
              <a:rPr lang="en-US" sz="2000"/>
              <a:t>Each computer only have access to its own memory</a:t>
            </a:r>
          </a:p>
          <a:p>
            <a:pPr>
              <a:buFont typeface="Wingdings" pitchFamily="2" charset="2"/>
              <a:buChar char="Ø"/>
            </a:pPr>
            <a:r>
              <a:rPr lang="en-US" sz="2000"/>
              <a:t>Exchange message via a communication network – message-passing multicomputers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5500">
                <a:ea typeface="SimSun" pitchFamily="2" charset="-122"/>
              </a:rPr>
              <a:t>Chapter 2. Machine Instructions and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Objectives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600">
                <a:ea typeface="SimSun" pitchFamily="2" charset="-122"/>
              </a:rPr>
              <a:t>Machine instructions and program execution, including branching and subroutine call and return operations.</a:t>
            </a:r>
          </a:p>
          <a:p>
            <a:r>
              <a:rPr lang="en-US" altLang="zh-CN" sz="2600">
                <a:ea typeface="SimSun" pitchFamily="2" charset="-122"/>
              </a:rPr>
              <a:t>Number representation and addition/subtraction in the 2’s-complement system.</a:t>
            </a:r>
          </a:p>
          <a:p>
            <a:r>
              <a:rPr lang="en-US" altLang="zh-CN" sz="2600">
                <a:ea typeface="SimSun" pitchFamily="2" charset="-122"/>
              </a:rPr>
              <a:t>Addressing methods for accessing register and memory operands.</a:t>
            </a:r>
          </a:p>
          <a:p>
            <a:r>
              <a:rPr lang="en-US" altLang="zh-CN" sz="2600">
                <a:ea typeface="SimSun" pitchFamily="2" charset="-122"/>
              </a:rPr>
              <a:t>Assembly language for representing machine instructions, data, and programs.</a:t>
            </a:r>
          </a:p>
          <a:p>
            <a:r>
              <a:rPr lang="en-US" altLang="zh-CN" sz="2600">
                <a:ea typeface="SimSun" pitchFamily="2" charset="-122"/>
              </a:rPr>
              <a:t>Program-controlled Input/Output operations.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5500">
                <a:ea typeface="SimSun" pitchFamily="2" charset="-122"/>
              </a:rPr>
              <a:t>Number, Arithmetic Operations, and Characters</a:t>
            </a:r>
          </a:p>
        </p:txBody>
      </p:sp>
      <p:sp>
        <p:nvSpPr>
          <p:cNvPr id="59395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Signed Integer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3 major representations:</a:t>
            </a:r>
          </a:p>
          <a:p>
            <a:pPr>
              <a:buFont typeface="Wingdings" pitchFamily="2" charset="2"/>
              <a:buNone/>
            </a:pPr>
            <a:r>
              <a:rPr lang="en-US" altLang="zh-CN" sz="2600">
                <a:ea typeface="SimSun" pitchFamily="2" charset="-122"/>
              </a:rPr>
              <a:t>          Sign and magnitude</a:t>
            </a:r>
          </a:p>
          <a:p>
            <a:pPr>
              <a:buFont typeface="Wingdings" pitchFamily="2" charset="2"/>
              <a:buNone/>
            </a:pPr>
            <a:r>
              <a:rPr lang="en-US" altLang="zh-CN" sz="2600">
                <a:ea typeface="SimSun" pitchFamily="2" charset="-122"/>
              </a:rPr>
              <a:t>          One’s complement</a:t>
            </a:r>
          </a:p>
          <a:p>
            <a:pPr>
              <a:buFont typeface="Wingdings" pitchFamily="2" charset="2"/>
              <a:buNone/>
            </a:pPr>
            <a:r>
              <a:rPr lang="en-US" altLang="zh-CN" sz="2600">
                <a:ea typeface="SimSun" pitchFamily="2" charset="-122"/>
              </a:rPr>
              <a:t>          Two’s complement</a:t>
            </a:r>
          </a:p>
          <a:p>
            <a:r>
              <a:rPr lang="en-US" altLang="zh-CN">
                <a:ea typeface="SimSun" pitchFamily="2" charset="-122"/>
              </a:rPr>
              <a:t>Assumptions:</a:t>
            </a:r>
          </a:p>
          <a:p>
            <a:pPr>
              <a:buFont typeface="Wingdings" pitchFamily="2" charset="2"/>
              <a:buNone/>
            </a:pPr>
            <a:r>
              <a:rPr lang="en-US" altLang="zh-CN" sz="2600">
                <a:ea typeface="SimSun" pitchFamily="2" charset="-122"/>
              </a:rPr>
              <a:t>          4-bit machine word</a:t>
            </a:r>
          </a:p>
          <a:p>
            <a:pPr>
              <a:buFont typeface="Wingdings" pitchFamily="2" charset="2"/>
              <a:buNone/>
            </a:pPr>
            <a:r>
              <a:rPr lang="en-US" altLang="zh-CN" sz="2600">
                <a:ea typeface="SimSun" pitchFamily="2" charset="-122"/>
              </a:rPr>
              <a:t>          16 different values can be represented</a:t>
            </a:r>
          </a:p>
          <a:p>
            <a:pPr>
              <a:buFont typeface="Wingdings" pitchFamily="2" charset="2"/>
              <a:buNone/>
            </a:pPr>
            <a:r>
              <a:rPr lang="en-US" altLang="zh-CN" sz="2600">
                <a:ea typeface="SimSun" pitchFamily="2" charset="-122"/>
              </a:rPr>
              <a:t>          Roughly half are positive, half are negative</a:t>
            </a:r>
          </a:p>
          <a:p>
            <a:pPr>
              <a:buFont typeface="Wingdings" pitchFamily="2" charset="2"/>
              <a:buNone/>
            </a:pPr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500">
                <a:ea typeface="SimSun" pitchFamily="2" charset="-122"/>
              </a:rPr>
              <a:t>Sign and Magnitude Representation</a:t>
            </a:r>
          </a:p>
        </p:txBody>
      </p:sp>
      <p:pic>
        <p:nvPicPr>
          <p:cNvPr id="63491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3100" y="1905000"/>
            <a:ext cx="5207000" cy="3225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1879600" y="5226050"/>
            <a:ext cx="6350000" cy="984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High order bit is sign: 0 = positive (or zero), 1 = negative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Three low order bits is the magnitude: 0 (000) thru 7 (111)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Number range for n bits = +/-2</a:t>
            </a:r>
            <a:r>
              <a:rPr kumimoji="1" lang="en-US" altLang="ko-KR" b="1" baseline="30000">
                <a:ea typeface="Gulim" pitchFamily="34" charset="-127"/>
              </a:rPr>
              <a:t>n-1</a:t>
            </a:r>
            <a:r>
              <a:rPr kumimoji="1" lang="en-US" altLang="ko-KR" b="1">
                <a:ea typeface="Gulim" pitchFamily="34" charset="-127"/>
              </a:rPr>
              <a:t>  -1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Two representations for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500">
                <a:ea typeface="SimSun" pitchFamily="2" charset="-122"/>
              </a:rPr>
              <a:t>One’s Complement Representation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51000" y="5111750"/>
            <a:ext cx="6832600" cy="1031875"/>
          </a:xfrm>
          <a:noFill/>
        </p:spPr>
        <p:txBody>
          <a:bodyPr lIns="63500" tIns="25400" rIns="63500" bIns="25400">
            <a:spAutoFit/>
          </a:bodyPr>
          <a:lstStyle/>
          <a:p>
            <a:pPr marL="228600" indent="-228600"/>
            <a:r>
              <a:rPr lang="en-US" altLang="ko-KR" sz="1900">
                <a:ea typeface="Gulim" pitchFamily="34" charset="-127"/>
              </a:rPr>
              <a:t>Subtraction implemented by addition &amp; 1's complement</a:t>
            </a:r>
          </a:p>
          <a:p>
            <a:pPr marL="228600" indent="-228600"/>
            <a:r>
              <a:rPr lang="en-US" altLang="ko-KR" sz="1900">
                <a:ea typeface="Gulim" pitchFamily="34" charset="-127"/>
              </a:rPr>
              <a:t>Still two representations of 0!  This causes some problems</a:t>
            </a:r>
          </a:p>
          <a:p>
            <a:pPr marL="228600" indent="-228600"/>
            <a:r>
              <a:rPr lang="en-US" altLang="ko-KR" sz="1900">
                <a:ea typeface="Gulim" pitchFamily="34" charset="-127"/>
              </a:rPr>
              <a:t>Some complexities in addition</a:t>
            </a:r>
          </a:p>
        </p:txBody>
      </p:sp>
      <p:pic>
        <p:nvPicPr>
          <p:cNvPr id="65540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8200" y="1676400"/>
            <a:ext cx="5473700" cy="3416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500">
                <a:ea typeface="SimSun" pitchFamily="2" charset="-122"/>
              </a:rPr>
              <a:t>Two’s Complement Representation</a:t>
            </a:r>
          </a:p>
        </p:txBody>
      </p:sp>
      <p:pic>
        <p:nvPicPr>
          <p:cNvPr id="67587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1905000"/>
            <a:ext cx="5473700" cy="3416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758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2984500" y="5511800"/>
            <a:ext cx="5461000" cy="974725"/>
          </a:xfrm>
          <a:noFill/>
        </p:spPr>
        <p:txBody>
          <a:bodyPr lIns="63500" tIns="25400" rIns="63500" bIns="25400">
            <a:spAutoFit/>
          </a:bodyPr>
          <a:lstStyle/>
          <a:p>
            <a:pPr marL="228600" indent="-228600"/>
            <a:r>
              <a:rPr lang="en-US" altLang="ko-KR" sz="1900">
                <a:ea typeface="Gulim" pitchFamily="34" charset="-127"/>
              </a:rPr>
              <a:t>Only one representation for 0</a:t>
            </a:r>
          </a:p>
          <a:p>
            <a:pPr marL="228600" indent="-228600"/>
            <a:r>
              <a:rPr lang="en-US" altLang="ko-KR" sz="1900">
                <a:ea typeface="Gulim" pitchFamily="34" charset="-127"/>
              </a:rPr>
              <a:t>One more negative number than positive number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914400" y="2921000"/>
            <a:ext cx="1663700" cy="984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 i="1">
                <a:ea typeface="Gulim" pitchFamily="34" charset="-127"/>
              </a:rPr>
              <a:t>like 1's comp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 i="1">
                <a:ea typeface="Gulim" pitchFamily="34" charset="-127"/>
              </a:rPr>
              <a:t>except shifted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 i="1">
                <a:ea typeface="Gulim" pitchFamily="34" charset="-127"/>
              </a:rPr>
              <a:t>one position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 i="1">
                <a:ea typeface="Gulim" pitchFamily="34" charset="-127"/>
              </a:rPr>
              <a:t>clockwise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Binary, Signed-Integer Representations</a:t>
            </a:r>
          </a:p>
        </p:txBody>
      </p:sp>
      <p:sp>
        <p:nvSpPr>
          <p:cNvPr id="69635" name="Rectangle 5"/>
          <p:cNvSpPr>
            <a:spLocks noChangeArrowheads="1"/>
          </p:cNvSpPr>
          <p:nvPr/>
        </p:nvSpPr>
        <p:spPr bwMode="auto">
          <a:xfrm>
            <a:off x="1958975" y="2565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36" name="Rectangle 6"/>
          <p:cNvSpPr>
            <a:spLocks noChangeArrowheads="1"/>
          </p:cNvSpPr>
          <p:nvPr/>
        </p:nvSpPr>
        <p:spPr bwMode="auto">
          <a:xfrm>
            <a:off x="1958975" y="2787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37" name="Rectangle 7"/>
          <p:cNvSpPr>
            <a:spLocks noChangeArrowheads="1"/>
          </p:cNvSpPr>
          <p:nvPr/>
        </p:nvSpPr>
        <p:spPr bwMode="auto">
          <a:xfrm>
            <a:off x="1958975" y="30099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38" name="Rectangle 8"/>
          <p:cNvSpPr>
            <a:spLocks noChangeArrowheads="1"/>
          </p:cNvSpPr>
          <p:nvPr/>
        </p:nvSpPr>
        <p:spPr bwMode="auto">
          <a:xfrm>
            <a:off x="1958975" y="32321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39" name="Rectangle 9"/>
          <p:cNvSpPr>
            <a:spLocks noChangeArrowheads="1"/>
          </p:cNvSpPr>
          <p:nvPr/>
        </p:nvSpPr>
        <p:spPr bwMode="auto">
          <a:xfrm>
            <a:off x="1958975" y="3454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0" name="Rectangle 10"/>
          <p:cNvSpPr>
            <a:spLocks noChangeArrowheads="1"/>
          </p:cNvSpPr>
          <p:nvPr/>
        </p:nvSpPr>
        <p:spPr bwMode="auto">
          <a:xfrm>
            <a:off x="1958975" y="3676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1" name="Rectangle 11"/>
          <p:cNvSpPr>
            <a:spLocks noChangeArrowheads="1"/>
          </p:cNvSpPr>
          <p:nvPr/>
        </p:nvSpPr>
        <p:spPr bwMode="auto">
          <a:xfrm>
            <a:off x="1958975" y="3900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2" name="Rectangle 12"/>
          <p:cNvSpPr>
            <a:spLocks noChangeArrowheads="1"/>
          </p:cNvSpPr>
          <p:nvPr/>
        </p:nvSpPr>
        <p:spPr bwMode="auto">
          <a:xfrm>
            <a:off x="1958975" y="4122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3" name="Rectangle 13"/>
          <p:cNvSpPr>
            <a:spLocks noChangeArrowheads="1"/>
          </p:cNvSpPr>
          <p:nvPr/>
        </p:nvSpPr>
        <p:spPr bwMode="auto">
          <a:xfrm>
            <a:off x="1958975" y="4344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4" name="Rectangle 14"/>
          <p:cNvSpPr>
            <a:spLocks noChangeArrowheads="1"/>
          </p:cNvSpPr>
          <p:nvPr/>
        </p:nvSpPr>
        <p:spPr bwMode="auto">
          <a:xfrm>
            <a:off x="1958975" y="4567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5" name="Rectangle 15"/>
          <p:cNvSpPr>
            <a:spLocks noChangeArrowheads="1"/>
          </p:cNvSpPr>
          <p:nvPr/>
        </p:nvSpPr>
        <p:spPr bwMode="auto">
          <a:xfrm>
            <a:off x="1958975" y="4789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6" name="Rectangle 16"/>
          <p:cNvSpPr>
            <a:spLocks noChangeArrowheads="1"/>
          </p:cNvSpPr>
          <p:nvPr/>
        </p:nvSpPr>
        <p:spPr bwMode="auto">
          <a:xfrm>
            <a:off x="1958975" y="5011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7" name="Rectangle 17"/>
          <p:cNvSpPr>
            <a:spLocks noChangeArrowheads="1"/>
          </p:cNvSpPr>
          <p:nvPr/>
        </p:nvSpPr>
        <p:spPr bwMode="auto">
          <a:xfrm>
            <a:off x="1958975" y="5233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8" name="Rectangle 18"/>
          <p:cNvSpPr>
            <a:spLocks noChangeArrowheads="1"/>
          </p:cNvSpPr>
          <p:nvPr/>
        </p:nvSpPr>
        <p:spPr bwMode="auto">
          <a:xfrm>
            <a:off x="1958975" y="5456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49" name="Rectangle 19"/>
          <p:cNvSpPr>
            <a:spLocks noChangeArrowheads="1"/>
          </p:cNvSpPr>
          <p:nvPr/>
        </p:nvSpPr>
        <p:spPr bwMode="auto">
          <a:xfrm>
            <a:off x="1958975" y="5678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0" name="Rectangle 20"/>
          <p:cNvSpPr>
            <a:spLocks noChangeArrowheads="1"/>
          </p:cNvSpPr>
          <p:nvPr/>
        </p:nvSpPr>
        <p:spPr bwMode="auto">
          <a:xfrm>
            <a:off x="1958975" y="5900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1" name="Rectangle 21"/>
          <p:cNvSpPr>
            <a:spLocks noChangeArrowheads="1"/>
          </p:cNvSpPr>
          <p:nvPr/>
        </p:nvSpPr>
        <p:spPr bwMode="auto">
          <a:xfrm>
            <a:off x="2141538" y="3454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2" name="Rectangle 22"/>
          <p:cNvSpPr>
            <a:spLocks noChangeArrowheads="1"/>
          </p:cNvSpPr>
          <p:nvPr/>
        </p:nvSpPr>
        <p:spPr bwMode="auto">
          <a:xfrm>
            <a:off x="2141538" y="3676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3" name="Rectangle 23"/>
          <p:cNvSpPr>
            <a:spLocks noChangeArrowheads="1"/>
          </p:cNvSpPr>
          <p:nvPr/>
        </p:nvSpPr>
        <p:spPr bwMode="auto">
          <a:xfrm>
            <a:off x="2141538" y="3900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4" name="Rectangle 24"/>
          <p:cNvSpPr>
            <a:spLocks noChangeArrowheads="1"/>
          </p:cNvSpPr>
          <p:nvPr/>
        </p:nvSpPr>
        <p:spPr bwMode="auto">
          <a:xfrm>
            <a:off x="2141538" y="4122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5" name="Rectangle 25"/>
          <p:cNvSpPr>
            <a:spLocks noChangeArrowheads="1"/>
          </p:cNvSpPr>
          <p:nvPr/>
        </p:nvSpPr>
        <p:spPr bwMode="auto">
          <a:xfrm>
            <a:off x="2141538" y="4344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6" name="Rectangle 26"/>
          <p:cNvSpPr>
            <a:spLocks noChangeArrowheads="1"/>
          </p:cNvSpPr>
          <p:nvPr/>
        </p:nvSpPr>
        <p:spPr bwMode="auto">
          <a:xfrm>
            <a:off x="2141538" y="4567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7" name="Rectangle 27"/>
          <p:cNvSpPr>
            <a:spLocks noChangeArrowheads="1"/>
          </p:cNvSpPr>
          <p:nvPr/>
        </p:nvSpPr>
        <p:spPr bwMode="auto">
          <a:xfrm>
            <a:off x="2141538" y="4789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8" name="Rectangle 28"/>
          <p:cNvSpPr>
            <a:spLocks noChangeArrowheads="1"/>
          </p:cNvSpPr>
          <p:nvPr/>
        </p:nvSpPr>
        <p:spPr bwMode="auto">
          <a:xfrm>
            <a:off x="2141538" y="5011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59" name="Rectangle 29"/>
          <p:cNvSpPr>
            <a:spLocks noChangeArrowheads="1"/>
          </p:cNvSpPr>
          <p:nvPr/>
        </p:nvSpPr>
        <p:spPr bwMode="auto">
          <a:xfrm>
            <a:off x="2141538" y="2565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0" name="Rectangle 30"/>
          <p:cNvSpPr>
            <a:spLocks noChangeArrowheads="1"/>
          </p:cNvSpPr>
          <p:nvPr/>
        </p:nvSpPr>
        <p:spPr bwMode="auto">
          <a:xfrm>
            <a:off x="2141538" y="2787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1" name="Rectangle 31"/>
          <p:cNvSpPr>
            <a:spLocks noChangeArrowheads="1"/>
          </p:cNvSpPr>
          <p:nvPr/>
        </p:nvSpPr>
        <p:spPr bwMode="auto">
          <a:xfrm>
            <a:off x="2141538" y="30099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2" name="Rectangle 32"/>
          <p:cNvSpPr>
            <a:spLocks noChangeArrowheads="1"/>
          </p:cNvSpPr>
          <p:nvPr/>
        </p:nvSpPr>
        <p:spPr bwMode="auto">
          <a:xfrm>
            <a:off x="2141538" y="32321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3" name="Rectangle 33"/>
          <p:cNvSpPr>
            <a:spLocks noChangeArrowheads="1"/>
          </p:cNvSpPr>
          <p:nvPr/>
        </p:nvSpPr>
        <p:spPr bwMode="auto">
          <a:xfrm>
            <a:off x="2141538" y="5233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4" name="Rectangle 34"/>
          <p:cNvSpPr>
            <a:spLocks noChangeArrowheads="1"/>
          </p:cNvSpPr>
          <p:nvPr/>
        </p:nvSpPr>
        <p:spPr bwMode="auto">
          <a:xfrm>
            <a:off x="2141538" y="5456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5" name="Rectangle 35"/>
          <p:cNvSpPr>
            <a:spLocks noChangeArrowheads="1"/>
          </p:cNvSpPr>
          <p:nvPr/>
        </p:nvSpPr>
        <p:spPr bwMode="auto">
          <a:xfrm>
            <a:off x="2141538" y="5678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6" name="Rectangle 36"/>
          <p:cNvSpPr>
            <a:spLocks noChangeArrowheads="1"/>
          </p:cNvSpPr>
          <p:nvPr/>
        </p:nvSpPr>
        <p:spPr bwMode="auto">
          <a:xfrm>
            <a:off x="2141538" y="5900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7" name="Rectangle 37"/>
          <p:cNvSpPr>
            <a:spLocks noChangeArrowheads="1"/>
          </p:cNvSpPr>
          <p:nvPr/>
        </p:nvSpPr>
        <p:spPr bwMode="auto">
          <a:xfrm>
            <a:off x="2322513" y="2565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8" name="Rectangle 38"/>
          <p:cNvSpPr>
            <a:spLocks noChangeArrowheads="1"/>
          </p:cNvSpPr>
          <p:nvPr/>
        </p:nvSpPr>
        <p:spPr bwMode="auto">
          <a:xfrm>
            <a:off x="2322513" y="2787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69" name="Rectangle 39"/>
          <p:cNvSpPr>
            <a:spLocks noChangeArrowheads="1"/>
          </p:cNvSpPr>
          <p:nvPr/>
        </p:nvSpPr>
        <p:spPr bwMode="auto">
          <a:xfrm>
            <a:off x="2322513" y="30099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0" name="Rectangle 40"/>
          <p:cNvSpPr>
            <a:spLocks noChangeArrowheads="1"/>
          </p:cNvSpPr>
          <p:nvPr/>
        </p:nvSpPr>
        <p:spPr bwMode="auto">
          <a:xfrm>
            <a:off x="2322513" y="32321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1" name="Rectangle 41"/>
          <p:cNvSpPr>
            <a:spLocks noChangeArrowheads="1"/>
          </p:cNvSpPr>
          <p:nvPr/>
        </p:nvSpPr>
        <p:spPr bwMode="auto">
          <a:xfrm>
            <a:off x="2322513" y="3454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2" name="Rectangle 42"/>
          <p:cNvSpPr>
            <a:spLocks noChangeArrowheads="1"/>
          </p:cNvSpPr>
          <p:nvPr/>
        </p:nvSpPr>
        <p:spPr bwMode="auto">
          <a:xfrm>
            <a:off x="2322513" y="3676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3" name="Rectangle 43"/>
          <p:cNvSpPr>
            <a:spLocks noChangeArrowheads="1"/>
          </p:cNvSpPr>
          <p:nvPr/>
        </p:nvSpPr>
        <p:spPr bwMode="auto">
          <a:xfrm>
            <a:off x="2322513" y="3900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4" name="Rectangle 44"/>
          <p:cNvSpPr>
            <a:spLocks noChangeArrowheads="1"/>
          </p:cNvSpPr>
          <p:nvPr/>
        </p:nvSpPr>
        <p:spPr bwMode="auto">
          <a:xfrm>
            <a:off x="2322513" y="4122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5" name="Rectangle 45"/>
          <p:cNvSpPr>
            <a:spLocks noChangeArrowheads="1"/>
          </p:cNvSpPr>
          <p:nvPr/>
        </p:nvSpPr>
        <p:spPr bwMode="auto">
          <a:xfrm>
            <a:off x="2322513" y="4344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6" name="Rectangle 46"/>
          <p:cNvSpPr>
            <a:spLocks noChangeArrowheads="1"/>
          </p:cNvSpPr>
          <p:nvPr/>
        </p:nvSpPr>
        <p:spPr bwMode="auto">
          <a:xfrm>
            <a:off x="2322513" y="4567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7" name="Rectangle 47"/>
          <p:cNvSpPr>
            <a:spLocks noChangeArrowheads="1"/>
          </p:cNvSpPr>
          <p:nvPr/>
        </p:nvSpPr>
        <p:spPr bwMode="auto">
          <a:xfrm>
            <a:off x="2322513" y="4789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8" name="Rectangle 48"/>
          <p:cNvSpPr>
            <a:spLocks noChangeArrowheads="1"/>
          </p:cNvSpPr>
          <p:nvPr/>
        </p:nvSpPr>
        <p:spPr bwMode="auto">
          <a:xfrm>
            <a:off x="2322513" y="5011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79" name="Rectangle 49"/>
          <p:cNvSpPr>
            <a:spLocks noChangeArrowheads="1"/>
          </p:cNvSpPr>
          <p:nvPr/>
        </p:nvSpPr>
        <p:spPr bwMode="auto">
          <a:xfrm>
            <a:off x="2322513" y="5233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0" name="Rectangle 50"/>
          <p:cNvSpPr>
            <a:spLocks noChangeArrowheads="1"/>
          </p:cNvSpPr>
          <p:nvPr/>
        </p:nvSpPr>
        <p:spPr bwMode="auto">
          <a:xfrm>
            <a:off x="2322513" y="5456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1" name="Rectangle 51"/>
          <p:cNvSpPr>
            <a:spLocks noChangeArrowheads="1"/>
          </p:cNvSpPr>
          <p:nvPr/>
        </p:nvSpPr>
        <p:spPr bwMode="auto">
          <a:xfrm>
            <a:off x="2322513" y="5678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2" name="Rectangle 52"/>
          <p:cNvSpPr>
            <a:spLocks noChangeArrowheads="1"/>
          </p:cNvSpPr>
          <p:nvPr/>
        </p:nvSpPr>
        <p:spPr bwMode="auto">
          <a:xfrm>
            <a:off x="2322513" y="5900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3" name="Rectangle 53"/>
          <p:cNvSpPr>
            <a:spLocks noChangeArrowheads="1"/>
          </p:cNvSpPr>
          <p:nvPr/>
        </p:nvSpPr>
        <p:spPr bwMode="auto">
          <a:xfrm>
            <a:off x="2505075" y="2565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4" name="Rectangle 54"/>
          <p:cNvSpPr>
            <a:spLocks noChangeArrowheads="1"/>
          </p:cNvSpPr>
          <p:nvPr/>
        </p:nvSpPr>
        <p:spPr bwMode="auto">
          <a:xfrm>
            <a:off x="2505075" y="2787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5" name="Rectangle 55"/>
          <p:cNvSpPr>
            <a:spLocks noChangeArrowheads="1"/>
          </p:cNvSpPr>
          <p:nvPr/>
        </p:nvSpPr>
        <p:spPr bwMode="auto">
          <a:xfrm>
            <a:off x="2505075" y="30099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6" name="Rectangle 56"/>
          <p:cNvSpPr>
            <a:spLocks noChangeArrowheads="1"/>
          </p:cNvSpPr>
          <p:nvPr/>
        </p:nvSpPr>
        <p:spPr bwMode="auto">
          <a:xfrm>
            <a:off x="2505075" y="32321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7" name="Rectangle 57"/>
          <p:cNvSpPr>
            <a:spLocks noChangeArrowheads="1"/>
          </p:cNvSpPr>
          <p:nvPr/>
        </p:nvSpPr>
        <p:spPr bwMode="auto">
          <a:xfrm>
            <a:off x="2505075" y="34544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8" name="Rectangle 58"/>
          <p:cNvSpPr>
            <a:spLocks noChangeArrowheads="1"/>
          </p:cNvSpPr>
          <p:nvPr/>
        </p:nvSpPr>
        <p:spPr bwMode="auto">
          <a:xfrm>
            <a:off x="2505075" y="36766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89" name="Rectangle 59"/>
          <p:cNvSpPr>
            <a:spLocks noChangeArrowheads="1"/>
          </p:cNvSpPr>
          <p:nvPr/>
        </p:nvSpPr>
        <p:spPr bwMode="auto">
          <a:xfrm>
            <a:off x="2505075" y="3900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0" name="Rectangle 60"/>
          <p:cNvSpPr>
            <a:spLocks noChangeArrowheads="1"/>
          </p:cNvSpPr>
          <p:nvPr/>
        </p:nvSpPr>
        <p:spPr bwMode="auto">
          <a:xfrm>
            <a:off x="2505075" y="4122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1" name="Rectangle 61"/>
          <p:cNvSpPr>
            <a:spLocks noChangeArrowheads="1"/>
          </p:cNvSpPr>
          <p:nvPr/>
        </p:nvSpPr>
        <p:spPr bwMode="auto">
          <a:xfrm>
            <a:off x="2505075" y="4344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2" name="Rectangle 62"/>
          <p:cNvSpPr>
            <a:spLocks noChangeArrowheads="1"/>
          </p:cNvSpPr>
          <p:nvPr/>
        </p:nvSpPr>
        <p:spPr bwMode="auto">
          <a:xfrm>
            <a:off x="2505075" y="4567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3" name="Rectangle 63"/>
          <p:cNvSpPr>
            <a:spLocks noChangeArrowheads="1"/>
          </p:cNvSpPr>
          <p:nvPr/>
        </p:nvSpPr>
        <p:spPr bwMode="auto">
          <a:xfrm>
            <a:off x="2505075" y="4789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4" name="Rectangle 64"/>
          <p:cNvSpPr>
            <a:spLocks noChangeArrowheads="1"/>
          </p:cNvSpPr>
          <p:nvPr/>
        </p:nvSpPr>
        <p:spPr bwMode="auto">
          <a:xfrm>
            <a:off x="2505075" y="5011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5" name="Rectangle 65"/>
          <p:cNvSpPr>
            <a:spLocks noChangeArrowheads="1"/>
          </p:cNvSpPr>
          <p:nvPr/>
        </p:nvSpPr>
        <p:spPr bwMode="auto">
          <a:xfrm>
            <a:off x="2505075" y="52339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6" name="Rectangle 66"/>
          <p:cNvSpPr>
            <a:spLocks noChangeArrowheads="1"/>
          </p:cNvSpPr>
          <p:nvPr/>
        </p:nvSpPr>
        <p:spPr bwMode="auto">
          <a:xfrm>
            <a:off x="2505075" y="5456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7" name="Rectangle 67"/>
          <p:cNvSpPr>
            <a:spLocks noChangeArrowheads="1"/>
          </p:cNvSpPr>
          <p:nvPr/>
        </p:nvSpPr>
        <p:spPr bwMode="auto">
          <a:xfrm>
            <a:off x="2505075" y="56784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8" name="Rectangle 68"/>
          <p:cNvSpPr>
            <a:spLocks noChangeArrowheads="1"/>
          </p:cNvSpPr>
          <p:nvPr/>
        </p:nvSpPr>
        <p:spPr bwMode="auto">
          <a:xfrm>
            <a:off x="2505075" y="59007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699" name="Rectangle 69"/>
          <p:cNvSpPr>
            <a:spLocks noChangeArrowheads="1"/>
          </p:cNvSpPr>
          <p:nvPr/>
        </p:nvSpPr>
        <p:spPr bwMode="auto">
          <a:xfrm>
            <a:off x="3597275" y="3879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0" name="Rectangle 70"/>
          <p:cNvSpPr>
            <a:spLocks noChangeArrowheads="1"/>
          </p:cNvSpPr>
          <p:nvPr/>
        </p:nvSpPr>
        <p:spPr bwMode="auto">
          <a:xfrm>
            <a:off x="3435350" y="3879850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1" name="Rectangle 71"/>
          <p:cNvSpPr>
            <a:spLocks noChangeArrowheads="1"/>
          </p:cNvSpPr>
          <p:nvPr/>
        </p:nvSpPr>
        <p:spPr bwMode="auto">
          <a:xfrm>
            <a:off x="3597275" y="4546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2" name="Rectangle 72"/>
          <p:cNvSpPr>
            <a:spLocks noChangeArrowheads="1"/>
          </p:cNvSpPr>
          <p:nvPr/>
        </p:nvSpPr>
        <p:spPr bwMode="auto">
          <a:xfrm>
            <a:off x="3454400" y="45466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3" name="Rectangle 73"/>
          <p:cNvSpPr>
            <a:spLocks noChangeArrowheads="1"/>
          </p:cNvSpPr>
          <p:nvPr/>
        </p:nvSpPr>
        <p:spPr bwMode="auto">
          <a:xfrm>
            <a:off x="3597275" y="3657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4" name="Rectangle 74"/>
          <p:cNvSpPr>
            <a:spLocks noChangeArrowheads="1"/>
          </p:cNvSpPr>
          <p:nvPr/>
        </p:nvSpPr>
        <p:spPr bwMode="auto">
          <a:xfrm>
            <a:off x="3435350" y="3657600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5" name="Rectangle 75"/>
          <p:cNvSpPr>
            <a:spLocks noChangeArrowheads="1"/>
          </p:cNvSpPr>
          <p:nvPr/>
        </p:nvSpPr>
        <p:spPr bwMode="auto">
          <a:xfrm>
            <a:off x="3597275" y="3435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6" name="Rectangle 76"/>
          <p:cNvSpPr>
            <a:spLocks noChangeArrowheads="1"/>
          </p:cNvSpPr>
          <p:nvPr/>
        </p:nvSpPr>
        <p:spPr bwMode="auto">
          <a:xfrm>
            <a:off x="3435350" y="3435350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7" name="Rectangle 77"/>
          <p:cNvSpPr>
            <a:spLocks noChangeArrowheads="1"/>
          </p:cNvSpPr>
          <p:nvPr/>
        </p:nvSpPr>
        <p:spPr bwMode="auto">
          <a:xfrm>
            <a:off x="3597275" y="3213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8" name="Rectangle 78"/>
          <p:cNvSpPr>
            <a:spLocks noChangeArrowheads="1"/>
          </p:cNvSpPr>
          <p:nvPr/>
        </p:nvSpPr>
        <p:spPr bwMode="auto">
          <a:xfrm>
            <a:off x="3435350" y="3213100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09" name="Rectangle 79"/>
          <p:cNvSpPr>
            <a:spLocks noChangeArrowheads="1"/>
          </p:cNvSpPr>
          <p:nvPr/>
        </p:nvSpPr>
        <p:spPr bwMode="auto">
          <a:xfrm>
            <a:off x="3597275" y="2990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0" name="Rectangle 80"/>
          <p:cNvSpPr>
            <a:spLocks noChangeArrowheads="1"/>
          </p:cNvSpPr>
          <p:nvPr/>
        </p:nvSpPr>
        <p:spPr bwMode="auto">
          <a:xfrm>
            <a:off x="3435350" y="2990850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1" name="Rectangle 81"/>
          <p:cNvSpPr>
            <a:spLocks noChangeArrowheads="1"/>
          </p:cNvSpPr>
          <p:nvPr/>
        </p:nvSpPr>
        <p:spPr bwMode="auto">
          <a:xfrm>
            <a:off x="3597275" y="2768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2" name="Rectangle 82"/>
          <p:cNvSpPr>
            <a:spLocks noChangeArrowheads="1"/>
          </p:cNvSpPr>
          <p:nvPr/>
        </p:nvSpPr>
        <p:spPr bwMode="auto">
          <a:xfrm>
            <a:off x="3435350" y="2768600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3" name="Rectangle 83"/>
          <p:cNvSpPr>
            <a:spLocks noChangeArrowheads="1"/>
          </p:cNvSpPr>
          <p:nvPr/>
        </p:nvSpPr>
        <p:spPr bwMode="auto">
          <a:xfrm>
            <a:off x="3597275" y="254476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4" name="Rectangle 84"/>
          <p:cNvSpPr>
            <a:spLocks noChangeArrowheads="1"/>
          </p:cNvSpPr>
          <p:nvPr/>
        </p:nvSpPr>
        <p:spPr bwMode="auto">
          <a:xfrm>
            <a:off x="3435350" y="2544763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5" name="Rectangle 85"/>
          <p:cNvSpPr>
            <a:spLocks noChangeArrowheads="1"/>
          </p:cNvSpPr>
          <p:nvPr/>
        </p:nvSpPr>
        <p:spPr bwMode="auto">
          <a:xfrm>
            <a:off x="3597275" y="4768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6" name="Rectangle 86"/>
          <p:cNvSpPr>
            <a:spLocks noChangeArrowheads="1"/>
          </p:cNvSpPr>
          <p:nvPr/>
        </p:nvSpPr>
        <p:spPr bwMode="auto">
          <a:xfrm>
            <a:off x="3454400" y="47688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7" name="Rectangle 87"/>
          <p:cNvSpPr>
            <a:spLocks noChangeArrowheads="1"/>
          </p:cNvSpPr>
          <p:nvPr/>
        </p:nvSpPr>
        <p:spPr bwMode="auto">
          <a:xfrm>
            <a:off x="3597275" y="4991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8" name="Rectangle 88"/>
          <p:cNvSpPr>
            <a:spLocks noChangeArrowheads="1"/>
          </p:cNvSpPr>
          <p:nvPr/>
        </p:nvSpPr>
        <p:spPr bwMode="auto">
          <a:xfrm>
            <a:off x="3454400" y="49911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19" name="Rectangle 89"/>
          <p:cNvSpPr>
            <a:spLocks noChangeArrowheads="1"/>
          </p:cNvSpPr>
          <p:nvPr/>
        </p:nvSpPr>
        <p:spPr bwMode="auto">
          <a:xfrm>
            <a:off x="3597275" y="5213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0" name="Rectangle 90"/>
          <p:cNvSpPr>
            <a:spLocks noChangeArrowheads="1"/>
          </p:cNvSpPr>
          <p:nvPr/>
        </p:nvSpPr>
        <p:spPr bwMode="auto">
          <a:xfrm>
            <a:off x="3454400" y="52133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1" name="Rectangle 91"/>
          <p:cNvSpPr>
            <a:spLocks noChangeArrowheads="1"/>
          </p:cNvSpPr>
          <p:nvPr/>
        </p:nvSpPr>
        <p:spPr bwMode="auto">
          <a:xfrm>
            <a:off x="3597275" y="5435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2" name="Rectangle 92"/>
          <p:cNvSpPr>
            <a:spLocks noChangeArrowheads="1"/>
          </p:cNvSpPr>
          <p:nvPr/>
        </p:nvSpPr>
        <p:spPr bwMode="auto">
          <a:xfrm>
            <a:off x="3454400" y="54356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3" name="Rectangle 93"/>
          <p:cNvSpPr>
            <a:spLocks noChangeArrowheads="1"/>
          </p:cNvSpPr>
          <p:nvPr/>
        </p:nvSpPr>
        <p:spPr bwMode="auto">
          <a:xfrm>
            <a:off x="3597275" y="5657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4" name="Rectangle 94"/>
          <p:cNvSpPr>
            <a:spLocks noChangeArrowheads="1"/>
          </p:cNvSpPr>
          <p:nvPr/>
        </p:nvSpPr>
        <p:spPr bwMode="auto">
          <a:xfrm>
            <a:off x="3454400" y="56578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5" name="Rectangle 95"/>
          <p:cNvSpPr>
            <a:spLocks noChangeArrowheads="1"/>
          </p:cNvSpPr>
          <p:nvPr/>
        </p:nvSpPr>
        <p:spPr bwMode="auto">
          <a:xfrm>
            <a:off x="3576638" y="5880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6" name="Rectangle 96"/>
          <p:cNvSpPr>
            <a:spLocks noChangeArrowheads="1"/>
          </p:cNvSpPr>
          <p:nvPr/>
        </p:nvSpPr>
        <p:spPr bwMode="auto">
          <a:xfrm>
            <a:off x="3435350" y="58801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7" name="Rectangle 97"/>
          <p:cNvSpPr>
            <a:spLocks noChangeArrowheads="1"/>
          </p:cNvSpPr>
          <p:nvPr/>
        </p:nvSpPr>
        <p:spPr bwMode="auto">
          <a:xfrm>
            <a:off x="6710363" y="4324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8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8" name="Rectangle 98"/>
          <p:cNvSpPr>
            <a:spLocks noChangeArrowheads="1"/>
          </p:cNvSpPr>
          <p:nvPr/>
        </p:nvSpPr>
        <p:spPr bwMode="auto">
          <a:xfrm>
            <a:off x="6567488" y="432435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29" name="Rectangle 99"/>
          <p:cNvSpPr>
            <a:spLocks noChangeArrowheads="1"/>
          </p:cNvSpPr>
          <p:nvPr/>
        </p:nvSpPr>
        <p:spPr bwMode="auto">
          <a:xfrm>
            <a:off x="3597275" y="4102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0" name="Rectangle 100"/>
          <p:cNvSpPr>
            <a:spLocks noChangeArrowheads="1"/>
          </p:cNvSpPr>
          <p:nvPr/>
        </p:nvSpPr>
        <p:spPr bwMode="auto">
          <a:xfrm>
            <a:off x="3435350" y="4102100"/>
            <a:ext cx="103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1" name="Rectangle 101"/>
          <p:cNvSpPr>
            <a:spLocks noChangeArrowheads="1"/>
          </p:cNvSpPr>
          <p:nvPr/>
        </p:nvSpPr>
        <p:spPr bwMode="auto">
          <a:xfrm>
            <a:off x="3597275" y="4324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2" name="Rectangle 102"/>
          <p:cNvSpPr>
            <a:spLocks noChangeArrowheads="1"/>
          </p:cNvSpPr>
          <p:nvPr/>
        </p:nvSpPr>
        <p:spPr bwMode="auto">
          <a:xfrm>
            <a:off x="3454400" y="43243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3" name="Rectangle 103"/>
          <p:cNvSpPr>
            <a:spLocks noChangeArrowheads="1"/>
          </p:cNvSpPr>
          <p:nvPr/>
        </p:nvSpPr>
        <p:spPr bwMode="auto">
          <a:xfrm>
            <a:off x="5072063" y="3879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4" name="Rectangle 104"/>
          <p:cNvSpPr>
            <a:spLocks noChangeArrowheads="1"/>
          </p:cNvSpPr>
          <p:nvPr/>
        </p:nvSpPr>
        <p:spPr bwMode="auto">
          <a:xfrm>
            <a:off x="4910138" y="38798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5" name="Rectangle 105"/>
          <p:cNvSpPr>
            <a:spLocks noChangeArrowheads="1"/>
          </p:cNvSpPr>
          <p:nvPr/>
        </p:nvSpPr>
        <p:spPr bwMode="auto">
          <a:xfrm>
            <a:off x="5051425" y="3657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6" name="Rectangle 106"/>
          <p:cNvSpPr>
            <a:spLocks noChangeArrowheads="1"/>
          </p:cNvSpPr>
          <p:nvPr/>
        </p:nvSpPr>
        <p:spPr bwMode="auto">
          <a:xfrm>
            <a:off x="4910138" y="36576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7" name="Rectangle 107"/>
          <p:cNvSpPr>
            <a:spLocks noChangeArrowheads="1"/>
          </p:cNvSpPr>
          <p:nvPr/>
        </p:nvSpPr>
        <p:spPr bwMode="auto">
          <a:xfrm>
            <a:off x="5051425" y="3435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8" name="Rectangle 108"/>
          <p:cNvSpPr>
            <a:spLocks noChangeArrowheads="1"/>
          </p:cNvSpPr>
          <p:nvPr/>
        </p:nvSpPr>
        <p:spPr bwMode="auto">
          <a:xfrm>
            <a:off x="4910138" y="34353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39" name="Rectangle 109"/>
          <p:cNvSpPr>
            <a:spLocks noChangeArrowheads="1"/>
          </p:cNvSpPr>
          <p:nvPr/>
        </p:nvSpPr>
        <p:spPr bwMode="auto">
          <a:xfrm>
            <a:off x="5051425" y="3213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0" name="Rectangle 110"/>
          <p:cNvSpPr>
            <a:spLocks noChangeArrowheads="1"/>
          </p:cNvSpPr>
          <p:nvPr/>
        </p:nvSpPr>
        <p:spPr bwMode="auto">
          <a:xfrm>
            <a:off x="4910138" y="32131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1" name="Rectangle 111"/>
          <p:cNvSpPr>
            <a:spLocks noChangeArrowheads="1"/>
          </p:cNvSpPr>
          <p:nvPr/>
        </p:nvSpPr>
        <p:spPr bwMode="auto">
          <a:xfrm>
            <a:off x="5051425" y="2990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2" name="Rectangle 112"/>
          <p:cNvSpPr>
            <a:spLocks noChangeArrowheads="1"/>
          </p:cNvSpPr>
          <p:nvPr/>
        </p:nvSpPr>
        <p:spPr bwMode="auto">
          <a:xfrm>
            <a:off x="4910138" y="29908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3" name="Rectangle 113"/>
          <p:cNvSpPr>
            <a:spLocks noChangeArrowheads="1"/>
          </p:cNvSpPr>
          <p:nvPr/>
        </p:nvSpPr>
        <p:spPr bwMode="auto">
          <a:xfrm>
            <a:off x="5051425" y="2768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4" name="Rectangle 114"/>
          <p:cNvSpPr>
            <a:spLocks noChangeArrowheads="1"/>
          </p:cNvSpPr>
          <p:nvPr/>
        </p:nvSpPr>
        <p:spPr bwMode="auto">
          <a:xfrm>
            <a:off x="4910138" y="27686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5" name="Rectangle 115"/>
          <p:cNvSpPr>
            <a:spLocks noChangeArrowheads="1"/>
          </p:cNvSpPr>
          <p:nvPr/>
        </p:nvSpPr>
        <p:spPr bwMode="auto">
          <a:xfrm>
            <a:off x="5051425" y="254476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6" name="Rectangle 116"/>
          <p:cNvSpPr>
            <a:spLocks noChangeArrowheads="1"/>
          </p:cNvSpPr>
          <p:nvPr/>
        </p:nvSpPr>
        <p:spPr bwMode="auto">
          <a:xfrm>
            <a:off x="4910138" y="2544763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7" name="Rectangle 117"/>
          <p:cNvSpPr>
            <a:spLocks noChangeArrowheads="1"/>
          </p:cNvSpPr>
          <p:nvPr/>
        </p:nvSpPr>
        <p:spPr bwMode="auto">
          <a:xfrm>
            <a:off x="5051425" y="4102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8" name="Rectangle 118"/>
          <p:cNvSpPr>
            <a:spLocks noChangeArrowheads="1"/>
          </p:cNvSpPr>
          <p:nvPr/>
        </p:nvSpPr>
        <p:spPr bwMode="auto">
          <a:xfrm>
            <a:off x="4910138" y="41021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49" name="Rectangle 119"/>
          <p:cNvSpPr>
            <a:spLocks noChangeArrowheads="1"/>
          </p:cNvSpPr>
          <p:nvPr/>
        </p:nvSpPr>
        <p:spPr bwMode="auto">
          <a:xfrm>
            <a:off x="5051425" y="4324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0" name="Rectangle 120"/>
          <p:cNvSpPr>
            <a:spLocks noChangeArrowheads="1"/>
          </p:cNvSpPr>
          <p:nvPr/>
        </p:nvSpPr>
        <p:spPr bwMode="auto">
          <a:xfrm>
            <a:off x="4930775" y="43243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1" name="Rectangle 121"/>
          <p:cNvSpPr>
            <a:spLocks noChangeArrowheads="1"/>
          </p:cNvSpPr>
          <p:nvPr/>
        </p:nvSpPr>
        <p:spPr bwMode="auto">
          <a:xfrm>
            <a:off x="5051425" y="4546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2" name="Rectangle 122"/>
          <p:cNvSpPr>
            <a:spLocks noChangeArrowheads="1"/>
          </p:cNvSpPr>
          <p:nvPr/>
        </p:nvSpPr>
        <p:spPr bwMode="auto">
          <a:xfrm>
            <a:off x="4930775" y="45466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3" name="Rectangle 123"/>
          <p:cNvSpPr>
            <a:spLocks noChangeArrowheads="1"/>
          </p:cNvSpPr>
          <p:nvPr/>
        </p:nvSpPr>
        <p:spPr bwMode="auto">
          <a:xfrm>
            <a:off x="5051425" y="4768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4" name="Rectangle 124"/>
          <p:cNvSpPr>
            <a:spLocks noChangeArrowheads="1"/>
          </p:cNvSpPr>
          <p:nvPr/>
        </p:nvSpPr>
        <p:spPr bwMode="auto">
          <a:xfrm>
            <a:off x="4930775" y="47688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5" name="Rectangle 125"/>
          <p:cNvSpPr>
            <a:spLocks noChangeArrowheads="1"/>
          </p:cNvSpPr>
          <p:nvPr/>
        </p:nvSpPr>
        <p:spPr bwMode="auto">
          <a:xfrm>
            <a:off x="5051425" y="4991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6" name="Rectangle 126"/>
          <p:cNvSpPr>
            <a:spLocks noChangeArrowheads="1"/>
          </p:cNvSpPr>
          <p:nvPr/>
        </p:nvSpPr>
        <p:spPr bwMode="auto">
          <a:xfrm>
            <a:off x="4930775" y="49911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7" name="Rectangle 127"/>
          <p:cNvSpPr>
            <a:spLocks noChangeArrowheads="1"/>
          </p:cNvSpPr>
          <p:nvPr/>
        </p:nvSpPr>
        <p:spPr bwMode="auto">
          <a:xfrm>
            <a:off x="5051425" y="5213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8" name="Rectangle 128"/>
          <p:cNvSpPr>
            <a:spLocks noChangeArrowheads="1"/>
          </p:cNvSpPr>
          <p:nvPr/>
        </p:nvSpPr>
        <p:spPr bwMode="auto">
          <a:xfrm>
            <a:off x="4930775" y="52133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59" name="Rectangle 129"/>
          <p:cNvSpPr>
            <a:spLocks noChangeArrowheads="1"/>
          </p:cNvSpPr>
          <p:nvPr/>
        </p:nvSpPr>
        <p:spPr bwMode="auto">
          <a:xfrm>
            <a:off x="5051425" y="5435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0" name="Rectangle 130"/>
          <p:cNvSpPr>
            <a:spLocks noChangeArrowheads="1"/>
          </p:cNvSpPr>
          <p:nvPr/>
        </p:nvSpPr>
        <p:spPr bwMode="auto">
          <a:xfrm>
            <a:off x="4930775" y="54356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1" name="Rectangle 131"/>
          <p:cNvSpPr>
            <a:spLocks noChangeArrowheads="1"/>
          </p:cNvSpPr>
          <p:nvPr/>
        </p:nvSpPr>
        <p:spPr bwMode="auto">
          <a:xfrm>
            <a:off x="5072063" y="5657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2" name="Rectangle 132"/>
          <p:cNvSpPr>
            <a:spLocks noChangeArrowheads="1"/>
          </p:cNvSpPr>
          <p:nvPr/>
        </p:nvSpPr>
        <p:spPr bwMode="auto">
          <a:xfrm>
            <a:off x="4930775" y="565785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3" name="Rectangle 133"/>
          <p:cNvSpPr>
            <a:spLocks noChangeArrowheads="1"/>
          </p:cNvSpPr>
          <p:nvPr/>
        </p:nvSpPr>
        <p:spPr bwMode="auto">
          <a:xfrm>
            <a:off x="5051425" y="5880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4" name="Rectangle 134"/>
          <p:cNvSpPr>
            <a:spLocks noChangeArrowheads="1"/>
          </p:cNvSpPr>
          <p:nvPr/>
        </p:nvSpPr>
        <p:spPr bwMode="auto">
          <a:xfrm>
            <a:off x="4930775" y="5880100"/>
            <a:ext cx="5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5" name="Rectangle 135"/>
          <p:cNvSpPr>
            <a:spLocks noChangeArrowheads="1"/>
          </p:cNvSpPr>
          <p:nvPr/>
        </p:nvSpPr>
        <p:spPr bwMode="auto">
          <a:xfrm>
            <a:off x="6710363" y="3879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6" name="Rectangle 136"/>
          <p:cNvSpPr>
            <a:spLocks noChangeArrowheads="1"/>
          </p:cNvSpPr>
          <p:nvPr/>
        </p:nvSpPr>
        <p:spPr bwMode="auto">
          <a:xfrm>
            <a:off x="6548438" y="38798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7" name="Rectangle 137"/>
          <p:cNvSpPr>
            <a:spLocks noChangeArrowheads="1"/>
          </p:cNvSpPr>
          <p:nvPr/>
        </p:nvSpPr>
        <p:spPr bwMode="auto">
          <a:xfrm>
            <a:off x="6710363" y="3657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8" name="Rectangle 138"/>
          <p:cNvSpPr>
            <a:spLocks noChangeArrowheads="1"/>
          </p:cNvSpPr>
          <p:nvPr/>
        </p:nvSpPr>
        <p:spPr bwMode="auto">
          <a:xfrm>
            <a:off x="6548438" y="36576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69" name="Rectangle 139"/>
          <p:cNvSpPr>
            <a:spLocks noChangeArrowheads="1"/>
          </p:cNvSpPr>
          <p:nvPr/>
        </p:nvSpPr>
        <p:spPr bwMode="auto">
          <a:xfrm>
            <a:off x="6710363" y="3435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0" name="Rectangle 140"/>
          <p:cNvSpPr>
            <a:spLocks noChangeArrowheads="1"/>
          </p:cNvSpPr>
          <p:nvPr/>
        </p:nvSpPr>
        <p:spPr bwMode="auto">
          <a:xfrm>
            <a:off x="6548438" y="34353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1" name="Rectangle 141"/>
          <p:cNvSpPr>
            <a:spLocks noChangeArrowheads="1"/>
          </p:cNvSpPr>
          <p:nvPr/>
        </p:nvSpPr>
        <p:spPr bwMode="auto">
          <a:xfrm>
            <a:off x="6710363" y="3213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2" name="Rectangle 142"/>
          <p:cNvSpPr>
            <a:spLocks noChangeArrowheads="1"/>
          </p:cNvSpPr>
          <p:nvPr/>
        </p:nvSpPr>
        <p:spPr bwMode="auto">
          <a:xfrm>
            <a:off x="6548438" y="32131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3" name="Rectangle 143"/>
          <p:cNvSpPr>
            <a:spLocks noChangeArrowheads="1"/>
          </p:cNvSpPr>
          <p:nvPr/>
        </p:nvSpPr>
        <p:spPr bwMode="auto">
          <a:xfrm>
            <a:off x="6710363" y="2990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4" name="Rectangle 144"/>
          <p:cNvSpPr>
            <a:spLocks noChangeArrowheads="1"/>
          </p:cNvSpPr>
          <p:nvPr/>
        </p:nvSpPr>
        <p:spPr bwMode="auto">
          <a:xfrm>
            <a:off x="6548438" y="29908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5" name="Rectangle 145"/>
          <p:cNvSpPr>
            <a:spLocks noChangeArrowheads="1"/>
          </p:cNvSpPr>
          <p:nvPr/>
        </p:nvSpPr>
        <p:spPr bwMode="auto">
          <a:xfrm>
            <a:off x="6710363" y="2768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6" name="Rectangle 146"/>
          <p:cNvSpPr>
            <a:spLocks noChangeArrowheads="1"/>
          </p:cNvSpPr>
          <p:nvPr/>
        </p:nvSpPr>
        <p:spPr bwMode="auto">
          <a:xfrm>
            <a:off x="6548438" y="27686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7" name="Rectangle 147"/>
          <p:cNvSpPr>
            <a:spLocks noChangeArrowheads="1"/>
          </p:cNvSpPr>
          <p:nvPr/>
        </p:nvSpPr>
        <p:spPr bwMode="auto">
          <a:xfrm>
            <a:off x="6710363" y="254476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8" name="Rectangle 148"/>
          <p:cNvSpPr>
            <a:spLocks noChangeArrowheads="1"/>
          </p:cNvSpPr>
          <p:nvPr/>
        </p:nvSpPr>
        <p:spPr bwMode="auto">
          <a:xfrm>
            <a:off x="6548438" y="2544763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79" name="Rectangle 149"/>
          <p:cNvSpPr>
            <a:spLocks noChangeArrowheads="1"/>
          </p:cNvSpPr>
          <p:nvPr/>
        </p:nvSpPr>
        <p:spPr bwMode="auto">
          <a:xfrm>
            <a:off x="6710363" y="4102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0" name="Rectangle 150"/>
          <p:cNvSpPr>
            <a:spLocks noChangeArrowheads="1"/>
          </p:cNvSpPr>
          <p:nvPr/>
        </p:nvSpPr>
        <p:spPr bwMode="auto">
          <a:xfrm>
            <a:off x="6548438" y="410210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1" name="Rectangle 151"/>
          <p:cNvSpPr>
            <a:spLocks noChangeArrowheads="1"/>
          </p:cNvSpPr>
          <p:nvPr/>
        </p:nvSpPr>
        <p:spPr bwMode="auto">
          <a:xfrm>
            <a:off x="6710363" y="4546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2" name="Rectangle 152"/>
          <p:cNvSpPr>
            <a:spLocks noChangeArrowheads="1"/>
          </p:cNvSpPr>
          <p:nvPr/>
        </p:nvSpPr>
        <p:spPr bwMode="auto">
          <a:xfrm>
            <a:off x="6567488" y="454660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3" name="Rectangle 153"/>
          <p:cNvSpPr>
            <a:spLocks noChangeArrowheads="1"/>
          </p:cNvSpPr>
          <p:nvPr/>
        </p:nvSpPr>
        <p:spPr bwMode="auto">
          <a:xfrm>
            <a:off x="6710363" y="4768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4" name="Rectangle 154"/>
          <p:cNvSpPr>
            <a:spLocks noChangeArrowheads="1"/>
          </p:cNvSpPr>
          <p:nvPr/>
        </p:nvSpPr>
        <p:spPr bwMode="auto">
          <a:xfrm>
            <a:off x="6567488" y="476885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5" name="Rectangle 155"/>
          <p:cNvSpPr>
            <a:spLocks noChangeArrowheads="1"/>
          </p:cNvSpPr>
          <p:nvPr/>
        </p:nvSpPr>
        <p:spPr bwMode="auto">
          <a:xfrm>
            <a:off x="6710363" y="4991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6" name="Rectangle 156"/>
          <p:cNvSpPr>
            <a:spLocks noChangeArrowheads="1"/>
          </p:cNvSpPr>
          <p:nvPr/>
        </p:nvSpPr>
        <p:spPr bwMode="auto">
          <a:xfrm>
            <a:off x="6567488" y="499110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7" name="Rectangle 157"/>
          <p:cNvSpPr>
            <a:spLocks noChangeArrowheads="1"/>
          </p:cNvSpPr>
          <p:nvPr/>
        </p:nvSpPr>
        <p:spPr bwMode="auto">
          <a:xfrm>
            <a:off x="6710363" y="52133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8" name="Rectangle 158"/>
          <p:cNvSpPr>
            <a:spLocks noChangeArrowheads="1"/>
          </p:cNvSpPr>
          <p:nvPr/>
        </p:nvSpPr>
        <p:spPr bwMode="auto">
          <a:xfrm>
            <a:off x="6567488" y="521335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89" name="Rectangle 159"/>
          <p:cNvSpPr>
            <a:spLocks noChangeArrowheads="1"/>
          </p:cNvSpPr>
          <p:nvPr/>
        </p:nvSpPr>
        <p:spPr bwMode="auto">
          <a:xfrm>
            <a:off x="6710363" y="54356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90" name="Rectangle 160"/>
          <p:cNvSpPr>
            <a:spLocks noChangeArrowheads="1"/>
          </p:cNvSpPr>
          <p:nvPr/>
        </p:nvSpPr>
        <p:spPr bwMode="auto">
          <a:xfrm>
            <a:off x="6567488" y="543560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91" name="Rectangle 161"/>
          <p:cNvSpPr>
            <a:spLocks noChangeArrowheads="1"/>
          </p:cNvSpPr>
          <p:nvPr/>
        </p:nvSpPr>
        <p:spPr bwMode="auto">
          <a:xfrm>
            <a:off x="6710363" y="5657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92" name="Rectangle 162"/>
          <p:cNvSpPr>
            <a:spLocks noChangeArrowheads="1"/>
          </p:cNvSpPr>
          <p:nvPr/>
        </p:nvSpPr>
        <p:spPr bwMode="auto">
          <a:xfrm>
            <a:off x="6567488" y="565785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93" name="Rectangle 163"/>
          <p:cNvSpPr>
            <a:spLocks noChangeArrowheads="1"/>
          </p:cNvSpPr>
          <p:nvPr/>
        </p:nvSpPr>
        <p:spPr bwMode="auto">
          <a:xfrm>
            <a:off x="6710363" y="58801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94" name="Rectangle 164"/>
          <p:cNvSpPr>
            <a:spLocks noChangeArrowheads="1"/>
          </p:cNvSpPr>
          <p:nvPr/>
        </p:nvSpPr>
        <p:spPr bwMode="auto">
          <a:xfrm>
            <a:off x="6567488" y="5880100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795" name="Line 165"/>
          <p:cNvSpPr>
            <a:spLocks noChangeShapeType="1"/>
          </p:cNvSpPr>
          <p:nvPr/>
        </p:nvSpPr>
        <p:spPr bwMode="auto">
          <a:xfrm flipH="1">
            <a:off x="1757363" y="6284913"/>
            <a:ext cx="5578475" cy="1587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796" name="Line 166"/>
          <p:cNvSpPr>
            <a:spLocks noChangeShapeType="1"/>
          </p:cNvSpPr>
          <p:nvPr/>
        </p:nvSpPr>
        <p:spPr bwMode="auto">
          <a:xfrm flipH="1">
            <a:off x="1757363" y="2384425"/>
            <a:ext cx="5578475" cy="1588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797" name="Line 167"/>
          <p:cNvSpPr>
            <a:spLocks noChangeShapeType="1"/>
          </p:cNvSpPr>
          <p:nvPr/>
        </p:nvSpPr>
        <p:spPr bwMode="auto">
          <a:xfrm flipH="1">
            <a:off x="1757363" y="1819275"/>
            <a:ext cx="5578475" cy="1588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798" name="Line 168"/>
          <p:cNvSpPr>
            <a:spLocks noChangeShapeType="1"/>
          </p:cNvSpPr>
          <p:nvPr/>
        </p:nvSpPr>
        <p:spPr bwMode="auto">
          <a:xfrm flipH="1">
            <a:off x="1757363" y="1354138"/>
            <a:ext cx="5578475" cy="1587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799" name="Rectangle 169"/>
          <p:cNvSpPr>
            <a:spLocks noChangeArrowheads="1"/>
          </p:cNvSpPr>
          <p:nvPr/>
        </p:nvSpPr>
        <p:spPr bwMode="auto">
          <a:xfrm>
            <a:off x="1898650" y="20193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0" name="Rectangle 170"/>
          <p:cNvSpPr>
            <a:spLocks noChangeArrowheads="1"/>
          </p:cNvSpPr>
          <p:nvPr/>
        </p:nvSpPr>
        <p:spPr bwMode="auto">
          <a:xfrm>
            <a:off x="2000250" y="21224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1" name="Rectangle 171"/>
          <p:cNvSpPr>
            <a:spLocks noChangeArrowheads="1"/>
          </p:cNvSpPr>
          <p:nvPr/>
        </p:nvSpPr>
        <p:spPr bwMode="auto">
          <a:xfrm>
            <a:off x="2100263" y="20193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2" name="Rectangle 172"/>
          <p:cNvSpPr>
            <a:spLocks noChangeArrowheads="1"/>
          </p:cNvSpPr>
          <p:nvPr/>
        </p:nvSpPr>
        <p:spPr bwMode="auto">
          <a:xfrm>
            <a:off x="2201863" y="21224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3" name="Rectangle 173"/>
          <p:cNvSpPr>
            <a:spLocks noChangeArrowheads="1"/>
          </p:cNvSpPr>
          <p:nvPr/>
        </p:nvSpPr>
        <p:spPr bwMode="auto">
          <a:xfrm>
            <a:off x="2282825" y="20193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4" name="Rectangle 174"/>
          <p:cNvSpPr>
            <a:spLocks noChangeArrowheads="1"/>
          </p:cNvSpPr>
          <p:nvPr/>
        </p:nvSpPr>
        <p:spPr bwMode="auto">
          <a:xfrm>
            <a:off x="2382838" y="21224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5" name="Rectangle 175"/>
          <p:cNvSpPr>
            <a:spLocks noChangeArrowheads="1"/>
          </p:cNvSpPr>
          <p:nvPr/>
        </p:nvSpPr>
        <p:spPr bwMode="auto">
          <a:xfrm>
            <a:off x="2463800" y="201930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6" name="Rectangle 176"/>
          <p:cNvSpPr>
            <a:spLocks noChangeArrowheads="1"/>
          </p:cNvSpPr>
          <p:nvPr/>
        </p:nvSpPr>
        <p:spPr bwMode="auto">
          <a:xfrm>
            <a:off x="2565400" y="21224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7" name="Rectangle 177"/>
          <p:cNvSpPr>
            <a:spLocks noChangeArrowheads="1"/>
          </p:cNvSpPr>
          <p:nvPr/>
        </p:nvSpPr>
        <p:spPr bwMode="auto">
          <a:xfrm>
            <a:off x="3192463" y="1878013"/>
            <a:ext cx="7000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Sign and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8" name="Rectangle 178"/>
          <p:cNvSpPr>
            <a:spLocks noChangeArrowheads="1"/>
          </p:cNvSpPr>
          <p:nvPr/>
        </p:nvSpPr>
        <p:spPr bwMode="auto">
          <a:xfrm>
            <a:off x="3132138" y="2019300"/>
            <a:ext cx="8270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magnitude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09" name="Rectangle 179"/>
          <p:cNvSpPr>
            <a:spLocks noChangeArrowheads="1"/>
          </p:cNvSpPr>
          <p:nvPr/>
        </p:nvSpPr>
        <p:spPr bwMode="auto">
          <a:xfrm>
            <a:off x="4384675" y="2060575"/>
            <a:ext cx="131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1'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0" name="Rectangle 180"/>
          <p:cNvSpPr>
            <a:spLocks noChangeArrowheads="1"/>
          </p:cNvSpPr>
          <p:nvPr/>
        </p:nvSpPr>
        <p:spPr bwMode="auto">
          <a:xfrm>
            <a:off x="4525963" y="2060575"/>
            <a:ext cx="11033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s complement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1" name="Rectangle 181"/>
          <p:cNvSpPr>
            <a:spLocks noChangeArrowheads="1"/>
          </p:cNvSpPr>
          <p:nvPr/>
        </p:nvSpPr>
        <p:spPr bwMode="auto">
          <a:xfrm>
            <a:off x="6042025" y="2060575"/>
            <a:ext cx="131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2'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2" name="Rectangle 182"/>
          <p:cNvSpPr>
            <a:spLocks noChangeArrowheads="1"/>
          </p:cNvSpPr>
          <p:nvPr/>
        </p:nvSpPr>
        <p:spPr bwMode="auto">
          <a:xfrm>
            <a:off x="6183313" y="2060575"/>
            <a:ext cx="11033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s complement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3" name="Rectangle 183"/>
          <p:cNvSpPr>
            <a:spLocks noChangeArrowheads="1"/>
          </p:cNvSpPr>
          <p:nvPr/>
        </p:nvSpPr>
        <p:spPr bwMode="auto">
          <a:xfrm>
            <a:off x="2222500" y="1454150"/>
            <a:ext cx="1190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4" name="Rectangle 184"/>
          <p:cNvSpPr>
            <a:spLocks noChangeArrowheads="1"/>
          </p:cNvSpPr>
          <p:nvPr/>
        </p:nvSpPr>
        <p:spPr bwMode="auto">
          <a:xfrm>
            <a:off x="4092575" y="1454150"/>
            <a:ext cx="1190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V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5" name="Rectangle 185"/>
          <p:cNvSpPr>
            <a:spLocks noChangeArrowheads="1"/>
          </p:cNvSpPr>
          <p:nvPr/>
        </p:nvSpPr>
        <p:spPr bwMode="auto">
          <a:xfrm>
            <a:off x="4203700" y="1454150"/>
            <a:ext cx="14176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4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alues represented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6" name="Rectangle 186"/>
          <p:cNvSpPr>
            <a:spLocks noChangeArrowheads="1"/>
          </p:cNvSpPr>
          <p:nvPr/>
        </p:nvSpPr>
        <p:spPr bwMode="auto">
          <a:xfrm>
            <a:off x="2444750" y="6477000"/>
            <a:ext cx="4575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6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Figure 2.1.</a:t>
            </a:r>
            <a:r>
              <a:rPr lang="en-US" altLang="zh-CN" sz="16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 Binary, signed-integer representations.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817" name="Text Box 187"/>
          <p:cNvSpPr txBox="1">
            <a:spLocks noChangeArrowheads="1"/>
          </p:cNvSpPr>
          <p:nvPr/>
        </p:nvSpPr>
        <p:spPr bwMode="auto">
          <a:xfrm>
            <a:off x="152400" y="14478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Page 28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500">
                <a:ea typeface="SimSun" pitchFamily="2" charset="-122"/>
              </a:rPr>
              <a:t>Addition and Subtraction – 2’s Complement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4133850" y="1905000"/>
            <a:ext cx="45085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4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+ 3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7</a:t>
            </a: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4102100" y="2603500"/>
            <a:ext cx="48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902200" y="1905000"/>
            <a:ext cx="63500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0100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0011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0111</a:t>
            </a: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4889500" y="2641600"/>
            <a:ext cx="66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6343650" y="1943100"/>
            <a:ext cx="67945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-4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 (-3)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-7</a:t>
            </a: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6540500" y="2641600"/>
            <a:ext cx="48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7340600" y="1943100"/>
            <a:ext cx="76200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1100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1101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11001</a:t>
            </a:r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7327900" y="2679700"/>
            <a:ext cx="66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4178300" y="3863975"/>
            <a:ext cx="39370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4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- 3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</a:t>
            </a:r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4089400" y="4562475"/>
            <a:ext cx="48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4889500" y="3863975"/>
            <a:ext cx="76200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0100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1101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10001</a:t>
            </a:r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4876800" y="4600575"/>
            <a:ext cx="66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6559550" y="3902075"/>
            <a:ext cx="45085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-4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+ 3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-1</a:t>
            </a:r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6527800" y="4600575"/>
            <a:ext cx="48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7327900" y="3902075"/>
            <a:ext cx="635000" cy="1217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1100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0011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1111</a:t>
            </a:r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7315200" y="4638675"/>
            <a:ext cx="66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7569200" y="30861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7569200" y="3238500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>
            <a:off x="5067300" y="4994275"/>
            <a:ext cx="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>
            <a:off x="5067300" y="524827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685800" y="2670175"/>
            <a:ext cx="2667000" cy="1684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If carry-in to the high 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order bit =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carry-out then ignore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carry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if carry-in differs from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carry-out then overflow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762000" y="5692775"/>
            <a:ext cx="763270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Simpler addition scheme makes twos complement the most common</a:t>
            </a:r>
          </a:p>
          <a:p>
            <a:pPr algn="ct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choice for integer number systems within digital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1508" grpId="0" animBg="1"/>
      <p:bldP spid="21509" grpId="0"/>
      <p:bldP spid="21510" grpId="0" animBg="1"/>
      <p:bldP spid="21511" grpId="0"/>
      <p:bldP spid="21512" grpId="0" animBg="1"/>
      <p:bldP spid="21513" grpId="0"/>
      <p:bldP spid="21514" grpId="0" animBg="1"/>
      <p:bldP spid="21515" grpId="0"/>
      <p:bldP spid="21516" grpId="0" animBg="1"/>
      <p:bldP spid="21517" grpId="0"/>
      <p:bldP spid="21518" grpId="0" animBg="1"/>
      <p:bldP spid="21519" grpId="0"/>
      <p:bldP spid="21520" grpId="0" animBg="1"/>
      <p:bldP spid="21521" grpId="0"/>
      <p:bldP spid="21522" grpId="0" animBg="1"/>
      <p:bldP spid="21523" grpId="0" animBg="1"/>
      <p:bldP spid="21524" grpId="0" animBg="1"/>
      <p:bldP spid="21525" grpId="0" animBg="1"/>
      <p:bldP spid="21526" grpId="0" animBg="1"/>
      <p:bldP spid="21527" grpId="0"/>
      <p:bldP spid="2152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2’s-Complement Add and Subtract Operations</a:t>
            </a:r>
          </a:p>
        </p:txBody>
      </p:sp>
      <p:grpSp>
        <p:nvGrpSpPr>
          <p:cNvPr id="2" name="Group 274"/>
          <p:cNvGrpSpPr>
            <a:grpSpLocks/>
          </p:cNvGrpSpPr>
          <p:nvPr/>
        </p:nvGrpSpPr>
        <p:grpSpPr bwMode="auto">
          <a:xfrm>
            <a:off x="4038600" y="2606675"/>
            <a:ext cx="2308225" cy="3668713"/>
            <a:chOff x="2544" y="1642"/>
            <a:chExt cx="1454" cy="2311"/>
          </a:xfrm>
        </p:grpSpPr>
        <p:sp>
          <p:nvSpPr>
            <p:cNvPr id="73732" name="Rectangle 35"/>
            <p:cNvSpPr>
              <a:spLocks noChangeArrowheads="1"/>
            </p:cNvSpPr>
            <p:nvPr/>
          </p:nvSpPr>
          <p:spPr bwMode="auto">
            <a:xfrm>
              <a:off x="3240" y="164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33" name="Rectangle 36"/>
            <p:cNvSpPr>
              <a:spLocks noChangeArrowheads="1"/>
            </p:cNvSpPr>
            <p:nvPr/>
          </p:nvSpPr>
          <p:spPr bwMode="auto">
            <a:xfrm>
              <a:off x="3240" y="1739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34" name="Rectangle 37"/>
            <p:cNvSpPr>
              <a:spLocks noChangeArrowheads="1"/>
            </p:cNvSpPr>
            <p:nvPr/>
          </p:nvSpPr>
          <p:spPr bwMode="auto">
            <a:xfrm>
              <a:off x="3240" y="188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0 1 0 0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35" name="Line 38"/>
            <p:cNvSpPr>
              <a:spLocks noChangeShapeType="1"/>
            </p:cNvSpPr>
            <p:nvPr/>
          </p:nvSpPr>
          <p:spPr bwMode="auto">
            <a:xfrm flipH="1">
              <a:off x="3056" y="1850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36" name="Rectangle 39"/>
            <p:cNvSpPr>
              <a:spLocks noChangeArrowheads="1"/>
            </p:cNvSpPr>
            <p:nvPr/>
          </p:nvSpPr>
          <p:spPr bwMode="auto">
            <a:xfrm>
              <a:off x="3240" y="204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37" name="Rectangle 40"/>
            <p:cNvSpPr>
              <a:spLocks noChangeArrowheads="1"/>
            </p:cNvSpPr>
            <p:nvPr/>
          </p:nvSpPr>
          <p:spPr bwMode="auto">
            <a:xfrm>
              <a:off x="3240" y="2139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1 1 0 0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38" name="Rectangle 41"/>
            <p:cNvSpPr>
              <a:spLocks noChangeArrowheads="1"/>
            </p:cNvSpPr>
            <p:nvPr/>
          </p:nvSpPr>
          <p:spPr bwMode="auto">
            <a:xfrm>
              <a:off x="3240" y="2284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39" name="Line 42"/>
            <p:cNvSpPr>
              <a:spLocks noChangeShapeType="1"/>
            </p:cNvSpPr>
            <p:nvPr/>
          </p:nvSpPr>
          <p:spPr bwMode="auto">
            <a:xfrm flipH="1">
              <a:off x="3056" y="2251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40" name="Rectangle 43"/>
            <p:cNvSpPr>
              <a:spLocks noChangeArrowheads="1"/>
            </p:cNvSpPr>
            <p:nvPr/>
          </p:nvSpPr>
          <p:spPr bwMode="auto">
            <a:xfrm>
              <a:off x="3240" y="242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41" name="Rectangle 44"/>
            <p:cNvSpPr>
              <a:spLocks noChangeArrowheads="1"/>
            </p:cNvSpPr>
            <p:nvPr/>
          </p:nvSpPr>
          <p:spPr bwMode="auto">
            <a:xfrm>
              <a:off x="3240" y="2523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42" name="Rectangle 45"/>
            <p:cNvSpPr>
              <a:spLocks noChangeArrowheads="1"/>
            </p:cNvSpPr>
            <p:nvPr/>
          </p:nvSpPr>
          <p:spPr bwMode="auto">
            <a:xfrm>
              <a:off x="3240" y="266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43" name="Line 46"/>
            <p:cNvSpPr>
              <a:spLocks noChangeShapeType="1"/>
            </p:cNvSpPr>
            <p:nvPr/>
          </p:nvSpPr>
          <p:spPr bwMode="auto">
            <a:xfrm flipH="1">
              <a:off x="3056" y="2635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44" name="Rectangle 47"/>
            <p:cNvSpPr>
              <a:spLocks noChangeArrowheads="1"/>
            </p:cNvSpPr>
            <p:nvPr/>
          </p:nvSpPr>
          <p:spPr bwMode="auto">
            <a:xfrm>
              <a:off x="3240" y="2811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45" name="Rectangle 48"/>
            <p:cNvSpPr>
              <a:spLocks noChangeArrowheads="1"/>
            </p:cNvSpPr>
            <p:nvPr/>
          </p:nvSpPr>
          <p:spPr bwMode="auto">
            <a:xfrm>
              <a:off x="3240" y="2908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46" name="Rectangle 49"/>
            <p:cNvSpPr>
              <a:spLocks noChangeArrowheads="1"/>
            </p:cNvSpPr>
            <p:nvPr/>
          </p:nvSpPr>
          <p:spPr bwMode="auto">
            <a:xfrm>
              <a:off x="3240" y="3060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47" name="Line 50"/>
            <p:cNvSpPr>
              <a:spLocks noChangeShapeType="1"/>
            </p:cNvSpPr>
            <p:nvPr/>
          </p:nvSpPr>
          <p:spPr bwMode="auto">
            <a:xfrm flipH="1">
              <a:off x="3056" y="3028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48" name="Rectangle 51"/>
            <p:cNvSpPr>
              <a:spLocks noChangeArrowheads="1"/>
            </p:cNvSpPr>
            <p:nvPr/>
          </p:nvSpPr>
          <p:spPr bwMode="auto">
            <a:xfrm>
              <a:off x="3240" y="3213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49" name="Rectangle 52"/>
            <p:cNvSpPr>
              <a:spLocks noChangeArrowheads="1"/>
            </p:cNvSpPr>
            <p:nvPr/>
          </p:nvSpPr>
          <p:spPr bwMode="auto">
            <a:xfrm>
              <a:off x="3240" y="3309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50" name="Rectangle 53"/>
            <p:cNvSpPr>
              <a:spLocks noChangeArrowheads="1"/>
            </p:cNvSpPr>
            <p:nvPr/>
          </p:nvSpPr>
          <p:spPr bwMode="auto">
            <a:xfrm>
              <a:off x="3240" y="3453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1 0 0 0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51" name="Line 54"/>
            <p:cNvSpPr>
              <a:spLocks noChangeShapeType="1"/>
            </p:cNvSpPr>
            <p:nvPr/>
          </p:nvSpPr>
          <p:spPr bwMode="auto">
            <a:xfrm flipH="1">
              <a:off x="3056" y="3421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2" name="Rectangle 55"/>
            <p:cNvSpPr>
              <a:spLocks noChangeArrowheads="1"/>
            </p:cNvSpPr>
            <p:nvPr/>
          </p:nvSpPr>
          <p:spPr bwMode="auto">
            <a:xfrm>
              <a:off x="3240" y="3598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53" name="Rectangle 56"/>
            <p:cNvSpPr>
              <a:spLocks noChangeArrowheads="1"/>
            </p:cNvSpPr>
            <p:nvPr/>
          </p:nvSpPr>
          <p:spPr bwMode="auto">
            <a:xfrm>
              <a:off x="3240" y="3694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54" name="Rectangle 57"/>
            <p:cNvSpPr>
              <a:spLocks noChangeArrowheads="1"/>
            </p:cNvSpPr>
            <p:nvPr/>
          </p:nvSpPr>
          <p:spPr bwMode="auto">
            <a:xfrm>
              <a:off x="3240" y="3838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55" name="Line 58"/>
            <p:cNvSpPr>
              <a:spLocks noChangeShapeType="1"/>
            </p:cNvSpPr>
            <p:nvPr/>
          </p:nvSpPr>
          <p:spPr bwMode="auto">
            <a:xfrm flipH="1">
              <a:off x="3056" y="3806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6" name="Line 169"/>
            <p:cNvSpPr>
              <a:spLocks noChangeShapeType="1"/>
            </p:cNvSpPr>
            <p:nvPr/>
          </p:nvSpPr>
          <p:spPr bwMode="auto">
            <a:xfrm flipH="1">
              <a:off x="3711" y="1858"/>
              <a:ext cx="2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7" name="Rectangle 170"/>
            <p:cNvSpPr>
              <a:spLocks noChangeArrowheads="1"/>
            </p:cNvSpPr>
            <p:nvPr/>
          </p:nvSpPr>
          <p:spPr bwMode="auto">
            <a:xfrm>
              <a:off x="3875" y="1882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4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58" name="Rectangle 171"/>
            <p:cNvSpPr>
              <a:spLocks noChangeArrowheads="1"/>
            </p:cNvSpPr>
            <p:nvPr/>
          </p:nvSpPr>
          <p:spPr bwMode="auto">
            <a:xfrm>
              <a:off x="3813" y="1882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59" name="Rectangle 172"/>
            <p:cNvSpPr>
              <a:spLocks noChangeArrowheads="1"/>
            </p:cNvSpPr>
            <p:nvPr/>
          </p:nvSpPr>
          <p:spPr bwMode="auto">
            <a:xfrm>
              <a:off x="3773" y="188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0" name="Rectangle 173"/>
            <p:cNvSpPr>
              <a:spLocks noChangeArrowheads="1"/>
            </p:cNvSpPr>
            <p:nvPr/>
          </p:nvSpPr>
          <p:spPr bwMode="auto">
            <a:xfrm>
              <a:off x="3926" y="188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1" name="Line 174"/>
            <p:cNvSpPr>
              <a:spLocks noChangeShapeType="1"/>
            </p:cNvSpPr>
            <p:nvPr/>
          </p:nvSpPr>
          <p:spPr bwMode="auto">
            <a:xfrm flipH="1">
              <a:off x="3711" y="2251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2" name="Rectangle 175"/>
            <p:cNvSpPr>
              <a:spLocks noChangeArrowheads="1"/>
            </p:cNvSpPr>
            <p:nvPr/>
          </p:nvSpPr>
          <p:spPr bwMode="auto">
            <a:xfrm>
              <a:off x="3875" y="2284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2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3" name="Rectangle 176"/>
            <p:cNvSpPr>
              <a:spLocks noChangeArrowheads="1"/>
            </p:cNvSpPr>
            <p:nvPr/>
          </p:nvSpPr>
          <p:spPr bwMode="auto">
            <a:xfrm>
              <a:off x="3824" y="228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4" name="Rectangle 177"/>
            <p:cNvSpPr>
              <a:spLocks noChangeArrowheads="1"/>
            </p:cNvSpPr>
            <p:nvPr/>
          </p:nvSpPr>
          <p:spPr bwMode="auto">
            <a:xfrm>
              <a:off x="3783" y="228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5" name="Rectangle 178"/>
            <p:cNvSpPr>
              <a:spLocks noChangeArrowheads="1"/>
            </p:cNvSpPr>
            <p:nvPr/>
          </p:nvSpPr>
          <p:spPr bwMode="auto">
            <a:xfrm>
              <a:off x="3926" y="228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6" name="Rectangle 179"/>
            <p:cNvSpPr>
              <a:spLocks noChangeArrowheads="1"/>
            </p:cNvSpPr>
            <p:nvPr/>
          </p:nvSpPr>
          <p:spPr bwMode="auto">
            <a:xfrm>
              <a:off x="3875" y="2667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3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7" name="Rectangle 180"/>
            <p:cNvSpPr>
              <a:spLocks noChangeArrowheads="1"/>
            </p:cNvSpPr>
            <p:nvPr/>
          </p:nvSpPr>
          <p:spPr bwMode="auto">
            <a:xfrm>
              <a:off x="3813" y="2667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8" name="Rectangle 181"/>
            <p:cNvSpPr>
              <a:spLocks noChangeArrowheads="1"/>
            </p:cNvSpPr>
            <p:nvPr/>
          </p:nvSpPr>
          <p:spPr bwMode="auto">
            <a:xfrm>
              <a:off x="3773" y="266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69" name="Rectangle 182"/>
            <p:cNvSpPr>
              <a:spLocks noChangeArrowheads="1"/>
            </p:cNvSpPr>
            <p:nvPr/>
          </p:nvSpPr>
          <p:spPr bwMode="auto">
            <a:xfrm>
              <a:off x="3926" y="266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70" name="Line 183"/>
            <p:cNvSpPr>
              <a:spLocks noChangeShapeType="1"/>
            </p:cNvSpPr>
            <p:nvPr/>
          </p:nvSpPr>
          <p:spPr bwMode="auto">
            <a:xfrm flipH="1">
              <a:off x="3711" y="2635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1" name="Line 184"/>
            <p:cNvSpPr>
              <a:spLocks noChangeShapeType="1"/>
            </p:cNvSpPr>
            <p:nvPr/>
          </p:nvSpPr>
          <p:spPr bwMode="auto">
            <a:xfrm flipH="1">
              <a:off x="3711" y="3028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2" name="Line 185"/>
            <p:cNvSpPr>
              <a:spLocks noChangeShapeType="1"/>
            </p:cNvSpPr>
            <p:nvPr/>
          </p:nvSpPr>
          <p:spPr bwMode="auto">
            <a:xfrm flipH="1">
              <a:off x="3711" y="3421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3" name="Rectangle 186"/>
            <p:cNvSpPr>
              <a:spLocks noChangeArrowheads="1"/>
            </p:cNvSpPr>
            <p:nvPr/>
          </p:nvSpPr>
          <p:spPr bwMode="auto">
            <a:xfrm>
              <a:off x="3875" y="3060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2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74" name="Rectangle 187"/>
            <p:cNvSpPr>
              <a:spLocks noChangeArrowheads="1"/>
            </p:cNvSpPr>
            <p:nvPr/>
          </p:nvSpPr>
          <p:spPr bwMode="auto">
            <a:xfrm>
              <a:off x="3824" y="3060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75" name="Rectangle 188"/>
            <p:cNvSpPr>
              <a:spLocks noChangeArrowheads="1"/>
            </p:cNvSpPr>
            <p:nvPr/>
          </p:nvSpPr>
          <p:spPr bwMode="auto">
            <a:xfrm>
              <a:off x="3783" y="3060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76" name="Rectangle 189"/>
            <p:cNvSpPr>
              <a:spLocks noChangeArrowheads="1"/>
            </p:cNvSpPr>
            <p:nvPr/>
          </p:nvSpPr>
          <p:spPr bwMode="auto">
            <a:xfrm>
              <a:off x="3926" y="3060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77" name="Rectangle 190"/>
            <p:cNvSpPr>
              <a:spLocks noChangeArrowheads="1"/>
            </p:cNvSpPr>
            <p:nvPr/>
          </p:nvSpPr>
          <p:spPr bwMode="auto">
            <a:xfrm>
              <a:off x="3875" y="3462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8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78" name="Rectangle 191"/>
            <p:cNvSpPr>
              <a:spLocks noChangeArrowheads="1"/>
            </p:cNvSpPr>
            <p:nvPr/>
          </p:nvSpPr>
          <p:spPr bwMode="auto">
            <a:xfrm>
              <a:off x="3824" y="346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79" name="Rectangle 192"/>
            <p:cNvSpPr>
              <a:spLocks noChangeArrowheads="1"/>
            </p:cNvSpPr>
            <p:nvPr/>
          </p:nvSpPr>
          <p:spPr bwMode="auto">
            <a:xfrm>
              <a:off x="3783" y="346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80" name="Rectangle 193"/>
            <p:cNvSpPr>
              <a:spLocks noChangeArrowheads="1"/>
            </p:cNvSpPr>
            <p:nvPr/>
          </p:nvSpPr>
          <p:spPr bwMode="auto">
            <a:xfrm>
              <a:off x="3926" y="346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81" name="Rectangle 194"/>
            <p:cNvSpPr>
              <a:spLocks noChangeArrowheads="1"/>
            </p:cNvSpPr>
            <p:nvPr/>
          </p:nvSpPr>
          <p:spPr bwMode="auto">
            <a:xfrm>
              <a:off x="3885" y="3838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5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82" name="Rectangle 195"/>
            <p:cNvSpPr>
              <a:spLocks noChangeArrowheads="1"/>
            </p:cNvSpPr>
            <p:nvPr/>
          </p:nvSpPr>
          <p:spPr bwMode="auto">
            <a:xfrm>
              <a:off x="3813" y="3838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83" name="Rectangle 196"/>
            <p:cNvSpPr>
              <a:spLocks noChangeArrowheads="1"/>
            </p:cNvSpPr>
            <p:nvPr/>
          </p:nvSpPr>
          <p:spPr bwMode="auto">
            <a:xfrm>
              <a:off x="3773" y="3830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84" name="Rectangle 197"/>
            <p:cNvSpPr>
              <a:spLocks noChangeArrowheads="1"/>
            </p:cNvSpPr>
            <p:nvPr/>
          </p:nvSpPr>
          <p:spPr bwMode="auto">
            <a:xfrm>
              <a:off x="3926" y="3830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85" name="Line 198"/>
            <p:cNvSpPr>
              <a:spLocks noChangeShapeType="1"/>
            </p:cNvSpPr>
            <p:nvPr/>
          </p:nvSpPr>
          <p:spPr bwMode="auto">
            <a:xfrm flipH="1">
              <a:off x="3711" y="3806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6" name="Freeform 199"/>
            <p:cNvSpPr>
              <a:spLocks/>
            </p:cNvSpPr>
            <p:nvPr/>
          </p:nvSpPr>
          <p:spPr bwMode="auto">
            <a:xfrm>
              <a:off x="2544" y="1730"/>
              <a:ext cx="215" cy="112"/>
            </a:xfrm>
            <a:custGeom>
              <a:avLst/>
              <a:gdLst>
                <a:gd name="T0" fmla="*/ 0 w 21"/>
                <a:gd name="T1" fmla="*/ 11 h 14"/>
                <a:gd name="T2" fmla="*/ 14 w 21"/>
                <a:gd name="T3" fmla="*/ 11 h 14"/>
                <a:gd name="T4" fmla="*/ 14 w 21"/>
                <a:gd name="T5" fmla="*/ 14 h 14"/>
                <a:gd name="T6" fmla="*/ 21 w 21"/>
                <a:gd name="T7" fmla="*/ 7 h 14"/>
                <a:gd name="T8" fmla="*/ 14 w 21"/>
                <a:gd name="T9" fmla="*/ 0 h 14"/>
                <a:gd name="T10" fmla="*/ 14 w 21"/>
                <a:gd name="T11" fmla="*/ 4 h 14"/>
                <a:gd name="T12" fmla="*/ 0 w 21"/>
                <a:gd name="T13" fmla="*/ 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"/>
                <a:gd name="T22" fmla="*/ 0 h 14"/>
                <a:gd name="T23" fmla="*/ 21 w 21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" h="14">
                  <a:moveTo>
                    <a:pt x="0" y="11"/>
                  </a:moveTo>
                  <a:lnTo>
                    <a:pt x="14" y="11"/>
                  </a:lnTo>
                  <a:lnTo>
                    <a:pt x="14" y="14"/>
                  </a:lnTo>
                  <a:lnTo>
                    <a:pt x="21" y="7"/>
                  </a:lnTo>
                  <a:lnTo>
                    <a:pt x="14" y="0"/>
                  </a:lnTo>
                  <a:lnTo>
                    <a:pt x="14" y="4"/>
                  </a:lnTo>
                  <a:lnTo>
                    <a:pt x="0" y="4"/>
                  </a:lnTo>
                </a:path>
              </a:pathLst>
            </a:custGeom>
            <a:noFill/>
            <a:ln w="158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7" name="Freeform 200"/>
            <p:cNvSpPr>
              <a:spLocks/>
            </p:cNvSpPr>
            <p:nvPr/>
          </p:nvSpPr>
          <p:spPr bwMode="auto">
            <a:xfrm>
              <a:off x="2544" y="2130"/>
              <a:ext cx="215" cy="113"/>
            </a:xfrm>
            <a:custGeom>
              <a:avLst/>
              <a:gdLst>
                <a:gd name="T0" fmla="*/ 0 w 21"/>
                <a:gd name="T1" fmla="*/ 10 h 14"/>
                <a:gd name="T2" fmla="*/ 14 w 21"/>
                <a:gd name="T3" fmla="*/ 10 h 14"/>
                <a:gd name="T4" fmla="*/ 14 w 21"/>
                <a:gd name="T5" fmla="*/ 14 h 14"/>
                <a:gd name="T6" fmla="*/ 21 w 21"/>
                <a:gd name="T7" fmla="*/ 7 h 14"/>
                <a:gd name="T8" fmla="*/ 14 w 21"/>
                <a:gd name="T9" fmla="*/ 0 h 14"/>
                <a:gd name="T10" fmla="*/ 14 w 21"/>
                <a:gd name="T11" fmla="*/ 3 h 14"/>
                <a:gd name="T12" fmla="*/ 0 w 21"/>
                <a:gd name="T13" fmla="*/ 3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"/>
                <a:gd name="T22" fmla="*/ 0 h 14"/>
                <a:gd name="T23" fmla="*/ 21 w 21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" h="14">
                  <a:moveTo>
                    <a:pt x="0" y="10"/>
                  </a:moveTo>
                  <a:lnTo>
                    <a:pt x="14" y="10"/>
                  </a:lnTo>
                  <a:lnTo>
                    <a:pt x="14" y="14"/>
                  </a:lnTo>
                  <a:lnTo>
                    <a:pt x="21" y="7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0" y="3"/>
                  </a:lnTo>
                </a:path>
              </a:pathLst>
            </a:custGeom>
            <a:noFill/>
            <a:ln w="158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8" name="Freeform 201"/>
            <p:cNvSpPr>
              <a:spLocks/>
            </p:cNvSpPr>
            <p:nvPr/>
          </p:nvSpPr>
          <p:spPr bwMode="auto">
            <a:xfrm>
              <a:off x="2544" y="2515"/>
              <a:ext cx="215" cy="112"/>
            </a:xfrm>
            <a:custGeom>
              <a:avLst/>
              <a:gdLst>
                <a:gd name="T0" fmla="*/ 0 w 21"/>
                <a:gd name="T1" fmla="*/ 10 h 14"/>
                <a:gd name="T2" fmla="*/ 14 w 21"/>
                <a:gd name="T3" fmla="*/ 10 h 14"/>
                <a:gd name="T4" fmla="*/ 14 w 21"/>
                <a:gd name="T5" fmla="*/ 14 h 14"/>
                <a:gd name="T6" fmla="*/ 21 w 21"/>
                <a:gd name="T7" fmla="*/ 7 h 14"/>
                <a:gd name="T8" fmla="*/ 14 w 21"/>
                <a:gd name="T9" fmla="*/ 0 h 14"/>
                <a:gd name="T10" fmla="*/ 14 w 21"/>
                <a:gd name="T11" fmla="*/ 3 h 14"/>
                <a:gd name="T12" fmla="*/ 0 w 21"/>
                <a:gd name="T13" fmla="*/ 3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"/>
                <a:gd name="T22" fmla="*/ 0 h 14"/>
                <a:gd name="T23" fmla="*/ 21 w 21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" h="14">
                  <a:moveTo>
                    <a:pt x="0" y="10"/>
                  </a:moveTo>
                  <a:lnTo>
                    <a:pt x="14" y="10"/>
                  </a:lnTo>
                  <a:lnTo>
                    <a:pt x="14" y="14"/>
                  </a:lnTo>
                  <a:lnTo>
                    <a:pt x="21" y="7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0" y="3"/>
                  </a:lnTo>
                </a:path>
              </a:pathLst>
            </a:custGeom>
            <a:noFill/>
            <a:ln w="158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9" name="Freeform 202"/>
            <p:cNvSpPr>
              <a:spLocks/>
            </p:cNvSpPr>
            <p:nvPr/>
          </p:nvSpPr>
          <p:spPr bwMode="auto">
            <a:xfrm>
              <a:off x="2544" y="2900"/>
              <a:ext cx="215" cy="113"/>
            </a:xfrm>
            <a:custGeom>
              <a:avLst/>
              <a:gdLst>
                <a:gd name="T0" fmla="*/ 0 w 21"/>
                <a:gd name="T1" fmla="*/ 11 h 14"/>
                <a:gd name="T2" fmla="*/ 14 w 21"/>
                <a:gd name="T3" fmla="*/ 11 h 14"/>
                <a:gd name="T4" fmla="*/ 14 w 21"/>
                <a:gd name="T5" fmla="*/ 14 h 14"/>
                <a:gd name="T6" fmla="*/ 21 w 21"/>
                <a:gd name="T7" fmla="*/ 7 h 14"/>
                <a:gd name="T8" fmla="*/ 14 w 21"/>
                <a:gd name="T9" fmla="*/ 0 h 14"/>
                <a:gd name="T10" fmla="*/ 14 w 21"/>
                <a:gd name="T11" fmla="*/ 4 h 14"/>
                <a:gd name="T12" fmla="*/ 0 w 21"/>
                <a:gd name="T13" fmla="*/ 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"/>
                <a:gd name="T22" fmla="*/ 0 h 14"/>
                <a:gd name="T23" fmla="*/ 21 w 21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" h="14">
                  <a:moveTo>
                    <a:pt x="0" y="11"/>
                  </a:moveTo>
                  <a:lnTo>
                    <a:pt x="14" y="11"/>
                  </a:lnTo>
                  <a:lnTo>
                    <a:pt x="14" y="14"/>
                  </a:lnTo>
                  <a:lnTo>
                    <a:pt x="21" y="7"/>
                  </a:lnTo>
                  <a:lnTo>
                    <a:pt x="14" y="0"/>
                  </a:lnTo>
                  <a:lnTo>
                    <a:pt x="14" y="4"/>
                  </a:lnTo>
                  <a:lnTo>
                    <a:pt x="0" y="4"/>
                  </a:lnTo>
                </a:path>
              </a:pathLst>
            </a:custGeom>
            <a:noFill/>
            <a:ln w="158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0" name="Freeform 203"/>
            <p:cNvSpPr>
              <a:spLocks/>
            </p:cNvSpPr>
            <p:nvPr/>
          </p:nvSpPr>
          <p:spPr bwMode="auto">
            <a:xfrm>
              <a:off x="2544" y="3301"/>
              <a:ext cx="215" cy="112"/>
            </a:xfrm>
            <a:custGeom>
              <a:avLst/>
              <a:gdLst>
                <a:gd name="T0" fmla="*/ 0 w 21"/>
                <a:gd name="T1" fmla="*/ 11 h 14"/>
                <a:gd name="T2" fmla="*/ 14 w 21"/>
                <a:gd name="T3" fmla="*/ 11 h 14"/>
                <a:gd name="T4" fmla="*/ 14 w 21"/>
                <a:gd name="T5" fmla="*/ 14 h 14"/>
                <a:gd name="T6" fmla="*/ 21 w 21"/>
                <a:gd name="T7" fmla="*/ 7 h 14"/>
                <a:gd name="T8" fmla="*/ 14 w 21"/>
                <a:gd name="T9" fmla="*/ 0 h 14"/>
                <a:gd name="T10" fmla="*/ 14 w 21"/>
                <a:gd name="T11" fmla="*/ 3 h 14"/>
                <a:gd name="T12" fmla="*/ 0 w 21"/>
                <a:gd name="T13" fmla="*/ 3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"/>
                <a:gd name="T22" fmla="*/ 0 h 14"/>
                <a:gd name="T23" fmla="*/ 21 w 21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" h="14">
                  <a:moveTo>
                    <a:pt x="0" y="11"/>
                  </a:moveTo>
                  <a:lnTo>
                    <a:pt x="14" y="11"/>
                  </a:lnTo>
                  <a:lnTo>
                    <a:pt x="14" y="14"/>
                  </a:lnTo>
                  <a:lnTo>
                    <a:pt x="21" y="7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0" y="3"/>
                  </a:lnTo>
                </a:path>
              </a:pathLst>
            </a:custGeom>
            <a:noFill/>
            <a:ln w="158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1" name="Freeform 204"/>
            <p:cNvSpPr>
              <a:spLocks/>
            </p:cNvSpPr>
            <p:nvPr/>
          </p:nvSpPr>
          <p:spPr bwMode="auto">
            <a:xfrm>
              <a:off x="2544" y="3685"/>
              <a:ext cx="215" cy="113"/>
            </a:xfrm>
            <a:custGeom>
              <a:avLst/>
              <a:gdLst>
                <a:gd name="T0" fmla="*/ 0 w 21"/>
                <a:gd name="T1" fmla="*/ 10 h 14"/>
                <a:gd name="T2" fmla="*/ 14 w 21"/>
                <a:gd name="T3" fmla="*/ 10 h 14"/>
                <a:gd name="T4" fmla="*/ 14 w 21"/>
                <a:gd name="T5" fmla="*/ 14 h 14"/>
                <a:gd name="T6" fmla="*/ 21 w 21"/>
                <a:gd name="T7" fmla="*/ 7 h 14"/>
                <a:gd name="T8" fmla="*/ 14 w 21"/>
                <a:gd name="T9" fmla="*/ 0 h 14"/>
                <a:gd name="T10" fmla="*/ 14 w 21"/>
                <a:gd name="T11" fmla="*/ 3 h 14"/>
                <a:gd name="T12" fmla="*/ 0 w 21"/>
                <a:gd name="T13" fmla="*/ 3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"/>
                <a:gd name="T22" fmla="*/ 0 h 14"/>
                <a:gd name="T23" fmla="*/ 21 w 21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" h="14">
                  <a:moveTo>
                    <a:pt x="0" y="10"/>
                  </a:moveTo>
                  <a:lnTo>
                    <a:pt x="14" y="10"/>
                  </a:lnTo>
                  <a:lnTo>
                    <a:pt x="14" y="14"/>
                  </a:lnTo>
                  <a:lnTo>
                    <a:pt x="21" y="7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0" y="3"/>
                  </a:lnTo>
                </a:path>
              </a:pathLst>
            </a:custGeom>
            <a:noFill/>
            <a:ln w="158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2" name="Rectangle 205"/>
            <p:cNvSpPr>
              <a:spLocks noChangeArrowheads="1"/>
            </p:cNvSpPr>
            <p:nvPr/>
          </p:nvSpPr>
          <p:spPr bwMode="auto">
            <a:xfrm>
              <a:off x="3138" y="3695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93" name="Rectangle 206"/>
            <p:cNvSpPr>
              <a:spLocks noChangeArrowheads="1"/>
            </p:cNvSpPr>
            <p:nvPr/>
          </p:nvSpPr>
          <p:spPr bwMode="auto">
            <a:xfrm>
              <a:off x="3138" y="3308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94" name="Rectangle 207"/>
            <p:cNvSpPr>
              <a:spLocks noChangeArrowheads="1"/>
            </p:cNvSpPr>
            <p:nvPr/>
          </p:nvSpPr>
          <p:spPr bwMode="auto">
            <a:xfrm>
              <a:off x="3138" y="2917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95" name="Rectangle 208"/>
            <p:cNvSpPr>
              <a:spLocks noChangeArrowheads="1"/>
            </p:cNvSpPr>
            <p:nvPr/>
          </p:nvSpPr>
          <p:spPr bwMode="auto">
            <a:xfrm>
              <a:off x="3138" y="2524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96" name="Rectangle 209"/>
            <p:cNvSpPr>
              <a:spLocks noChangeArrowheads="1"/>
            </p:cNvSpPr>
            <p:nvPr/>
          </p:nvSpPr>
          <p:spPr bwMode="auto">
            <a:xfrm>
              <a:off x="3138" y="2139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797" name="Rectangle 210"/>
            <p:cNvSpPr>
              <a:spLocks noChangeArrowheads="1"/>
            </p:cNvSpPr>
            <p:nvPr/>
          </p:nvSpPr>
          <p:spPr bwMode="auto">
            <a:xfrm>
              <a:off x="3138" y="1738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</p:grpSp>
      <p:grpSp>
        <p:nvGrpSpPr>
          <p:cNvPr id="3" name="Group 273"/>
          <p:cNvGrpSpPr>
            <a:grpSpLocks/>
          </p:cNvGrpSpPr>
          <p:nvPr/>
        </p:nvGrpSpPr>
        <p:grpSpPr bwMode="auto">
          <a:xfrm>
            <a:off x="4364038" y="1371600"/>
            <a:ext cx="1982787" cy="1187450"/>
            <a:chOff x="2749" y="864"/>
            <a:chExt cx="1249" cy="748"/>
          </a:xfrm>
        </p:grpSpPr>
        <p:sp>
          <p:nvSpPr>
            <p:cNvPr id="73799" name="Rectangle 27"/>
            <p:cNvSpPr>
              <a:spLocks noChangeArrowheads="1"/>
            </p:cNvSpPr>
            <p:nvPr/>
          </p:nvSpPr>
          <p:spPr bwMode="auto">
            <a:xfrm>
              <a:off x="3240" y="111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0" name="Rectangle 28"/>
            <p:cNvSpPr>
              <a:spLocks noChangeArrowheads="1"/>
            </p:cNvSpPr>
            <p:nvPr/>
          </p:nvSpPr>
          <p:spPr bwMode="auto">
            <a:xfrm>
              <a:off x="3240" y="87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0 1 0 0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1" name="Rectangle 29"/>
            <p:cNvSpPr>
              <a:spLocks noChangeArrowheads="1"/>
            </p:cNvSpPr>
            <p:nvPr/>
          </p:nvSpPr>
          <p:spPr bwMode="auto">
            <a:xfrm>
              <a:off x="3240" y="960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2" name="Line 30"/>
            <p:cNvSpPr>
              <a:spLocks noChangeShapeType="1"/>
            </p:cNvSpPr>
            <p:nvPr/>
          </p:nvSpPr>
          <p:spPr bwMode="auto">
            <a:xfrm flipH="1">
              <a:off x="3056" y="1072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3" name="Rectangle 31"/>
            <p:cNvSpPr>
              <a:spLocks noChangeArrowheads="1"/>
            </p:cNvSpPr>
            <p:nvPr/>
          </p:nvSpPr>
          <p:spPr bwMode="auto">
            <a:xfrm>
              <a:off x="3240" y="125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4" name="Rectangle 32"/>
            <p:cNvSpPr>
              <a:spLocks noChangeArrowheads="1"/>
            </p:cNvSpPr>
            <p:nvPr/>
          </p:nvSpPr>
          <p:spPr bwMode="auto">
            <a:xfrm>
              <a:off x="3240" y="1353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5" name="Rectangle 33"/>
            <p:cNvSpPr>
              <a:spLocks noChangeArrowheads="1"/>
            </p:cNvSpPr>
            <p:nvPr/>
          </p:nvSpPr>
          <p:spPr bwMode="auto">
            <a:xfrm>
              <a:off x="3240" y="149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0 1 0 0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6" name="Line 34"/>
            <p:cNvSpPr>
              <a:spLocks noChangeShapeType="1"/>
            </p:cNvSpPr>
            <p:nvPr/>
          </p:nvSpPr>
          <p:spPr bwMode="auto">
            <a:xfrm flipH="1">
              <a:off x="3056" y="1465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7" name="Rectangle 143"/>
            <p:cNvSpPr>
              <a:spLocks noChangeArrowheads="1"/>
            </p:cNvSpPr>
            <p:nvPr/>
          </p:nvSpPr>
          <p:spPr bwMode="auto">
            <a:xfrm>
              <a:off x="3895" y="968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6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8" name="Rectangle 144"/>
            <p:cNvSpPr>
              <a:spLocks noChangeArrowheads="1"/>
            </p:cNvSpPr>
            <p:nvPr/>
          </p:nvSpPr>
          <p:spPr bwMode="auto">
            <a:xfrm>
              <a:off x="3834" y="968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09" name="Rectangle 145"/>
            <p:cNvSpPr>
              <a:spLocks noChangeArrowheads="1"/>
            </p:cNvSpPr>
            <p:nvPr/>
          </p:nvSpPr>
          <p:spPr bwMode="auto">
            <a:xfrm>
              <a:off x="3803" y="968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0" name="Rectangle 146"/>
            <p:cNvSpPr>
              <a:spLocks noChangeArrowheads="1"/>
            </p:cNvSpPr>
            <p:nvPr/>
          </p:nvSpPr>
          <p:spPr bwMode="auto">
            <a:xfrm>
              <a:off x="3947" y="968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1" name="Rectangle 147"/>
            <p:cNvSpPr>
              <a:spLocks noChangeArrowheads="1"/>
            </p:cNvSpPr>
            <p:nvPr/>
          </p:nvSpPr>
          <p:spPr bwMode="auto">
            <a:xfrm>
              <a:off x="3895" y="1104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2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2" name="Rectangle 148"/>
            <p:cNvSpPr>
              <a:spLocks noChangeArrowheads="1"/>
            </p:cNvSpPr>
            <p:nvPr/>
          </p:nvSpPr>
          <p:spPr bwMode="auto">
            <a:xfrm>
              <a:off x="3834" y="110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3" name="Rectangle 149"/>
            <p:cNvSpPr>
              <a:spLocks noChangeArrowheads="1"/>
            </p:cNvSpPr>
            <p:nvPr/>
          </p:nvSpPr>
          <p:spPr bwMode="auto">
            <a:xfrm>
              <a:off x="3803" y="110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4" name="Rectangle 150"/>
            <p:cNvSpPr>
              <a:spLocks noChangeArrowheads="1"/>
            </p:cNvSpPr>
            <p:nvPr/>
          </p:nvSpPr>
          <p:spPr bwMode="auto">
            <a:xfrm>
              <a:off x="3947" y="110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5" name="Line 151"/>
            <p:cNvSpPr>
              <a:spLocks noChangeShapeType="1"/>
            </p:cNvSpPr>
            <p:nvPr/>
          </p:nvSpPr>
          <p:spPr bwMode="auto">
            <a:xfrm flipH="1">
              <a:off x="3711" y="1072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16" name="Rectangle 152"/>
            <p:cNvSpPr>
              <a:spLocks noChangeArrowheads="1"/>
            </p:cNvSpPr>
            <p:nvPr/>
          </p:nvSpPr>
          <p:spPr bwMode="auto">
            <a:xfrm>
              <a:off x="3875" y="864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4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7" name="Rectangle 153"/>
            <p:cNvSpPr>
              <a:spLocks noChangeArrowheads="1"/>
            </p:cNvSpPr>
            <p:nvPr/>
          </p:nvSpPr>
          <p:spPr bwMode="auto">
            <a:xfrm>
              <a:off x="3813" y="864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8" name="Rectangle 154"/>
            <p:cNvSpPr>
              <a:spLocks noChangeArrowheads="1"/>
            </p:cNvSpPr>
            <p:nvPr/>
          </p:nvSpPr>
          <p:spPr bwMode="auto">
            <a:xfrm>
              <a:off x="3773" y="86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19" name="Rectangle 155"/>
            <p:cNvSpPr>
              <a:spLocks noChangeArrowheads="1"/>
            </p:cNvSpPr>
            <p:nvPr/>
          </p:nvSpPr>
          <p:spPr bwMode="auto">
            <a:xfrm>
              <a:off x="3926" y="86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0" name="Rectangle 156"/>
            <p:cNvSpPr>
              <a:spLocks noChangeArrowheads="1"/>
            </p:cNvSpPr>
            <p:nvPr/>
          </p:nvSpPr>
          <p:spPr bwMode="auto">
            <a:xfrm>
              <a:off x="3875" y="1353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3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1" name="Rectangle 157"/>
            <p:cNvSpPr>
              <a:spLocks noChangeArrowheads="1"/>
            </p:cNvSpPr>
            <p:nvPr/>
          </p:nvSpPr>
          <p:spPr bwMode="auto">
            <a:xfrm>
              <a:off x="3824" y="135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2" name="Rectangle 158"/>
            <p:cNvSpPr>
              <a:spLocks noChangeArrowheads="1"/>
            </p:cNvSpPr>
            <p:nvPr/>
          </p:nvSpPr>
          <p:spPr bwMode="auto">
            <a:xfrm>
              <a:off x="3783" y="135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3" name="Rectangle 159"/>
            <p:cNvSpPr>
              <a:spLocks noChangeArrowheads="1"/>
            </p:cNvSpPr>
            <p:nvPr/>
          </p:nvSpPr>
          <p:spPr bwMode="auto">
            <a:xfrm>
              <a:off x="3926" y="135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4" name="Line 160"/>
            <p:cNvSpPr>
              <a:spLocks noChangeShapeType="1"/>
            </p:cNvSpPr>
            <p:nvPr/>
          </p:nvSpPr>
          <p:spPr bwMode="auto">
            <a:xfrm flipH="1">
              <a:off x="3711" y="1465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25" name="Rectangle 161"/>
            <p:cNvSpPr>
              <a:spLocks noChangeArrowheads="1"/>
            </p:cNvSpPr>
            <p:nvPr/>
          </p:nvSpPr>
          <p:spPr bwMode="auto">
            <a:xfrm>
              <a:off x="3875" y="1497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4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6" name="Rectangle 162"/>
            <p:cNvSpPr>
              <a:spLocks noChangeArrowheads="1"/>
            </p:cNvSpPr>
            <p:nvPr/>
          </p:nvSpPr>
          <p:spPr bwMode="auto">
            <a:xfrm>
              <a:off x="3813" y="1497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7" name="Rectangle 163"/>
            <p:cNvSpPr>
              <a:spLocks noChangeArrowheads="1"/>
            </p:cNvSpPr>
            <p:nvPr/>
          </p:nvSpPr>
          <p:spPr bwMode="auto">
            <a:xfrm>
              <a:off x="3773" y="149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8" name="Rectangle 164"/>
            <p:cNvSpPr>
              <a:spLocks noChangeArrowheads="1"/>
            </p:cNvSpPr>
            <p:nvPr/>
          </p:nvSpPr>
          <p:spPr bwMode="auto">
            <a:xfrm>
              <a:off x="3926" y="149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29" name="Rectangle 165"/>
            <p:cNvSpPr>
              <a:spLocks noChangeArrowheads="1"/>
            </p:cNvSpPr>
            <p:nvPr/>
          </p:nvSpPr>
          <p:spPr bwMode="auto">
            <a:xfrm>
              <a:off x="3875" y="1249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7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0" name="Rectangle 166"/>
            <p:cNvSpPr>
              <a:spLocks noChangeArrowheads="1"/>
            </p:cNvSpPr>
            <p:nvPr/>
          </p:nvSpPr>
          <p:spPr bwMode="auto">
            <a:xfrm>
              <a:off x="3813" y="1249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1" name="Rectangle 167"/>
            <p:cNvSpPr>
              <a:spLocks noChangeArrowheads="1"/>
            </p:cNvSpPr>
            <p:nvPr/>
          </p:nvSpPr>
          <p:spPr bwMode="auto">
            <a:xfrm>
              <a:off x="3773" y="124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2" name="Rectangle 168"/>
            <p:cNvSpPr>
              <a:spLocks noChangeArrowheads="1"/>
            </p:cNvSpPr>
            <p:nvPr/>
          </p:nvSpPr>
          <p:spPr bwMode="auto">
            <a:xfrm>
              <a:off x="3926" y="124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3" name="Rectangle 211"/>
            <p:cNvSpPr>
              <a:spLocks noChangeArrowheads="1"/>
            </p:cNvSpPr>
            <p:nvPr/>
          </p:nvSpPr>
          <p:spPr bwMode="auto">
            <a:xfrm>
              <a:off x="3138" y="1353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4" name="Rectangle 212"/>
            <p:cNvSpPr>
              <a:spLocks noChangeArrowheads="1"/>
            </p:cNvSpPr>
            <p:nvPr/>
          </p:nvSpPr>
          <p:spPr bwMode="auto">
            <a:xfrm>
              <a:off x="3138" y="960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5" name="Rectangle 223"/>
            <p:cNvSpPr>
              <a:spLocks noChangeArrowheads="1"/>
            </p:cNvSpPr>
            <p:nvPr/>
          </p:nvSpPr>
          <p:spPr bwMode="auto">
            <a:xfrm>
              <a:off x="2749" y="872"/>
              <a:ext cx="11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(b)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6" name="Rectangle 224"/>
            <p:cNvSpPr>
              <a:spLocks noChangeArrowheads="1"/>
            </p:cNvSpPr>
            <p:nvPr/>
          </p:nvSpPr>
          <p:spPr bwMode="auto">
            <a:xfrm>
              <a:off x="2749" y="1257"/>
              <a:ext cx="11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(d)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</p:grpSp>
      <p:grpSp>
        <p:nvGrpSpPr>
          <p:cNvPr id="4" name="Group 272"/>
          <p:cNvGrpSpPr>
            <a:grpSpLocks/>
          </p:cNvGrpSpPr>
          <p:nvPr/>
        </p:nvGrpSpPr>
        <p:grpSpPr bwMode="auto">
          <a:xfrm>
            <a:off x="1600200" y="1384300"/>
            <a:ext cx="1982788" cy="4675188"/>
            <a:chOff x="1008" y="872"/>
            <a:chExt cx="1249" cy="2945"/>
          </a:xfrm>
        </p:grpSpPr>
        <p:sp>
          <p:nvSpPr>
            <p:cNvPr id="73838" name="Rectangle 5"/>
            <p:cNvSpPr>
              <a:spLocks noChangeArrowheads="1"/>
            </p:cNvSpPr>
            <p:nvPr/>
          </p:nvSpPr>
          <p:spPr bwMode="auto">
            <a:xfrm>
              <a:off x="1499" y="125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39" name="Rectangle 6"/>
            <p:cNvSpPr>
              <a:spLocks noChangeArrowheads="1"/>
            </p:cNvSpPr>
            <p:nvPr/>
          </p:nvSpPr>
          <p:spPr bwMode="auto">
            <a:xfrm>
              <a:off x="1499" y="1353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0" name="Rectangle 7"/>
            <p:cNvSpPr>
              <a:spLocks noChangeArrowheads="1"/>
            </p:cNvSpPr>
            <p:nvPr/>
          </p:nvSpPr>
          <p:spPr bwMode="auto">
            <a:xfrm>
              <a:off x="1499" y="149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1" name="Rectangle 8"/>
            <p:cNvSpPr>
              <a:spLocks noChangeArrowheads="1"/>
            </p:cNvSpPr>
            <p:nvPr/>
          </p:nvSpPr>
          <p:spPr bwMode="auto">
            <a:xfrm>
              <a:off x="1499" y="164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2" name="Rectangle 9"/>
            <p:cNvSpPr>
              <a:spLocks noChangeArrowheads="1"/>
            </p:cNvSpPr>
            <p:nvPr/>
          </p:nvSpPr>
          <p:spPr bwMode="auto">
            <a:xfrm>
              <a:off x="1499" y="1739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3" name="Rectangle 10"/>
            <p:cNvSpPr>
              <a:spLocks noChangeArrowheads="1"/>
            </p:cNvSpPr>
            <p:nvPr/>
          </p:nvSpPr>
          <p:spPr bwMode="auto">
            <a:xfrm>
              <a:off x="1499" y="2035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4" name="Rectangle 11"/>
            <p:cNvSpPr>
              <a:spLocks noChangeArrowheads="1"/>
            </p:cNvSpPr>
            <p:nvPr/>
          </p:nvSpPr>
          <p:spPr bwMode="auto">
            <a:xfrm>
              <a:off x="1499" y="2131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0 1 0 0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5" name="Rectangle 12"/>
            <p:cNvSpPr>
              <a:spLocks noChangeArrowheads="1"/>
            </p:cNvSpPr>
            <p:nvPr/>
          </p:nvSpPr>
          <p:spPr bwMode="auto">
            <a:xfrm>
              <a:off x="1499" y="242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6" name="Rectangle 13"/>
            <p:cNvSpPr>
              <a:spLocks noChangeArrowheads="1"/>
            </p:cNvSpPr>
            <p:nvPr/>
          </p:nvSpPr>
          <p:spPr bwMode="auto">
            <a:xfrm>
              <a:off x="1499" y="2523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7" name="Rectangle 14"/>
            <p:cNvSpPr>
              <a:spLocks noChangeArrowheads="1"/>
            </p:cNvSpPr>
            <p:nvPr/>
          </p:nvSpPr>
          <p:spPr bwMode="auto">
            <a:xfrm>
              <a:off x="1499" y="2821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8" name="Rectangle 15"/>
            <p:cNvSpPr>
              <a:spLocks noChangeArrowheads="1"/>
            </p:cNvSpPr>
            <p:nvPr/>
          </p:nvSpPr>
          <p:spPr bwMode="auto">
            <a:xfrm>
              <a:off x="1499" y="2917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49" name="Rectangle 16"/>
            <p:cNvSpPr>
              <a:spLocks noChangeArrowheads="1"/>
            </p:cNvSpPr>
            <p:nvPr/>
          </p:nvSpPr>
          <p:spPr bwMode="auto">
            <a:xfrm>
              <a:off x="1499" y="3204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1 0 0 1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50" name="Rectangle 17"/>
            <p:cNvSpPr>
              <a:spLocks noChangeArrowheads="1"/>
            </p:cNvSpPr>
            <p:nvPr/>
          </p:nvSpPr>
          <p:spPr bwMode="auto">
            <a:xfrm>
              <a:off x="1499" y="3301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51" name="Rectangle 18"/>
            <p:cNvSpPr>
              <a:spLocks noChangeArrowheads="1"/>
            </p:cNvSpPr>
            <p:nvPr/>
          </p:nvSpPr>
          <p:spPr bwMode="auto">
            <a:xfrm>
              <a:off x="1499" y="3598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52" name="Rectangle 19"/>
            <p:cNvSpPr>
              <a:spLocks noChangeArrowheads="1"/>
            </p:cNvSpPr>
            <p:nvPr/>
          </p:nvSpPr>
          <p:spPr bwMode="auto">
            <a:xfrm>
              <a:off x="1499" y="3694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53" name="Line 20"/>
            <p:cNvSpPr>
              <a:spLocks noChangeShapeType="1"/>
            </p:cNvSpPr>
            <p:nvPr/>
          </p:nvSpPr>
          <p:spPr bwMode="auto">
            <a:xfrm flipH="1">
              <a:off x="1305" y="1465"/>
              <a:ext cx="5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54" name="Line 21"/>
            <p:cNvSpPr>
              <a:spLocks noChangeShapeType="1"/>
            </p:cNvSpPr>
            <p:nvPr/>
          </p:nvSpPr>
          <p:spPr bwMode="auto">
            <a:xfrm flipH="1">
              <a:off x="1305" y="1858"/>
              <a:ext cx="5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55" name="Line 22"/>
            <p:cNvSpPr>
              <a:spLocks noChangeShapeType="1"/>
            </p:cNvSpPr>
            <p:nvPr/>
          </p:nvSpPr>
          <p:spPr bwMode="auto">
            <a:xfrm flipH="1">
              <a:off x="1305" y="2251"/>
              <a:ext cx="5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56" name="Line 23"/>
            <p:cNvSpPr>
              <a:spLocks noChangeShapeType="1"/>
            </p:cNvSpPr>
            <p:nvPr/>
          </p:nvSpPr>
          <p:spPr bwMode="auto">
            <a:xfrm flipH="1">
              <a:off x="1305" y="2635"/>
              <a:ext cx="5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57" name="Line 24"/>
            <p:cNvSpPr>
              <a:spLocks noChangeShapeType="1"/>
            </p:cNvSpPr>
            <p:nvPr/>
          </p:nvSpPr>
          <p:spPr bwMode="auto">
            <a:xfrm flipH="1">
              <a:off x="1305" y="3028"/>
              <a:ext cx="5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58" name="Line 25"/>
            <p:cNvSpPr>
              <a:spLocks noChangeShapeType="1"/>
            </p:cNvSpPr>
            <p:nvPr/>
          </p:nvSpPr>
          <p:spPr bwMode="auto">
            <a:xfrm flipH="1">
              <a:off x="1305" y="3421"/>
              <a:ext cx="5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59" name="Line 26"/>
            <p:cNvSpPr>
              <a:spLocks noChangeShapeType="1"/>
            </p:cNvSpPr>
            <p:nvPr/>
          </p:nvSpPr>
          <p:spPr bwMode="auto">
            <a:xfrm flipH="1">
              <a:off x="1305" y="3806"/>
              <a:ext cx="5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60" name="Rectangle 59"/>
            <p:cNvSpPr>
              <a:spLocks noChangeArrowheads="1"/>
            </p:cNvSpPr>
            <p:nvPr/>
          </p:nvSpPr>
          <p:spPr bwMode="auto">
            <a:xfrm>
              <a:off x="1499" y="111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0 1 0 1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61" name="Rectangle 60"/>
            <p:cNvSpPr>
              <a:spLocks noChangeArrowheads="1"/>
            </p:cNvSpPr>
            <p:nvPr/>
          </p:nvSpPr>
          <p:spPr bwMode="auto">
            <a:xfrm>
              <a:off x="1499" y="872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62" name="Rectangle 61"/>
            <p:cNvSpPr>
              <a:spLocks noChangeArrowheads="1"/>
            </p:cNvSpPr>
            <p:nvPr/>
          </p:nvSpPr>
          <p:spPr bwMode="auto">
            <a:xfrm>
              <a:off x="1499" y="960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0 0 1 1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63" name="Line 62"/>
            <p:cNvSpPr>
              <a:spLocks noChangeShapeType="1"/>
            </p:cNvSpPr>
            <p:nvPr/>
          </p:nvSpPr>
          <p:spPr bwMode="auto">
            <a:xfrm flipH="1">
              <a:off x="1305" y="1072"/>
              <a:ext cx="5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64" name="Line 63"/>
            <p:cNvSpPr>
              <a:spLocks noChangeShapeType="1"/>
            </p:cNvSpPr>
            <p:nvPr/>
          </p:nvSpPr>
          <p:spPr bwMode="auto">
            <a:xfrm flipH="1">
              <a:off x="1970" y="1072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65" name="Rectangle 64"/>
            <p:cNvSpPr>
              <a:spLocks noChangeArrowheads="1"/>
            </p:cNvSpPr>
            <p:nvPr/>
          </p:nvSpPr>
          <p:spPr bwMode="auto">
            <a:xfrm>
              <a:off x="2155" y="1257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5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66" name="Rectangle 65"/>
            <p:cNvSpPr>
              <a:spLocks noChangeArrowheads="1"/>
            </p:cNvSpPr>
            <p:nvPr/>
          </p:nvSpPr>
          <p:spPr bwMode="auto">
            <a:xfrm>
              <a:off x="2093" y="125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67" name="Rectangle 66"/>
            <p:cNvSpPr>
              <a:spLocks noChangeArrowheads="1"/>
            </p:cNvSpPr>
            <p:nvPr/>
          </p:nvSpPr>
          <p:spPr bwMode="auto">
            <a:xfrm>
              <a:off x="2063" y="125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68" name="Rectangle 67"/>
            <p:cNvSpPr>
              <a:spLocks noChangeArrowheads="1"/>
            </p:cNvSpPr>
            <p:nvPr/>
          </p:nvSpPr>
          <p:spPr bwMode="auto">
            <a:xfrm>
              <a:off x="2206" y="125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69" name="Rectangle 68"/>
            <p:cNvSpPr>
              <a:spLocks noChangeArrowheads="1"/>
            </p:cNvSpPr>
            <p:nvPr/>
          </p:nvSpPr>
          <p:spPr bwMode="auto">
            <a:xfrm>
              <a:off x="2134" y="872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2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0" name="Rectangle 69"/>
            <p:cNvSpPr>
              <a:spLocks noChangeArrowheads="1"/>
            </p:cNvSpPr>
            <p:nvPr/>
          </p:nvSpPr>
          <p:spPr bwMode="auto">
            <a:xfrm>
              <a:off x="2073" y="872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1" name="Rectangle 70"/>
            <p:cNvSpPr>
              <a:spLocks noChangeArrowheads="1"/>
            </p:cNvSpPr>
            <p:nvPr/>
          </p:nvSpPr>
          <p:spPr bwMode="auto">
            <a:xfrm>
              <a:off x="2032" y="87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2" name="Rectangle 71"/>
            <p:cNvSpPr>
              <a:spLocks noChangeArrowheads="1"/>
            </p:cNvSpPr>
            <p:nvPr/>
          </p:nvSpPr>
          <p:spPr bwMode="auto">
            <a:xfrm>
              <a:off x="2185" y="87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3" name="Rectangle 72"/>
            <p:cNvSpPr>
              <a:spLocks noChangeArrowheads="1"/>
            </p:cNvSpPr>
            <p:nvPr/>
          </p:nvSpPr>
          <p:spPr bwMode="auto">
            <a:xfrm>
              <a:off x="2134" y="960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3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4" name="Rectangle 73"/>
            <p:cNvSpPr>
              <a:spLocks noChangeArrowheads="1"/>
            </p:cNvSpPr>
            <p:nvPr/>
          </p:nvSpPr>
          <p:spPr bwMode="auto">
            <a:xfrm>
              <a:off x="2073" y="960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5" name="Rectangle 74"/>
            <p:cNvSpPr>
              <a:spLocks noChangeArrowheads="1"/>
            </p:cNvSpPr>
            <p:nvPr/>
          </p:nvSpPr>
          <p:spPr bwMode="auto">
            <a:xfrm>
              <a:off x="2032" y="95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6" name="Rectangle 75"/>
            <p:cNvSpPr>
              <a:spLocks noChangeArrowheads="1"/>
            </p:cNvSpPr>
            <p:nvPr/>
          </p:nvSpPr>
          <p:spPr bwMode="auto">
            <a:xfrm>
              <a:off x="2185" y="95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7" name="Rectangle 76"/>
            <p:cNvSpPr>
              <a:spLocks noChangeArrowheads="1"/>
            </p:cNvSpPr>
            <p:nvPr/>
          </p:nvSpPr>
          <p:spPr bwMode="auto">
            <a:xfrm>
              <a:off x="2134" y="1112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5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8" name="Rectangle 77"/>
            <p:cNvSpPr>
              <a:spLocks noChangeArrowheads="1"/>
            </p:cNvSpPr>
            <p:nvPr/>
          </p:nvSpPr>
          <p:spPr bwMode="auto">
            <a:xfrm>
              <a:off x="2073" y="1112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79" name="Rectangle 78"/>
            <p:cNvSpPr>
              <a:spLocks noChangeArrowheads="1"/>
            </p:cNvSpPr>
            <p:nvPr/>
          </p:nvSpPr>
          <p:spPr bwMode="auto">
            <a:xfrm>
              <a:off x="2032" y="111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0" name="Rectangle 79"/>
            <p:cNvSpPr>
              <a:spLocks noChangeArrowheads="1"/>
            </p:cNvSpPr>
            <p:nvPr/>
          </p:nvSpPr>
          <p:spPr bwMode="auto">
            <a:xfrm>
              <a:off x="2185" y="111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1" name="Line 80"/>
            <p:cNvSpPr>
              <a:spLocks noChangeShapeType="1"/>
            </p:cNvSpPr>
            <p:nvPr/>
          </p:nvSpPr>
          <p:spPr bwMode="auto">
            <a:xfrm flipH="1">
              <a:off x="1970" y="2251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82" name="Rectangle 81"/>
            <p:cNvSpPr>
              <a:spLocks noChangeArrowheads="1"/>
            </p:cNvSpPr>
            <p:nvPr/>
          </p:nvSpPr>
          <p:spPr bwMode="auto">
            <a:xfrm>
              <a:off x="2134" y="2042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2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3" name="Rectangle 82"/>
            <p:cNvSpPr>
              <a:spLocks noChangeArrowheads="1"/>
            </p:cNvSpPr>
            <p:nvPr/>
          </p:nvSpPr>
          <p:spPr bwMode="auto">
            <a:xfrm>
              <a:off x="2073" y="2042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4" name="Rectangle 83"/>
            <p:cNvSpPr>
              <a:spLocks noChangeArrowheads="1"/>
            </p:cNvSpPr>
            <p:nvPr/>
          </p:nvSpPr>
          <p:spPr bwMode="auto">
            <a:xfrm>
              <a:off x="2032" y="204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5" name="Rectangle 84"/>
            <p:cNvSpPr>
              <a:spLocks noChangeArrowheads="1"/>
            </p:cNvSpPr>
            <p:nvPr/>
          </p:nvSpPr>
          <p:spPr bwMode="auto">
            <a:xfrm>
              <a:off x="2185" y="204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6" name="Rectangle 85"/>
            <p:cNvSpPr>
              <a:spLocks noChangeArrowheads="1"/>
            </p:cNvSpPr>
            <p:nvPr/>
          </p:nvSpPr>
          <p:spPr bwMode="auto">
            <a:xfrm>
              <a:off x="2145" y="2131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4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7" name="Rectangle 86"/>
            <p:cNvSpPr>
              <a:spLocks noChangeArrowheads="1"/>
            </p:cNvSpPr>
            <p:nvPr/>
          </p:nvSpPr>
          <p:spPr bwMode="auto">
            <a:xfrm>
              <a:off x="2073" y="2131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8" name="Rectangle 87"/>
            <p:cNvSpPr>
              <a:spLocks noChangeArrowheads="1"/>
            </p:cNvSpPr>
            <p:nvPr/>
          </p:nvSpPr>
          <p:spPr bwMode="auto">
            <a:xfrm>
              <a:off x="2032" y="212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89" name="Rectangle 88"/>
            <p:cNvSpPr>
              <a:spLocks noChangeArrowheads="1"/>
            </p:cNvSpPr>
            <p:nvPr/>
          </p:nvSpPr>
          <p:spPr bwMode="auto">
            <a:xfrm>
              <a:off x="2185" y="212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0" name="Rectangle 89"/>
            <p:cNvSpPr>
              <a:spLocks noChangeArrowheads="1"/>
            </p:cNvSpPr>
            <p:nvPr/>
          </p:nvSpPr>
          <p:spPr bwMode="auto">
            <a:xfrm>
              <a:off x="2155" y="1353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2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1" name="Rectangle 90"/>
            <p:cNvSpPr>
              <a:spLocks noChangeArrowheads="1"/>
            </p:cNvSpPr>
            <p:nvPr/>
          </p:nvSpPr>
          <p:spPr bwMode="auto">
            <a:xfrm>
              <a:off x="2093" y="135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2" name="Rectangle 91"/>
            <p:cNvSpPr>
              <a:spLocks noChangeArrowheads="1"/>
            </p:cNvSpPr>
            <p:nvPr/>
          </p:nvSpPr>
          <p:spPr bwMode="auto">
            <a:xfrm>
              <a:off x="2063" y="135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3" name="Rectangle 92"/>
            <p:cNvSpPr>
              <a:spLocks noChangeArrowheads="1"/>
            </p:cNvSpPr>
            <p:nvPr/>
          </p:nvSpPr>
          <p:spPr bwMode="auto">
            <a:xfrm>
              <a:off x="2196" y="135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4" name="Rectangle 93"/>
            <p:cNvSpPr>
              <a:spLocks noChangeArrowheads="1"/>
            </p:cNvSpPr>
            <p:nvPr/>
          </p:nvSpPr>
          <p:spPr bwMode="auto">
            <a:xfrm>
              <a:off x="2155" y="1497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7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5" name="Rectangle 94"/>
            <p:cNvSpPr>
              <a:spLocks noChangeArrowheads="1"/>
            </p:cNvSpPr>
            <p:nvPr/>
          </p:nvSpPr>
          <p:spPr bwMode="auto">
            <a:xfrm>
              <a:off x="2093" y="149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6" name="Rectangle 95"/>
            <p:cNvSpPr>
              <a:spLocks noChangeArrowheads="1"/>
            </p:cNvSpPr>
            <p:nvPr/>
          </p:nvSpPr>
          <p:spPr bwMode="auto">
            <a:xfrm>
              <a:off x="2063" y="149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7" name="Rectangle 96"/>
            <p:cNvSpPr>
              <a:spLocks noChangeArrowheads="1"/>
            </p:cNvSpPr>
            <p:nvPr/>
          </p:nvSpPr>
          <p:spPr bwMode="auto">
            <a:xfrm>
              <a:off x="2196" y="149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898" name="Line 97"/>
            <p:cNvSpPr>
              <a:spLocks noChangeShapeType="1"/>
            </p:cNvSpPr>
            <p:nvPr/>
          </p:nvSpPr>
          <p:spPr bwMode="auto">
            <a:xfrm flipH="1">
              <a:off x="1970" y="1465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99" name="Rectangle 98"/>
            <p:cNvSpPr>
              <a:spLocks noChangeArrowheads="1"/>
            </p:cNvSpPr>
            <p:nvPr/>
          </p:nvSpPr>
          <p:spPr bwMode="auto">
            <a:xfrm>
              <a:off x="2155" y="1649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3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0" name="Rectangle 99"/>
            <p:cNvSpPr>
              <a:spLocks noChangeArrowheads="1"/>
            </p:cNvSpPr>
            <p:nvPr/>
          </p:nvSpPr>
          <p:spPr bwMode="auto">
            <a:xfrm>
              <a:off x="2093" y="1649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1" name="Rectangle 100"/>
            <p:cNvSpPr>
              <a:spLocks noChangeArrowheads="1"/>
            </p:cNvSpPr>
            <p:nvPr/>
          </p:nvSpPr>
          <p:spPr bwMode="auto">
            <a:xfrm>
              <a:off x="2063" y="1649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2" name="Rectangle 101"/>
            <p:cNvSpPr>
              <a:spLocks noChangeArrowheads="1"/>
            </p:cNvSpPr>
            <p:nvPr/>
          </p:nvSpPr>
          <p:spPr bwMode="auto">
            <a:xfrm>
              <a:off x="2206" y="1649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3" name="Rectangle 102"/>
            <p:cNvSpPr>
              <a:spLocks noChangeArrowheads="1"/>
            </p:cNvSpPr>
            <p:nvPr/>
          </p:nvSpPr>
          <p:spPr bwMode="auto">
            <a:xfrm>
              <a:off x="2145" y="1746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7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4" name="Rectangle 103"/>
            <p:cNvSpPr>
              <a:spLocks noChangeArrowheads="1"/>
            </p:cNvSpPr>
            <p:nvPr/>
          </p:nvSpPr>
          <p:spPr bwMode="auto">
            <a:xfrm>
              <a:off x="2093" y="1746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5" name="Rectangle 104"/>
            <p:cNvSpPr>
              <a:spLocks noChangeArrowheads="1"/>
            </p:cNvSpPr>
            <p:nvPr/>
          </p:nvSpPr>
          <p:spPr bwMode="auto">
            <a:xfrm>
              <a:off x="2063" y="1746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6" name="Rectangle 105"/>
            <p:cNvSpPr>
              <a:spLocks noChangeArrowheads="1"/>
            </p:cNvSpPr>
            <p:nvPr/>
          </p:nvSpPr>
          <p:spPr bwMode="auto">
            <a:xfrm>
              <a:off x="2196" y="1746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07" name="Line 106"/>
            <p:cNvSpPr>
              <a:spLocks noChangeShapeType="1"/>
            </p:cNvSpPr>
            <p:nvPr/>
          </p:nvSpPr>
          <p:spPr bwMode="auto">
            <a:xfrm flipH="1">
              <a:off x="1970" y="1858"/>
              <a:ext cx="2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908" name="Line 107"/>
            <p:cNvSpPr>
              <a:spLocks noChangeShapeType="1"/>
            </p:cNvSpPr>
            <p:nvPr/>
          </p:nvSpPr>
          <p:spPr bwMode="auto">
            <a:xfrm flipH="1">
              <a:off x="1970" y="2635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909" name="Rectangle 108"/>
            <p:cNvSpPr>
              <a:spLocks noChangeArrowheads="1"/>
            </p:cNvSpPr>
            <p:nvPr/>
          </p:nvSpPr>
          <p:spPr bwMode="auto">
            <a:xfrm>
              <a:off x="2134" y="2436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6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0" name="Rectangle 109"/>
            <p:cNvSpPr>
              <a:spLocks noChangeArrowheads="1"/>
            </p:cNvSpPr>
            <p:nvPr/>
          </p:nvSpPr>
          <p:spPr bwMode="auto">
            <a:xfrm>
              <a:off x="2073" y="2436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1" name="Rectangle 110"/>
            <p:cNvSpPr>
              <a:spLocks noChangeArrowheads="1"/>
            </p:cNvSpPr>
            <p:nvPr/>
          </p:nvSpPr>
          <p:spPr bwMode="auto">
            <a:xfrm>
              <a:off x="2032" y="2436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2" name="Rectangle 111"/>
            <p:cNvSpPr>
              <a:spLocks noChangeArrowheads="1"/>
            </p:cNvSpPr>
            <p:nvPr/>
          </p:nvSpPr>
          <p:spPr bwMode="auto">
            <a:xfrm>
              <a:off x="2185" y="2436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3" name="Rectangle 112"/>
            <p:cNvSpPr>
              <a:spLocks noChangeArrowheads="1"/>
            </p:cNvSpPr>
            <p:nvPr/>
          </p:nvSpPr>
          <p:spPr bwMode="auto">
            <a:xfrm>
              <a:off x="2134" y="2515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3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4" name="Rectangle 113"/>
            <p:cNvSpPr>
              <a:spLocks noChangeArrowheads="1"/>
            </p:cNvSpPr>
            <p:nvPr/>
          </p:nvSpPr>
          <p:spPr bwMode="auto">
            <a:xfrm>
              <a:off x="2073" y="2515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5" name="Rectangle 114"/>
            <p:cNvSpPr>
              <a:spLocks noChangeArrowheads="1"/>
            </p:cNvSpPr>
            <p:nvPr/>
          </p:nvSpPr>
          <p:spPr bwMode="auto">
            <a:xfrm>
              <a:off x="2032" y="2515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6" name="Rectangle 115"/>
            <p:cNvSpPr>
              <a:spLocks noChangeArrowheads="1"/>
            </p:cNvSpPr>
            <p:nvPr/>
          </p:nvSpPr>
          <p:spPr bwMode="auto">
            <a:xfrm>
              <a:off x="2185" y="2515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7" name="Rectangle 116"/>
            <p:cNvSpPr>
              <a:spLocks noChangeArrowheads="1"/>
            </p:cNvSpPr>
            <p:nvPr/>
          </p:nvSpPr>
          <p:spPr bwMode="auto">
            <a:xfrm>
              <a:off x="2134" y="3301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8" name="Rectangle 117"/>
            <p:cNvSpPr>
              <a:spLocks noChangeArrowheads="1"/>
            </p:cNvSpPr>
            <p:nvPr/>
          </p:nvSpPr>
          <p:spPr bwMode="auto">
            <a:xfrm>
              <a:off x="2073" y="3301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19" name="Rectangle 118"/>
            <p:cNvSpPr>
              <a:spLocks noChangeArrowheads="1"/>
            </p:cNvSpPr>
            <p:nvPr/>
          </p:nvSpPr>
          <p:spPr bwMode="auto">
            <a:xfrm>
              <a:off x="2032" y="330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0" name="Rectangle 119"/>
            <p:cNvSpPr>
              <a:spLocks noChangeArrowheads="1"/>
            </p:cNvSpPr>
            <p:nvPr/>
          </p:nvSpPr>
          <p:spPr bwMode="auto">
            <a:xfrm>
              <a:off x="2185" y="330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1" name="Rectangle 120"/>
            <p:cNvSpPr>
              <a:spLocks noChangeArrowheads="1"/>
            </p:cNvSpPr>
            <p:nvPr/>
          </p:nvSpPr>
          <p:spPr bwMode="auto">
            <a:xfrm>
              <a:off x="2134" y="2821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7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2" name="Rectangle 121"/>
            <p:cNvSpPr>
              <a:spLocks noChangeArrowheads="1"/>
            </p:cNvSpPr>
            <p:nvPr/>
          </p:nvSpPr>
          <p:spPr bwMode="auto">
            <a:xfrm>
              <a:off x="2083" y="282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3" name="Rectangle 122"/>
            <p:cNvSpPr>
              <a:spLocks noChangeArrowheads="1"/>
            </p:cNvSpPr>
            <p:nvPr/>
          </p:nvSpPr>
          <p:spPr bwMode="auto">
            <a:xfrm>
              <a:off x="2042" y="282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4" name="Rectangle 123"/>
            <p:cNvSpPr>
              <a:spLocks noChangeArrowheads="1"/>
            </p:cNvSpPr>
            <p:nvPr/>
          </p:nvSpPr>
          <p:spPr bwMode="auto">
            <a:xfrm>
              <a:off x="2185" y="282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5" name="Rectangle 124"/>
            <p:cNvSpPr>
              <a:spLocks noChangeArrowheads="1"/>
            </p:cNvSpPr>
            <p:nvPr/>
          </p:nvSpPr>
          <p:spPr bwMode="auto">
            <a:xfrm>
              <a:off x="2155" y="2917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5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6" name="Rectangle 125"/>
            <p:cNvSpPr>
              <a:spLocks noChangeArrowheads="1"/>
            </p:cNvSpPr>
            <p:nvPr/>
          </p:nvSpPr>
          <p:spPr bwMode="auto">
            <a:xfrm>
              <a:off x="2093" y="291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7" name="Rectangle 126"/>
            <p:cNvSpPr>
              <a:spLocks noChangeArrowheads="1"/>
            </p:cNvSpPr>
            <p:nvPr/>
          </p:nvSpPr>
          <p:spPr bwMode="auto">
            <a:xfrm>
              <a:off x="2063" y="291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8" name="Rectangle 127"/>
            <p:cNvSpPr>
              <a:spLocks noChangeArrowheads="1"/>
            </p:cNvSpPr>
            <p:nvPr/>
          </p:nvSpPr>
          <p:spPr bwMode="auto">
            <a:xfrm>
              <a:off x="2196" y="291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29" name="Line 128"/>
            <p:cNvSpPr>
              <a:spLocks noChangeShapeType="1"/>
            </p:cNvSpPr>
            <p:nvPr/>
          </p:nvSpPr>
          <p:spPr bwMode="auto">
            <a:xfrm flipH="1">
              <a:off x="1970" y="3028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930" name="Rectangle 129"/>
            <p:cNvSpPr>
              <a:spLocks noChangeArrowheads="1"/>
            </p:cNvSpPr>
            <p:nvPr/>
          </p:nvSpPr>
          <p:spPr bwMode="auto">
            <a:xfrm>
              <a:off x="2155" y="3213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7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31" name="Rectangle 130"/>
            <p:cNvSpPr>
              <a:spLocks noChangeArrowheads="1"/>
            </p:cNvSpPr>
            <p:nvPr/>
          </p:nvSpPr>
          <p:spPr bwMode="auto">
            <a:xfrm>
              <a:off x="2093" y="321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32" name="Rectangle 131"/>
            <p:cNvSpPr>
              <a:spLocks noChangeArrowheads="1"/>
            </p:cNvSpPr>
            <p:nvPr/>
          </p:nvSpPr>
          <p:spPr bwMode="auto">
            <a:xfrm>
              <a:off x="2063" y="321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33" name="Rectangle 132"/>
            <p:cNvSpPr>
              <a:spLocks noChangeArrowheads="1"/>
            </p:cNvSpPr>
            <p:nvPr/>
          </p:nvSpPr>
          <p:spPr bwMode="auto">
            <a:xfrm>
              <a:off x="2206" y="3213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34" name="Line 133"/>
            <p:cNvSpPr>
              <a:spLocks noChangeShapeType="1"/>
            </p:cNvSpPr>
            <p:nvPr/>
          </p:nvSpPr>
          <p:spPr bwMode="auto">
            <a:xfrm flipH="1">
              <a:off x="1970" y="3421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935" name="Line 134"/>
            <p:cNvSpPr>
              <a:spLocks noChangeShapeType="1"/>
            </p:cNvSpPr>
            <p:nvPr/>
          </p:nvSpPr>
          <p:spPr bwMode="auto">
            <a:xfrm flipH="1">
              <a:off x="1970" y="3806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936" name="Rectangle 135"/>
            <p:cNvSpPr>
              <a:spLocks noChangeArrowheads="1"/>
            </p:cNvSpPr>
            <p:nvPr/>
          </p:nvSpPr>
          <p:spPr bwMode="auto">
            <a:xfrm>
              <a:off x="2134" y="3605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2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37" name="Rectangle 136"/>
            <p:cNvSpPr>
              <a:spLocks noChangeArrowheads="1"/>
            </p:cNvSpPr>
            <p:nvPr/>
          </p:nvSpPr>
          <p:spPr bwMode="auto">
            <a:xfrm>
              <a:off x="2073" y="3605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38" name="Rectangle 137"/>
            <p:cNvSpPr>
              <a:spLocks noChangeArrowheads="1"/>
            </p:cNvSpPr>
            <p:nvPr/>
          </p:nvSpPr>
          <p:spPr bwMode="auto">
            <a:xfrm>
              <a:off x="2032" y="3605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39" name="Rectangle 138"/>
            <p:cNvSpPr>
              <a:spLocks noChangeArrowheads="1"/>
            </p:cNvSpPr>
            <p:nvPr/>
          </p:nvSpPr>
          <p:spPr bwMode="auto">
            <a:xfrm>
              <a:off x="2185" y="3605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0" name="Rectangle 139"/>
            <p:cNvSpPr>
              <a:spLocks noChangeArrowheads="1"/>
            </p:cNvSpPr>
            <p:nvPr/>
          </p:nvSpPr>
          <p:spPr bwMode="auto">
            <a:xfrm>
              <a:off x="2134" y="3702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3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1" name="Rectangle 140"/>
            <p:cNvSpPr>
              <a:spLocks noChangeArrowheads="1"/>
            </p:cNvSpPr>
            <p:nvPr/>
          </p:nvSpPr>
          <p:spPr bwMode="auto">
            <a:xfrm>
              <a:off x="2083" y="370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2" name="Rectangle 141"/>
            <p:cNvSpPr>
              <a:spLocks noChangeArrowheads="1"/>
            </p:cNvSpPr>
            <p:nvPr/>
          </p:nvSpPr>
          <p:spPr bwMode="auto">
            <a:xfrm>
              <a:off x="2042" y="370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(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3" name="Rectangle 142"/>
            <p:cNvSpPr>
              <a:spLocks noChangeArrowheads="1"/>
            </p:cNvSpPr>
            <p:nvPr/>
          </p:nvSpPr>
          <p:spPr bwMode="auto">
            <a:xfrm>
              <a:off x="2185" y="3702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Symbol" pitchFamily="18" charset="2"/>
                  <a:ea typeface="SimSun" pitchFamily="2" charset="-122"/>
                </a:rPr>
                <a:t>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4" name="Rectangle 213"/>
            <p:cNvSpPr>
              <a:spLocks noChangeArrowheads="1"/>
            </p:cNvSpPr>
            <p:nvPr/>
          </p:nvSpPr>
          <p:spPr bwMode="auto">
            <a:xfrm>
              <a:off x="1397" y="1353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5" name="Rectangle 214"/>
            <p:cNvSpPr>
              <a:spLocks noChangeArrowheads="1"/>
            </p:cNvSpPr>
            <p:nvPr/>
          </p:nvSpPr>
          <p:spPr bwMode="auto">
            <a:xfrm>
              <a:off x="1397" y="960"/>
              <a:ext cx="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+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6" name="Rectangle 215"/>
            <p:cNvSpPr>
              <a:spLocks noChangeArrowheads="1"/>
            </p:cNvSpPr>
            <p:nvPr/>
          </p:nvSpPr>
          <p:spPr bwMode="auto">
            <a:xfrm>
              <a:off x="1397" y="1746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7" name="Rectangle 216"/>
            <p:cNvSpPr>
              <a:spLocks noChangeArrowheads="1"/>
            </p:cNvSpPr>
            <p:nvPr/>
          </p:nvSpPr>
          <p:spPr bwMode="auto">
            <a:xfrm>
              <a:off x="1397" y="213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8" name="Rectangle 217"/>
            <p:cNvSpPr>
              <a:spLocks noChangeArrowheads="1"/>
            </p:cNvSpPr>
            <p:nvPr/>
          </p:nvSpPr>
          <p:spPr bwMode="auto">
            <a:xfrm>
              <a:off x="1397" y="2524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49" name="Rectangle 218"/>
            <p:cNvSpPr>
              <a:spLocks noChangeArrowheads="1"/>
            </p:cNvSpPr>
            <p:nvPr/>
          </p:nvSpPr>
          <p:spPr bwMode="auto">
            <a:xfrm>
              <a:off x="1397" y="2917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0" name="Rectangle 219"/>
            <p:cNvSpPr>
              <a:spLocks noChangeArrowheads="1"/>
            </p:cNvSpPr>
            <p:nvPr/>
          </p:nvSpPr>
          <p:spPr bwMode="auto">
            <a:xfrm>
              <a:off x="1397" y="3301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1" name="Rectangle 220"/>
            <p:cNvSpPr>
              <a:spLocks noChangeArrowheads="1"/>
            </p:cNvSpPr>
            <p:nvPr/>
          </p:nvSpPr>
          <p:spPr bwMode="auto">
            <a:xfrm>
              <a:off x="1397" y="3695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-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2" name="Rectangle 221"/>
            <p:cNvSpPr>
              <a:spLocks noChangeArrowheads="1"/>
            </p:cNvSpPr>
            <p:nvPr/>
          </p:nvSpPr>
          <p:spPr bwMode="auto">
            <a:xfrm>
              <a:off x="1008" y="872"/>
              <a:ext cx="11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(a)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3" name="Rectangle 222"/>
            <p:cNvSpPr>
              <a:spLocks noChangeArrowheads="1"/>
            </p:cNvSpPr>
            <p:nvPr/>
          </p:nvSpPr>
          <p:spPr bwMode="auto">
            <a:xfrm>
              <a:off x="1008" y="1257"/>
              <a:ext cx="11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(c)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4" name="Rectangle 225"/>
            <p:cNvSpPr>
              <a:spLocks noChangeArrowheads="1"/>
            </p:cNvSpPr>
            <p:nvPr/>
          </p:nvSpPr>
          <p:spPr bwMode="auto">
            <a:xfrm>
              <a:off x="1008" y="1642"/>
              <a:ext cx="11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(e)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5" name="Rectangle 226"/>
            <p:cNvSpPr>
              <a:spLocks noChangeArrowheads="1"/>
            </p:cNvSpPr>
            <p:nvPr/>
          </p:nvSpPr>
          <p:spPr bwMode="auto">
            <a:xfrm>
              <a:off x="1018" y="2035"/>
              <a:ext cx="9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(f)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6" name="Rectangle 227"/>
            <p:cNvSpPr>
              <a:spLocks noChangeArrowheads="1"/>
            </p:cNvSpPr>
            <p:nvPr/>
          </p:nvSpPr>
          <p:spPr bwMode="auto">
            <a:xfrm>
              <a:off x="1008" y="2428"/>
              <a:ext cx="11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(g)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7" name="Rectangle 228"/>
            <p:cNvSpPr>
              <a:spLocks noChangeArrowheads="1"/>
            </p:cNvSpPr>
            <p:nvPr/>
          </p:nvSpPr>
          <p:spPr bwMode="auto">
            <a:xfrm>
              <a:off x="1008" y="2820"/>
              <a:ext cx="11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(h)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8" name="Rectangle 229"/>
            <p:cNvSpPr>
              <a:spLocks noChangeArrowheads="1"/>
            </p:cNvSpPr>
            <p:nvPr/>
          </p:nvSpPr>
          <p:spPr bwMode="auto">
            <a:xfrm>
              <a:off x="1018" y="3205"/>
              <a:ext cx="85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(i)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73959" name="Rectangle 230"/>
            <p:cNvSpPr>
              <a:spLocks noChangeArrowheads="1"/>
            </p:cNvSpPr>
            <p:nvPr/>
          </p:nvSpPr>
          <p:spPr bwMode="auto">
            <a:xfrm>
              <a:off x="1018" y="3597"/>
              <a:ext cx="85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2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(j)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</p:grpSp>
      <p:sp>
        <p:nvSpPr>
          <p:cNvPr id="73960" name="Rectangle 231"/>
          <p:cNvSpPr>
            <a:spLocks noChangeArrowheads="1"/>
          </p:cNvSpPr>
          <p:nvPr/>
        </p:nvSpPr>
        <p:spPr bwMode="auto">
          <a:xfrm>
            <a:off x="2305050" y="6464300"/>
            <a:ext cx="41910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Figure 2.4.</a:t>
            </a:r>
            <a:r>
              <a:rPr lang="en-US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2's-complement Add and Subtract operations.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3961" name="Text Box 275"/>
          <p:cNvSpPr txBox="1">
            <a:spLocks noChangeArrowheads="1"/>
          </p:cNvSpPr>
          <p:nvPr/>
        </p:nvSpPr>
        <p:spPr bwMode="auto">
          <a:xfrm>
            <a:off x="228600" y="1524000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Page 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600">
                <a:solidFill>
                  <a:schemeClr val="tx1"/>
                </a:solidFill>
                <a:ea typeface="SimSun" pitchFamily="2" charset="-122"/>
              </a:rPr>
              <a:t>Overflow - </a:t>
            </a:r>
            <a:r>
              <a:rPr kumimoji="1" lang="en-US" altLang="ko-KR" sz="2600">
                <a:solidFill>
                  <a:schemeClr val="tx1"/>
                </a:solidFill>
                <a:ea typeface="Gulim" pitchFamily="34" charset="-127"/>
              </a:rPr>
              <a:t>Add two positive numbers to get a negative number or two negative numbers to get a positive number</a:t>
            </a:r>
            <a:endParaRPr kumimoji="1" lang="en-US" altLang="zh-CN" sz="2600">
              <a:solidFill>
                <a:schemeClr val="tx1"/>
              </a:solidFill>
              <a:ea typeface="SimSun" pitchFamily="2" charset="-122"/>
            </a:endParaRPr>
          </a:p>
        </p:txBody>
      </p:sp>
      <p:sp>
        <p:nvSpPr>
          <p:cNvPr id="75779" name="Line 3"/>
          <p:cNvSpPr>
            <a:spLocks noChangeShapeType="1"/>
          </p:cNvSpPr>
          <p:nvPr/>
        </p:nvSpPr>
        <p:spPr bwMode="auto">
          <a:xfrm>
            <a:off x="4064000" y="4699000"/>
            <a:ext cx="19050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auto">
          <a:xfrm flipH="1" flipV="1">
            <a:off x="3873500" y="4991100"/>
            <a:ext cx="342900" cy="38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781" name="Line 5"/>
          <p:cNvSpPr>
            <a:spLocks noChangeShapeType="1"/>
          </p:cNvSpPr>
          <p:nvPr/>
        </p:nvSpPr>
        <p:spPr bwMode="auto">
          <a:xfrm flipH="1">
            <a:off x="3721100" y="5092700"/>
            <a:ext cx="381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2" name="Line 6"/>
          <p:cNvSpPr>
            <a:spLocks noChangeShapeType="1"/>
          </p:cNvSpPr>
          <p:nvPr/>
        </p:nvSpPr>
        <p:spPr bwMode="auto">
          <a:xfrm flipH="1" flipV="1">
            <a:off x="3340100" y="5486400"/>
            <a:ext cx="4064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auto">
          <a:xfrm flipH="1">
            <a:off x="2476500" y="5549900"/>
            <a:ext cx="59690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4" name="Line 8"/>
          <p:cNvSpPr>
            <a:spLocks noChangeShapeType="1"/>
          </p:cNvSpPr>
          <p:nvPr/>
        </p:nvSpPr>
        <p:spPr bwMode="auto">
          <a:xfrm flipH="1" flipV="1">
            <a:off x="1968500" y="5410200"/>
            <a:ext cx="508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auto">
          <a:xfrm>
            <a:off x="5372100" y="5105400"/>
            <a:ext cx="101600" cy="40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6" name="Line 10"/>
          <p:cNvSpPr>
            <a:spLocks noChangeShapeType="1"/>
          </p:cNvSpPr>
          <p:nvPr/>
        </p:nvSpPr>
        <p:spPr bwMode="auto">
          <a:xfrm flipV="1">
            <a:off x="5499100" y="5435600"/>
            <a:ext cx="571500" cy="8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787" name="Line 11"/>
          <p:cNvSpPr>
            <a:spLocks noChangeShapeType="1"/>
          </p:cNvSpPr>
          <p:nvPr/>
        </p:nvSpPr>
        <p:spPr bwMode="auto">
          <a:xfrm>
            <a:off x="6489700" y="5537200"/>
            <a:ext cx="4699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8" name="Line 12"/>
          <p:cNvSpPr>
            <a:spLocks noChangeShapeType="1"/>
          </p:cNvSpPr>
          <p:nvPr/>
        </p:nvSpPr>
        <p:spPr bwMode="auto">
          <a:xfrm flipV="1">
            <a:off x="6985000" y="5549900"/>
            <a:ext cx="46990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789" name="Rectangle 13"/>
          <p:cNvSpPr>
            <a:spLocks noChangeArrowheads="1"/>
          </p:cNvSpPr>
          <p:nvPr/>
        </p:nvSpPr>
        <p:spPr bwMode="auto">
          <a:xfrm>
            <a:off x="2692400" y="5842000"/>
            <a:ext cx="1104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5 + 3 = -8</a:t>
            </a:r>
          </a:p>
        </p:txBody>
      </p:sp>
      <p:sp>
        <p:nvSpPr>
          <p:cNvPr id="75790" name="Rectangle 14"/>
          <p:cNvSpPr>
            <a:spLocks noChangeArrowheads="1"/>
          </p:cNvSpPr>
          <p:nvPr/>
        </p:nvSpPr>
        <p:spPr bwMode="auto">
          <a:xfrm>
            <a:off x="5092700" y="5816600"/>
            <a:ext cx="1181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-7 - 2 = +7</a:t>
            </a:r>
          </a:p>
        </p:txBody>
      </p:sp>
      <p:sp>
        <p:nvSpPr>
          <p:cNvPr id="75791" name="Oval 15"/>
          <p:cNvSpPr>
            <a:spLocks noChangeArrowheads="1"/>
          </p:cNvSpPr>
          <p:nvPr/>
        </p:nvSpPr>
        <p:spPr bwMode="auto">
          <a:xfrm>
            <a:off x="1035050" y="2419350"/>
            <a:ext cx="2806700" cy="2806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92" name="Rectangle 16"/>
          <p:cNvSpPr>
            <a:spLocks noChangeArrowheads="1"/>
          </p:cNvSpPr>
          <p:nvPr/>
        </p:nvSpPr>
        <p:spPr bwMode="auto">
          <a:xfrm>
            <a:off x="2527300" y="25146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0000</a:t>
            </a:r>
          </a:p>
        </p:txBody>
      </p:sp>
      <p:sp>
        <p:nvSpPr>
          <p:cNvPr id="75793" name="Rectangle 17"/>
          <p:cNvSpPr>
            <a:spLocks noChangeArrowheads="1"/>
          </p:cNvSpPr>
          <p:nvPr/>
        </p:nvSpPr>
        <p:spPr bwMode="auto">
          <a:xfrm>
            <a:off x="2895600" y="28067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0001</a:t>
            </a:r>
          </a:p>
        </p:txBody>
      </p:sp>
      <p:sp>
        <p:nvSpPr>
          <p:cNvPr id="75794" name="Rectangle 18"/>
          <p:cNvSpPr>
            <a:spLocks noChangeArrowheads="1"/>
          </p:cNvSpPr>
          <p:nvPr/>
        </p:nvSpPr>
        <p:spPr bwMode="auto">
          <a:xfrm>
            <a:off x="3136900" y="31369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0010</a:t>
            </a:r>
          </a:p>
        </p:txBody>
      </p:sp>
      <p:sp>
        <p:nvSpPr>
          <p:cNvPr id="75795" name="Rectangle 19"/>
          <p:cNvSpPr>
            <a:spLocks noChangeArrowheads="1"/>
          </p:cNvSpPr>
          <p:nvPr/>
        </p:nvSpPr>
        <p:spPr bwMode="auto">
          <a:xfrm>
            <a:off x="3289300" y="34925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0011</a:t>
            </a:r>
          </a:p>
        </p:txBody>
      </p:sp>
      <p:sp>
        <p:nvSpPr>
          <p:cNvPr id="75796" name="Rectangle 20"/>
          <p:cNvSpPr>
            <a:spLocks noChangeArrowheads="1"/>
          </p:cNvSpPr>
          <p:nvPr/>
        </p:nvSpPr>
        <p:spPr bwMode="auto">
          <a:xfrm>
            <a:off x="1841500" y="49022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1000</a:t>
            </a:r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3136900" y="43434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0101</a:t>
            </a:r>
          </a:p>
        </p:txBody>
      </p:sp>
      <p:sp>
        <p:nvSpPr>
          <p:cNvPr id="75798" name="Rectangle 22"/>
          <p:cNvSpPr>
            <a:spLocks noChangeArrowheads="1"/>
          </p:cNvSpPr>
          <p:nvPr/>
        </p:nvSpPr>
        <p:spPr bwMode="auto">
          <a:xfrm>
            <a:off x="2882900" y="46609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0110</a:t>
            </a:r>
          </a:p>
        </p:txBody>
      </p:sp>
      <p:sp>
        <p:nvSpPr>
          <p:cNvPr id="75799" name="Rectangle 23"/>
          <p:cNvSpPr>
            <a:spLocks noChangeArrowheads="1"/>
          </p:cNvSpPr>
          <p:nvPr/>
        </p:nvSpPr>
        <p:spPr bwMode="auto">
          <a:xfrm>
            <a:off x="3302000" y="38989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0100</a:t>
            </a:r>
          </a:p>
        </p:txBody>
      </p:sp>
      <p:sp>
        <p:nvSpPr>
          <p:cNvPr id="75800" name="Rectangle 24"/>
          <p:cNvSpPr>
            <a:spLocks noChangeArrowheads="1"/>
          </p:cNvSpPr>
          <p:nvPr/>
        </p:nvSpPr>
        <p:spPr bwMode="auto">
          <a:xfrm>
            <a:off x="1384300" y="45720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1001</a:t>
            </a:r>
          </a:p>
        </p:txBody>
      </p:sp>
      <p:sp>
        <p:nvSpPr>
          <p:cNvPr id="75801" name="Rectangle 25"/>
          <p:cNvSpPr>
            <a:spLocks noChangeArrowheads="1"/>
          </p:cNvSpPr>
          <p:nvPr/>
        </p:nvSpPr>
        <p:spPr bwMode="auto">
          <a:xfrm>
            <a:off x="1181100" y="42037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1010</a:t>
            </a:r>
          </a:p>
        </p:txBody>
      </p:sp>
      <p:sp>
        <p:nvSpPr>
          <p:cNvPr id="75802" name="Rectangle 26"/>
          <p:cNvSpPr>
            <a:spLocks noChangeArrowheads="1"/>
          </p:cNvSpPr>
          <p:nvPr/>
        </p:nvSpPr>
        <p:spPr bwMode="auto">
          <a:xfrm>
            <a:off x="1079500" y="37973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1011</a:t>
            </a:r>
          </a:p>
        </p:txBody>
      </p:sp>
      <p:sp>
        <p:nvSpPr>
          <p:cNvPr id="75803" name="Rectangle 27"/>
          <p:cNvSpPr>
            <a:spLocks noChangeArrowheads="1"/>
          </p:cNvSpPr>
          <p:nvPr/>
        </p:nvSpPr>
        <p:spPr bwMode="auto">
          <a:xfrm>
            <a:off x="1104900" y="34163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1100</a:t>
            </a:r>
          </a:p>
        </p:txBody>
      </p:sp>
      <p:sp>
        <p:nvSpPr>
          <p:cNvPr id="75804" name="Rectangle 28"/>
          <p:cNvSpPr>
            <a:spLocks noChangeArrowheads="1"/>
          </p:cNvSpPr>
          <p:nvPr/>
        </p:nvSpPr>
        <p:spPr bwMode="auto">
          <a:xfrm>
            <a:off x="1244600" y="30480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1101</a:t>
            </a:r>
          </a:p>
        </p:txBody>
      </p:sp>
      <p:sp>
        <p:nvSpPr>
          <p:cNvPr id="75805" name="Rectangle 29"/>
          <p:cNvSpPr>
            <a:spLocks noChangeArrowheads="1"/>
          </p:cNvSpPr>
          <p:nvPr/>
        </p:nvSpPr>
        <p:spPr bwMode="auto">
          <a:xfrm>
            <a:off x="2489200" y="49276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0111</a:t>
            </a:r>
          </a:p>
        </p:txBody>
      </p:sp>
      <p:sp>
        <p:nvSpPr>
          <p:cNvPr id="75806" name="Rectangle 30"/>
          <p:cNvSpPr>
            <a:spLocks noChangeArrowheads="1"/>
          </p:cNvSpPr>
          <p:nvPr/>
        </p:nvSpPr>
        <p:spPr bwMode="auto">
          <a:xfrm>
            <a:off x="1549400" y="27686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1110</a:t>
            </a:r>
          </a:p>
        </p:txBody>
      </p:sp>
      <p:sp>
        <p:nvSpPr>
          <p:cNvPr id="75807" name="Rectangle 31"/>
          <p:cNvSpPr>
            <a:spLocks noChangeArrowheads="1"/>
          </p:cNvSpPr>
          <p:nvPr/>
        </p:nvSpPr>
        <p:spPr bwMode="auto">
          <a:xfrm>
            <a:off x="1943100" y="25019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1111</a:t>
            </a:r>
          </a:p>
        </p:txBody>
      </p:sp>
      <p:sp>
        <p:nvSpPr>
          <p:cNvPr id="75808" name="Line 32"/>
          <p:cNvSpPr>
            <a:spLocks noChangeShapeType="1"/>
          </p:cNvSpPr>
          <p:nvPr/>
        </p:nvSpPr>
        <p:spPr bwMode="auto">
          <a:xfrm flipH="1">
            <a:off x="2400300" y="2108200"/>
            <a:ext cx="114300" cy="3454400"/>
          </a:xfrm>
          <a:prstGeom prst="line">
            <a:avLst/>
          </a:prstGeom>
          <a:noFill/>
          <a:ln w="12700">
            <a:pattFill prst="narHorz">
              <a:fgClr>
                <a:schemeClr val="tx1"/>
              </a:fgClr>
              <a:bgClr>
                <a:schemeClr val="bg1"/>
              </a:bgClr>
            </a:patt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809" name="Rectangle 33"/>
          <p:cNvSpPr>
            <a:spLocks noChangeArrowheads="1"/>
          </p:cNvSpPr>
          <p:nvPr/>
        </p:nvSpPr>
        <p:spPr bwMode="auto">
          <a:xfrm>
            <a:off x="2705100" y="21209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+0</a:t>
            </a:r>
          </a:p>
        </p:txBody>
      </p:sp>
      <p:sp>
        <p:nvSpPr>
          <p:cNvPr id="75810" name="Rectangle 34"/>
          <p:cNvSpPr>
            <a:spLocks noChangeArrowheads="1"/>
          </p:cNvSpPr>
          <p:nvPr/>
        </p:nvSpPr>
        <p:spPr bwMode="auto">
          <a:xfrm>
            <a:off x="3390900" y="25146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+1</a:t>
            </a:r>
          </a:p>
        </p:txBody>
      </p:sp>
      <p:sp>
        <p:nvSpPr>
          <p:cNvPr id="75811" name="Rectangle 35"/>
          <p:cNvSpPr>
            <a:spLocks noChangeArrowheads="1"/>
          </p:cNvSpPr>
          <p:nvPr/>
        </p:nvSpPr>
        <p:spPr bwMode="auto">
          <a:xfrm>
            <a:off x="3695700" y="29591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+2</a:t>
            </a:r>
          </a:p>
        </p:txBody>
      </p:sp>
      <p:sp>
        <p:nvSpPr>
          <p:cNvPr id="75812" name="Rectangle 36"/>
          <p:cNvSpPr>
            <a:spLocks noChangeArrowheads="1"/>
          </p:cNvSpPr>
          <p:nvPr/>
        </p:nvSpPr>
        <p:spPr bwMode="auto">
          <a:xfrm>
            <a:off x="3937000" y="34163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+3</a:t>
            </a:r>
          </a:p>
        </p:txBody>
      </p:sp>
      <p:sp>
        <p:nvSpPr>
          <p:cNvPr id="75813" name="Rectangle 37"/>
          <p:cNvSpPr>
            <a:spLocks noChangeArrowheads="1"/>
          </p:cNvSpPr>
          <p:nvPr/>
        </p:nvSpPr>
        <p:spPr bwMode="auto">
          <a:xfrm>
            <a:off x="3898900" y="39243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+4</a:t>
            </a:r>
          </a:p>
        </p:txBody>
      </p:sp>
      <p:sp>
        <p:nvSpPr>
          <p:cNvPr id="75814" name="Rectangle 38"/>
          <p:cNvSpPr>
            <a:spLocks noChangeArrowheads="1"/>
          </p:cNvSpPr>
          <p:nvPr/>
        </p:nvSpPr>
        <p:spPr bwMode="auto">
          <a:xfrm>
            <a:off x="3733800" y="44450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+5</a:t>
            </a:r>
          </a:p>
        </p:txBody>
      </p:sp>
      <p:sp>
        <p:nvSpPr>
          <p:cNvPr id="75815" name="Rectangle 39"/>
          <p:cNvSpPr>
            <a:spLocks noChangeArrowheads="1"/>
          </p:cNvSpPr>
          <p:nvPr/>
        </p:nvSpPr>
        <p:spPr bwMode="auto">
          <a:xfrm>
            <a:off x="3467100" y="48260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+6</a:t>
            </a:r>
          </a:p>
        </p:txBody>
      </p:sp>
      <p:sp>
        <p:nvSpPr>
          <p:cNvPr id="75816" name="Rectangle 40"/>
          <p:cNvSpPr>
            <a:spLocks noChangeArrowheads="1"/>
          </p:cNvSpPr>
          <p:nvPr/>
        </p:nvSpPr>
        <p:spPr bwMode="auto">
          <a:xfrm>
            <a:off x="2946400" y="52578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+7</a:t>
            </a:r>
          </a:p>
        </p:txBody>
      </p:sp>
      <p:sp>
        <p:nvSpPr>
          <p:cNvPr id="75817" name="Rectangle 41"/>
          <p:cNvSpPr>
            <a:spLocks noChangeArrowheads="1"/>
          </p:cNvSpPr>
          <p:nvPr/>
        </p:nvSpPr>
        <p:spPr bwMode="auto">
          <a:xfrm>
            <a:off x="1574800" y="52070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-8</a:t>
            </a:r>
          </a:p>
        </p:txBody>
      </p:sp>
      <p:sp>
        <p:nvSpPr>
          <p:cNvPr id="75818" name="Rectangle 42"/>
          <p:cNvSpPr>
            <a:spLocks noChangeArrowheads="1"/>
          </p:cNvSpPr>
          <p:nvPr/>
        </p:nvSpPr>
        <p:spPr bwMode="auto">
          <a:xfrm>
            <a:off x="876300" y="47879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-7</a:t>
            </a:r>
          </a:p>
        </p:txBody>
      </p:sp>
      <p:sp>
        <p:nvSpPr>
          <p:cNvPr id="75819" name="Rectangle 43"/>
          <p:cNvSpPr>
            <a:spLocks noChangeArrowheads="1"/>
          </p:cNvSpPr>
          <p:nvPr/>
        </p:nvSpPr>
        <p:spPr bwMode="auto">
          <a:xfrm>
            <a:off x="647700" y="42672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-6</a:t>
            </a:r>
          </a:p>
        </p:txBody>
      </p:sp>
      <p:sp>
        <p:nvSpPr>
          <p:cNvPr id="75820" name="Rectangle 44"/>
          <p:cNvSpPr>
            <a:spLocks noChangeArrowheads="1"/>
          </p:cNvSpPr>
          <p:nvPr/>
        </p:nvSpPr>
        <p:spPr bwMode="auto">
          <a:xfrm>
            <a:off x="457200" y="36830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-5</a:t>
            </a:r>
          </a:p>
        </p:txBody>
      </p:sp>
      <p:sp>
        <p:nvSpPr>
          <p:cNvPr id="75821" name="Rectangle 45"/>
          <p:cNvSpPr>
            <a:spLocks noChangeArrowheads="1"/>
          </p:cNvSpPr>
          <p:nvPr/>
        </p:nvSpPr>
        <p:spPr bwMode="auto">
          <a:xfrm>
            <a:off x="495300" y="32385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-4</a:t>
            </a:r>
          </a:p>
        </p:txBody>
      </p:sp>
      <p:sp>
        <p:nvSpPr>
          <p:cNvPr id="75822" name="Rectangle 46"/>
          <p:cNvSpPr>
            <a:spLocks noChangeArrowheads="1"/>
          </p:cNvSpPr>
          <p:nvPr/>
        </p:nvSpPr>
        <p:spPr bwMode="auto">
          <a:xfrm>
            <a:off x="774700" y="28575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-3</a:t>
            </a:r>
          </a:p>
        </p:txBody>
      </p:sp>
      <p:sp>
        <p:nvSpPr>
          <p:cNvPr id="75823" name="Rectangle 47"/>
          <p:cNvSpPr>
            <a:spLocks noChangeArrowheads="1"/>
          </p:cNvSpPr>
          <p:nvPr/>
        </p:nvSpPr>
        <p:spPr bwMode="auto">
          <a:xfrm>
            <a:off x="1143000" y="24257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-2</a:t>
            </a:r>
          </a:p>
        </p:txBody>
      </p:sp>
      <p:sp>
        <p:nvSpPr>
          <p:cNvPr id="75824" name="Rectangle 48"/>
          <p:cNvSpPr>
            <a:spLocks noChangeArrowheads="1"/>
          </p:cNvSpPr>
          <p:nvPr/>
        </p:nvSpPr>
        <p:spPr bwMode="auto">
          <a:xfrm>
            <a:off x="1689100" y="20574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-1</a:t>
            </a:r>
          </a:p>
        </p:txBody>
      </p:sp>
      <p:sp>
        <p:nvSpPr>
          <p:cNvPr id="75825" name="Oval 49"/>
          <p:cNvSpPr>
            <a:spLocks noChangeArrowheads="1"/>
          </p:cNvSpPr>
          <p:nvPr/>
        </p:nvSpPr>
        <p:spPr bwMode="auto">
          <a:xfrm>
            <a:off x="5530850" y="2444750"/>
            <a:ext cx="2806700" cy="2806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826" name="Rectangle 50"/>
          <p:cNvSpPr>
            <a:spLocks noChangeArrowheads="1"/>
          </p:cNvSpPr>
          <p:nvPr/>
        </p:nvSpPr>
        <p:spPr bwMode="auto">
          <a:xfrm>
            <a:off x="7023100" y="25400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0000</a:t>
            </a:r>
          </a:p>
        </p:txBody>
      </p:sp>
      <p:sp>
        <p:nvSpPr>
          <p:cNvPr id="75827" name="Rectangle 51"/>
          <p:cNvSpPr>
            <a:spLocks noChangeArrowheads="1"/>
          </p:cNvSpPr>
          <p:nvPr/>
        </p:nvSpPr>
        <p:spPr bwMode="auto">
          <a:xfrm>
            <a:off x="7391400" y="28321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0001</a:t>
            </a:r>
          </a:p>
        </p:txBody>
      </p:sp>
      <p:sp>
        <p:nvSpPr>
          <p:cNvPr id="75828" name="Rectangle 52"/>
          <p:cNvSpPr>
            <a:spLocks noChangeArrowheads="1"/>
          </p:cNvSpPr>
          <p:nvPr/>
        </p:nvSpPr>
        <p:spPr bwMode="auto">
          <a:xfrm>
            <a:off x="7632700" y="31623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0010</a:t>
            </a:r>
          </a:p>
        </p:txBody>
      </p:sp>
      <p:sp>
        <p:nvSpPr>
          <p:cNvPr id="75829" name="Rectangle 53"/>
          <p:cNvSpPr>
            <a:spLocks noChangeArrowheads="1"/>
          </p:cNvSpPr>
          <p:nvPr/>
        </p:nvSpPr>
        <p:spPr bwMode="auto">
          <a:xfrm>
            <a:off x="7785100" y="35179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0011</a:t>
            </a:r>
          </a:p>
        </p:txBody>
      </p:sp>
      <p:sp>
        <p:nvSpPr>
          <p:cNvPr id="75830" name="Rectangle 54"/>
          <p:cNvSpPr>
            <a:spLocks noChangeArrowheads="1"/>
          </p:cNvSpPr>
          <p:nvPr/>
        </p:nvSpPr>
        <p:spPr bwMode="auto">
          <a:xfrm>
            <a:off x="6337300" y="49276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1000</a:t>
            </a:r>
          </a:p>
        </p:txBody>
      </p:sp>
      <p:sp>
        <p:nvSpPr>
          <p:cNvPr id="75831" name="Rectangle 55"/>
          <p:cNvSpPr>
            <a:spLocks noChangeArrowheads="1"/>
          </p:cNvSpPr>
          <p:nvPr/>
        </p:nvSpPr>
        <p:spPr bwMode="auto">
          <a:xfrm>
            <a:off x="7632700" y="43688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0101</a:t>
            </a:r>
          </a:p>
        </p:txBody>
      </p:sp>
      <p:sp>
        <p:nvSpPr>
          <p:cNvPr id="75832" name="Rectangle 56"/>
          <p:cNvSpPr>
            <a:spLocks noChangeArrowheads="1"/>
          </p:cNvSpPr>
          <p:nvPr/>
        </p:nvSpPr>
        <p:spPr bwMode="auto">
          <a:xfrm>
            <a:off x="7378700" y="46863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0110</a:t>
            </a:r>
          </a:p>
        </p:txBody>
      </p:sp>
      <p:sp>
        <p:nvSpPr>
          <p:cNvPr id="75833" name="Rectangle 57"/>
          <p:cNvSpPr>
            <a:spLocks noChangeArrowheads="1"/>
          </p:cNvSpPr>
          <p:nvPr/>
        </p:nvSpPr>
        <p:spPr bwMode="auto">
          <a:xfrm>
            <a:off x="7797800" y="39243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0100</a:t>
            </a:r>
          </a:p>
        </p:txBody>
      </p:sp>
      <p:sp>
        <p:nvSpPr>
          <p:cNvPr id="75834" name="Rectangle 58"/>
          <p:cNvSpPr>
            <a:spLocks noChangeArrowheads="1"/>
          </p:cNvSpPr>
          <p:nvPr/>
        </p:nvSpPr>
        <p:spPr bwMode="auto">
          <a:xfrm>
            <a:off x="5880100" y="45974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1001</a:t>
            </a:r>
          </a:p>
        </p:txBody>
      </p:sp>
      <p:sp>
        <p:nvSpPr>
          <p:cNvPr id="75835" name="Rectangle 59"/>
          <p:cNvSpPr>
            <a:spLocks noChangeArrowheads="1"/>
          </p:cNvSpPr>
          <p:nvPr/>
        </p:nvSpPr>
        <p:spPr bwMode="auto">
          <a:xfrm>
            <a:off x="5676900" y="42291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1010</a:t>
            </a:r>
          </a:p>
        </p:txBody>
      </p:sp>
      <p:sp>
        <p:nvSpPr>
          <p:cNvPr id="75836" name="Rectangle 60"/>
          <p:cNvSpPr>
            <a:spLocks noChangeArrowheads="1"/>
          </p:cNvSpPr>
          <p:nvPr/>
        </p:nvSpPr>
        <p:spPr bwMode="auto">
          <a:xfrm>
            <a:off x="5575300" y="38227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1011</a:t>
            </a:r>
          </a:p>
        </p:txBody>
      </p:sp>
      <p:sp>
        <p:nvSpPr>
          <p:cNvPr id="75837" name="Rectangle 61"/>
          <p:cNvSpPr>
            <a:spLocks noChangeArrowheads="1"/>
          </p:cNvSpPr>
          <p:nvPr/>
        </p:nvSpPr>
        <p:spPr bwMode="auto">
          <a:xfrm>
            <a:off x="5600700" y="34417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1100</a:t>
            </a:r>
          </a:p>
        </p:txBody>
      </p:sp>
      <p:sp>
        <p:nvSpPr>
          <p:cNvPr id="75838" name="Rectangle 62"/>
          <p:cNvSpPr>
            <a:spLocks noChangeArrowheads="1"/>
          </p:cNvSpPr>
          <p:nvPr/>
        </p:nvSpPr>
        <p:spPr bwMode="auto">
          <a:xfrm>
            <a:off x="5740400" y="30734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1101</a:t>
            </a:r>
          </a:p>
        </p:txBody>
      </p:sp>
      <p:sp>
        <p:nvSpPr>
          <p:cNvPr id="75839" name="Rectangle 63"/>
          <p:cNvSpPr>
            <a:spLocks noChangeArrowheads="1"/>
          </p:cNvSpPr>
          <p:nvPr/>
        </p:nvSpPr>
        <p:spPr bwMode="auto">
          <a:xfrm>
            <a:off x="6985000" y="49530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0111</a:t>
            </a:r>
          </a:p>
        </p:txBody>
      </p:sp>
      <p:sp>
        <p:nvSpPr>
          <p:cNvPr id="75840" name="Rectangle 64"/>
          <p:cNvSpPr>
            <a:spLocks noChangeArrowheads="1"/>
          </p:cNvSpPr>
          <p:nvPr/>
        </p:nvSpPr>
        <p:spPr bwMode="auto">
          <a:xfrm>
            <a:off x="6045200" y="27940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1110</a:t>
            </a:r>
          </a:p>
        </p:txBody>
      </p:sp>
      <p:sp>
        <p:nvSpPr>
          <p:cNvPr id="75841" name="Rectangle 65"/>
          <p:cNvSpPr>
            <a:spLocks noChangeArrowheads="1"/>
          </p:cNvSpPr>
          <p:nvPr/>
        </p:nvSpPr>
        <p:spPr bwMode="auto">
          <a:xfrm>
            <a:off x="6438900" y="2527300"/>
            <a:ext cx="5207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kumimoji="1" lang="en-US" altLang="ko-KR" sz="1400" b="1">
                <a:ea typeface="Gulim" pitchFamily="34" charset="-127"/>
              </a:rPr>
              <a:t>1111</a:t>
            </a:r>
          </a:p>
        </p:txBody>
      </p:sp>
      <p:sp>
        <p:nvSpPr>
          <p:cNvPr id="75842" name="Line 66"/>
          <p:cNvSpPr>
            <a:spLocks noChangeShapeType="1"/>
          </p:cNvSpPr>
          <p:nvPr/>
        </p:nvSpPr>
        <p:spPr bwMode="auto">
          <a:xfrm flipH="1">
            <a:off x="6896100" y="2133600"/>
            <a:ext cx="114300" cy="3454400"/>
          </a:xfrm>
          <a:prstGeom prst="line">
            <a:avLst/>
          </a:prstGeom>
          <a:noFill/>
          <a:ln w="12700">
            <a:pattFill prst="narHorz">
              <a:fgClr>
                <a:schemeClr val="tx1"/>
              </a:fgClr>
              <a:bgClr>
                <a:schemeClr val="bg1"/>
              </a:bgClr>
            </a:patt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843" name="Rectangle 67"/>
          <p:cNvSpPr>
            <a:spLocks noChangeArrowheads="1"/>
          </p:cNvSpPr>
          <p:nvPr/>
        </p:nvSpPr>
        <p:spPr bwMode="auto">
          <a:xfrm>
            <a:off x="7200900" y="21463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+0</a:t>
            </a:r>
          </a:p>
        </p:txBody>
      </p:sp>
      <p:sp>
        <p:nvSpPr>
          <p:cNvPr id="75844" name="Rectangle 68"/>
          <p:cNvSpPr>
            <a:spLocks noChangeArrowheads="1"/>
          </p:cNvSpPr>
          <p:nvPr/>
        </p:nvSpPr>
        <p:spPr bwMode="auto">
          <a:xfrm>
            <a:off x="7886700" y="25400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+1</a:t>
            </a:r>
          </a:p>
        </p:txBody>
      </p:sp>
      <p:sp>
        <p:nvSpPr>
          <p:cNvPr id="75845" name="Rectangle 69"/>
          <p:cNvSpPr>
            <a:spLocks noChangeArrowheads="1"/>
          </p:cNvSpPr>
          <p:nvPr/>
        </p:nvSpPr>
        <p:spPr bwMode="auto">
          <a:xfrm>
            <a:off x="8191500" y="29845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+2</a:t>
            </a:r>
          </a:p>
        </p:txBody>
      </p:sp>
      <p:sp>
        <p:nvSpPr>
          <p:cNvPr id="75846" name="Rectangle 70"/>
          <p:cNvSpPr>
            <a:spLocks noChangeArrowheads="1"/>
          </p:cNvSpPr>
          <p:nvPr/>
        </p:nvSpPr>
        <p:spPr bwMode="auto">
          <a:xfrm>
            <a:off x="8432800" y="34417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+3</a:t>
            </a:r>
          </a:p>
        </p:txBody>
      </p:sp>
      <p:sp>
        <p:nvSpPr>
          <p:cNvPr id="75847" name="Rectangle 71"/>
          <p:cNvSpPr>
            <a:spLocks noChangeArrowheads="1"/>
          </p:cNvSpPr>
          <p:nvPr/>
        </p:nvSpPr>
        <p:spPr bwMode="auto">
          <a:xfrm>
            <a:off x="8394700" y="39497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+4</a:t>
            </a:r>
          </a:p>
        </p:txBody>
      </p:sp>
      <p:sp>
        <p:nvSpPr>
          <p:cNvPr id="75848" name="Rectangle 72"/>
          <p:cNvSpPr>
            <a:spLocks noChangeArrowheads="1"/>
          </p:cNvSpPr>
          <p:nvPr/>
        </p:nvSpPr>
        <p:spPr bwMode="auto">
          <a:xfrm>
            <a:off x="8229600" y="44704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+5</a:t>
            </a:r>
          </a:p>
        </p:txBody>
      </p:sp>
      <p:sp>
        <p:nvSpPr>
          <p:cNvPr id="75849" name="Rectangle 73"/>
          <p:cNvSpPr>
            <a:spLocks noChangeArrowheads="1"/>
          </p:cNvSpPr>
          <p:nvPr/>
        </p:nvSpPr>
        <p:spPr bwMode="auto">
          <a:xfrm>
            <a:off x="7962900" y="48514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+6</a:t>
            </a:r>
          </a:p>
        </p:txBody>
      </p:sp>
      <p:sp>
        <p:nvSpPr>
          <p:cNvPr id="75850" name="Rectangle 74"/>
          <p:cNvSpPr>
            <a:spLocks noChangeArrowheads="1"/>
          </p:cNvSpPr>
          <p:nvPr/>
        </p:nvSpPr>
        <p:spPr bwMode="auto">
          <a:xfrm>
            <a:off x="7442200" y="5283200"/>
            <a:ext cx="38735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+7</a:t>
            </a:r>
          </a:p>
        </p:txBody>
      </p:sp>
      <p:sp>
        <p:nvSpPr>
          <p:cNvPr id="75851" name="Rectangle 75"/>
          <p:cNvSpPr>
            <a:spLocks noChangeArrowheads="1"/>
          </p:cNvSpPr>
          <p:nvPr/>
        </p:nvSpPr>
        <p:spPr bwMode="auto">
          <a:xfrm>
            <a:off x="6070600" y="52324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-8</a:t>
            </a:r>
          </a:p>
        </p:txBody>
      </p:sp>
      <p:sp>
        <p:nvSpPr>
          <p:cNvPr id="75852" name="Rectangle 76"/>
          <p:cNvSpPr>
            <a:spLocks noChangeArrowheads="1"/>
          </p:cNvSpPr>
          <p:nvPr/>
        </p:nvSpPr>
        <p:spPr bwMode="auto">
          <a:xfrm>
            <a:off x="5372100" y="48133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-7</a:t>
            </a:r>
          </a:p>
        </p:txBody>
      </p:sp>
      <p:sp>
        <p:nvSpPr>
          <p:cNvPr id="75853" name="Rectangle 77"/>
          <p:cNvSpPr>
            <a:spLocks noChangeArrowheads="1"/>
          </p:cNvSpPr>
          <p:nvPr/>
        </p:nvSpPr>
        <p:spPr bwMode="auto">
          <a:xfrm>
            <a:off x="5143500" y="42926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-6</a:t>
            </a:r>
          </a:p>
        </p:txBody>
      </p:sp>
      <p:sp>
        <p:nvSpPr>
          <p:cNvPr id="75854" name="Rectangle 78"/>
          <p:cNvSpPr>
            <a:spLocks noChangeArrowheads="1"/>
          </p:cNvSpPr>
          <p:nvPr/>
        </p:nvSpPr>
        <p:spPr bwMode="auto">
          <a:xfrm>
            <a:off x="4953000" y="37084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-5</a:t>
            </a:r>
          </a:p>
        </p:txBody>
      </p:sp>
      <p:sp>
        <p:nvSpPr>
          <p:cNvPr id="75855" name="Rectangle 79"/>
          <p:cNvSpPr>
            <a:spLocks noChangeArrowheads="1"/>
          </p:cNvSpPr>
          <p:nvPr/>
        </p:nvSpPr>
        <p:spPr bwMode="auto">
          <a:xfrm>
            <a:off x="4991100" y="32639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-4</a:t>
            </a:r>
          </a:p>
        </p:txBody>
      </p:sp>
      <p:sp>
        <p:nvSpPr>
          <p:cNvPr id="75856" name="Rectangle 80"/>
          <p:cNvSpPr>
            <a:spLocks noChangeArrowheads="1"/>
          </p:cNvSpPr>
          <p:nvPr/>
        </p:nvSpPr>
        <p:spPr bwMode="auto">
          <a:xfrm>
            <a:off x="5270500" y="28829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-3</a:t>
            </a:r>
          </a:p>
        </p:txBody>
      </p:sp>
      <p:sp>
        <p:nvSpPr>
          <p:cNvPr id="75857" name="Rectangle 81"/>
          <p:cNvSpPr>
            <a:spLocks noChangeArrowheads="1"/>
          </p:cNvSpPr>
          <p:nvPr/>
        </p:nvSpPr>
        <p:spPr bwMode="auto">
          <a:xfrm>
            <a:off x="5638800" y="24511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-2</a:t>
            </a:r>
          </a:p>
        </p:txBody>
      </p:sp>
      <p:sp>
        <p:nvSpPr>
          <p:cNvPr id="75858" name="Rectangle 82"/>
          <p:cNvSpPr>
            <a:spLocks noChangeArrowheads="1"/>
          </p:cNvSpPr>
          <p:nvPr/>
        </p:nvSpPr>
        <p:spPr bwMode="auto">
          <a:xfrm>
            <a:off x="6184900" y="2082800"/>
            <a:ext cx="330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Overflow Conditions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1149350" y="1938338"/>
            <a:ext cx="330200" cy="1217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5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3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-8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228850" y="1709738"/>
            <a:ext cx="1016000" cy="1450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0 1 1 1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0 1 0 1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0 0 1 1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1 0 0 0</a:t>
            </a:r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1123950" y="2624138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2343150" y="26241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4908550" y="2014538"/>
            <a:ext cx="330200" cy="1217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-7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-2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7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5988050" y="1785938"/>
            <a:ext cx="1016000" cy="1450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1 0 0 0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1 0 0 1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1 1 0 0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1 0 1 1 1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4883150" y="2700338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6102350" y="27003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6216650" y="3119438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6242050" y="3271838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1225550" y="3944938"/>
            <a:ext cx="254000" cy="1217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5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2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7</a:t>
            </a: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2228850" y="3716338"/>
            <a:ext cx="1016000" cy="1450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0 0 0 0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0 1 0 1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0 0 1 0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0 1 1 1</a:t>
            </a:r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1123950" y="4630738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2343150" y="46307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4921250" y="4021138"/>
            <a:ext cx="330200" cy="1217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-3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-5</a:t>
            </a:r>
          </a:p>
          <a:p>
            <a:pPr algn="r"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algn="r"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-8</a:t>
            </a:r>
          </a:p>
        </p:txBody>
      </p:sp>
      <p:sp>
        <p:nvSpPr>
          <p:cNvPr id="24594" name="Rectangle 18"/>
          <p:cNvSpPr>
            <a:spLocks noChangeArrowheads="1"/>
          </p:cNvSpPr>
          <p:nvPr/>
        </p:nvSpPr>
        <p:spPr bwMode="auto">
          <a:xfrm>
            <a:off x="6000750" y="3792538"/>
            <a:ext cx="1079500" cy="1450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1 1 1 1</a:t>
            </a: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1 1 0 1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  1 0 1 1</a:t>
            </a:r>
          </a:p>
          <a:p>
            <a:pPr eaLnBrk="0" hangingPunct="0">
              <a:lnSpc>
                <a:spcPct val="85000"/>
              </a:lnSpc>
            </a:pPr>
            <a:endParaRPr kumimoji="1" lang="en-US" altLang="ko-KR" b="1">
              <a:ea typeface="Gulim" pitchFamily="34" charset="-127"/>
            </a:endParaRPr>
          </a:p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 1 1 0 0 0</a:t>
            </a:r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4895850" y="4706938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6115050" y="47069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>
            <a:off x="6292850" y="5138738"/>
            <a:ext cx="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>
            <a:off x="6292850" y="5303838"/>
            <a:ext cx="850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9" name="Rectangle 23"/>
          <p:cNvSpPr>
            <a:spLocks noChangeArrowheads="1"/>
          </p:cNvSpPr>
          <p:nvPr/>
        </p:nvSpPr>
        <p:spPr bwMode="auto">
          <a:xfrm>
            <a:off x="1085850" y="3373438"/>
            <a:ext cx="11049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Overflow</a:t>
            </a:r>
          </a:p>
        </p:txBody>
      </p:sp>
      <p:sp>
        <p:nvSpPr>
          <p:cNvPr id="24600" name="Rectangle 24"/>
          <p:cNvSpPr>
            <a:spLocks noChangeArrowheads="1"/>
          </p:cNvSpPr>
          <p:nvPr/>
        </p:nvSpPr>
        <p:spPr bwMode="auto">
          <a:xfrm>
            <a:off x="4870450" y="3335338"/>
            <a:ext cx="11049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Overflow</a:t>
            </a:r>
          </a:p>
        </p:txBody>
      </p:sp>
      <p:sp>
        <p:nvSpPr>
          <p:cNvPr id="24601" name="Rectangle 25"/>
          <p:cNvSpPr>
            <a:spLocks noChangeArrowheads="1"/>
          </p:cNvSpPr>
          <p:nvPr/>
        </p:nvSpPr>
        <p:spPr bwMode="auto">
          <a:xfrm>
            <a:off x="1060450" y="5392738"/>
            <a:ext cx="14351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No overflow</a:t>
            </a:r>
          </a:p>
        </p:txBody>
      </p:sp>
      <p:sp>
        <p:nvSpPr>
          <p:cNvPr id="24602" name="Rectangle 26"/>
          <p:cNvSpPr>
            <a:spLocks noChangeArrowheads="1"/>
          </p:cNvSpPr>
          <p:nvPr/>
        </p:nvSpPr>
        <p:spPr bwMode="auto">
          <a:xfrm>
            <a:off x="4819650" y="5430838"/>
            <a:ext cx="14351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No overflow</a:t>
            </a:r>
          </a:p>
        </p:txBody>
      </p:sp>
      <p:sp>
        <p:nvSpPr>
          <p:cNvPr id="24603" name="Rectangle 27"/>
          <p:cNvSpPr>
            <a:spLocks noChangeArrowheads="1"/>
          </p:cNvSpPr>
          <p:nvPr/>
        </p:nvSpPr>
        <p:spPr bwMode="auto">
          <a:xfrm>
            <a:off x="850900" y="5811838"/>
            <a:ext cx="76073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kumimoji="1" lang="en-US" altLang="ko-KR" b="1">
                <a:ea typeface="Gulim" pitchFamily="34" charset="-127"/>
              </a:rPr>
              <a:t>Overflow when carry-in to the high-order bit does not equal carry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580" grpId="0"/>
      <p:bldP spid="24581" grpId="0" animBg="1"/>
      <p:bldP spid="24582" grpId="0" animBg="1"/>
      <p:bldP spid="24583" grpId="0"/>
      <p:bldP spid="24584" grpId="0"/>
      <p:bldP spid="24585" grpId="0" animBg="1"/>
      <p:bldP spid="24586" grpId="0" animBg="1"/>
      <p:bldP spid="24587" grpId="0" animBg="1"/>
      <p:bldP spid="24588" grpId="0" animBg="1"/>
      <p:bldP spid="24589" grpId="0"/>
      <p:bldP spid="24590" grpId="0"/>
      <p:bldP spid="24591" grpId="0" animBg="1"/>
      <p:bldP spid="24592" grpId="0" animBg="1"/>
      <p:bldP spid="24593" grpId="0"/>
      <p:bldP spid="24594" grpId="0"/>
      <p:bldP spid="24595" grpId="0" animBg="1"/>
      <p:bldP spid="24596" grpId="0" animBg="1"/>
      <p:bldP spid="24597" grpId="0" animBg="1"/>
      <p:bldP spid="24598" grpId="0" animBg="1"/>
      <p:bldP spid="24599" grpId="0"/>
      <p:bldP spid="24600" grpId="0"/>
      <p:bldP spid="24601" grpId="0"/>
      <p:bldP spid="24602" grpId="0"/>
      <p:bldP spid="2460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Sign Extension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229600" cy="4411663"/>
          </a:xfrm>
        </p:spPr>
        <p:txBody>
          <a:bodyPr/>
          <a:lstStyle/>
          <a:p>
            <a:r>
              <a:rPr lang="en-US" altLang="zh-CN" sz="2100">
                <a:ea typeface="SimSun" pitchFamily="2" charset="-122"/>
              </a:rPr>
              <a:t>Task:</a:t>
            </a:r>
          </a:p>
          <a:p>
            <a:pPr lvl="1"/>
            <a:r>
              <a:rPr lang="en-US" altLang="zh-CN" sz="2000">
                <a:ea typeface="SimSun" pitchFamily="2" charset="-122"/>
              </a:rPr>
              <a:t>Given </a:t>
            </a:r>
            <a:r>
              <a:rPr lang="en-US" altLang="zh-CN" sz="2000" i="1">
                <a:ea typeface="SimSun" pitchFamily="2" charset="-122"/>
              </a:rPr>
              <a:t>w</a:t>
            </a:r>
            <a:r>
              <a:rPr lang="en-US" altLang="zh-CN" sz="2000">
                <a:ea typeface="SimSun" pitchFamily="2" charset="-122"/>
              </a:rPr>
              <a:t>-bit signed integer </a:t>
            </a:r>
            <a:r>
              <a:rPr lang="en-US" altLang="zh-CN" sz="2000" i="1">
                <a:ea typeface="SimSun" pitchFamily="2" charset="-122"/>
              </a:rPr>
              <a:t>x</a:t>
            </a:r>
            <a:endParaRPr lang="en-US" altLang="zh-CN" sz="2000">
              <a:ea typeface="SimSun" pitchFamily="2" charset="-122"/>
            </a:endParaRPr>
          </a:p>
          <a:p>
            <a:pPr lvl="1"/>
            <a:r>
              <a:rPr lang="en-US" altLang="zh-CN" sz="2000">
                <a:ea typeface="SimSun" pitchFamily="2" charset="-122"/>
              </a:rPr>
              <a:t>Convert it to </a:t>
            </a:r>
            <a:r>
              <a:rPr lang="en-US" altLang="zh-CN" sz="2000" i="1">
                <a:ea typeface="SimSun" pitchFamily="2" charset="-122"/>
              </a:rPr>
              <a:t>w</a:t>
            </a:r>
            <a:r>
              <a:rPr lang="en-US" altLang="zh-CN" sz="2000">
                <a:ea typeface="SimSun" pitchFamily="2" charset="-122"/>
              </a:rPr>
              <a:t>+</a:t>
            </a:r>
            <a:r>
              <a:rPr lang="en-US" altLang="zh-CN" sz="2000" i="1">
                <a:ea typeface="SimSun" pitchFamily="2" charset="-122"/>
              </a:rPr>
              <a:t>k</a:t>
            </a:r>
            <a:r>
              <a:rPr lang="en-US" altLang="zh-CN" sz="2000">
                <a:ea typeface="SimSun" pitchFamily="2" charset="-122"/>
              </a:rPr>
              <a:t>-bit integer with same value</a:t>
            </a:r>
          </a:p>
          <a:p>
            <a:r>
              <a:rPr lang="en-US" altLang="zh-CN" sz="2100">
                <a:ea typeface="SimSun" pitchFamily="2" charset="-122"/>
              </a:rPr>
              <a:t>Rule:</a:t>
            </a:r>
          </a:p>
          <a:p>
            <a:pPr lvl="1"/>
            <a:r>
              <a:rPr lang="en-US" altLang="zh-CN" sz="2000">
                <a:ea typeface="SimSun" pitchFamily="2" charset="-122"/>
              </a:rPr>
              <a:t>Make </a:t>
            </a:r>
            <a:r>
              <a:rPr lang="en-US" altLang="zh-CN" sz="2000" i="1">
                <a:ea typeface="SimSun" pitchFamily="2" charset="-122"/>
              </a:rPr>
              <a:t>k</a:t>
            </a:r>
            <a:r>
              <a:rPr lang="en-US" altLang="zh-CN" sz="2000">
                <a:ea typeface="SimSun" pitchFamily="2" charset="-122"/>
              </a:rPr>
              <a:t> copies of sign bit:</a:t>
            </a:r>
          </a:p>
          <a:p>
            <a:pPr lvl="1"/>
            <a:r>
              <a:rPr lang="en-US" altLang="zh-CN" sz="2000" b="1" i="1">
                <a:ea typeface="SimSun" pitchFamily="2" charset="-122"/>
              </a:rPr>
              <a:t>X</a:t>
            </a:r>
            <a:r>
              <a:rPr lang="en-US" altLang="zh-CN" sz="2000">
                <a:ea typeface="SimSun" pitchFamily="2" charset="-122"/>
              </a:rPr>
              <a:t> </a:t>
            </a:r>
            <a:r>
              <a:rPr lang="en-US" altLang="zh-CN" sz="2000">
                <a:latin typeface="Symbol" pitchFamily="18" charset="2"/>
                <a:ea typeface="SimSun" pitchFamily="2" charset="-122"/>
              </a:rPr>
              <a:t></a:t>
            </a:r>
            <a:r>
              <a:rPr lang="en-US" altLang="zh-CN" sz="2000">
                <a:ea typeface="SimSun" pitchFamily="2" charset="-122"/>
              </a:rPr>
              <a:t> =  </a:t>
            </a:r>
            <a:r>
              <a:rPr lang="en-US" altLang="zh-CN" sz="2000" b="1" i="1">
                <a:ea typeface="SimSun" pitchFamily="2" charset="-122"/>
              </a:rPr>
              <a:t>x</a:t>
            </a:r>
            <a:r>
              <a:rPr lang="en-US" altLang="zh-CN" sz="2000" b="1" i="1" baseline="-25000">
                <a:ea typeface="SimSun" pitchFamily="2" charset="-122"/>
              </a:rPr>
              <a:t>w</a:t>
            </a:r>
            <a:r>
              <a:rPr lang="en-US" altLang="zh-CN" sz="2000" b="1" baseline="-25000">
                <a:ea typeface="SimSun" pitchFamily="2" charset="-122"/>
              </a:rPr>
              <a:t>–1 </a:t>
            </a:r>
            <a:r>
              <a:rPr lang="en-US" altLang="zh-CN" sz="2000">
                <a:ea typeface="SimSun" pitchFamily="2" charset="-122"/>
              </a:rPr>
              <a:t>,…, </a:t>
            </a:r>
            <a:r>
              <a:rPr lang="en-US" altLang="zh-CN" sz="2000" b="1" i="1">
                <a:ea typeface="SimSun" pitchFamily="2" charset="-122"/>
              </a:rPr>
              <a:t>x</a:t>
            </a:r>
            <a:r>
              <a:rPr lang="en-US" altLang="zh-CN" sz="2000" b="1" i="1" baseline="-25000">
                <a:ea typeface="SimSun" pitchFamily="2" charset="-122"/>
              </a:rPr>
              <a:t>w</a:t>
            </a:r>
            <a:r>
              <a:rPr lang="en-US" altLang="zh-CN" sz="2000" b="1" baseline="-25000">
                <a:ea typeface="SimSun" pitchFamily="2" charset="-122"/>
              </a:rPr>
              <a:t>–1 </a:t>
            </a:r>
            <a:r>
              <a:rPr lang="en-US" altLang="zh-CN" sz="2000">
                <a:ea typeface="SimSun" pitchFamily="2" charset="-122"/>
              </a:rPr>
              <a:t>, </a:t>
            </a:r>
            <a:r>
              <a:rPr lang="en-US" altLang="zh-CN" sz="2000" b="1" i="1">
                <a:ea typeface="SimSun" pitchFamily="2" charset="-122"/>
              </a:rPr>
              <a:t>x</a:t>
            </a:r>
            <a:r>
              <a:rPr lang="en-US" altLang="zh-CN" sz="2000" b="1" i="1" baseline="-25000">
                <a:ea typeface="SimSun" pitchFamily="2" charset="-122"/>
              </a:rPr>
              <a:t>w</a:t>
            </a:r>
            <a:r>
              <a:rPr lang="en-US" altLang="zh-CN" sz="2000" b="1" baseline="-25000">
                <a:ea typeface="SimSun" pitchFamily="2" charset="-122"/>
              </a:rPr>
              <a:t>–1 </a:t>
            </a:r>
            <a:r>
              <a:rPr lang="en-US" altLang="zh-CN" sz="2000">
                <a:ea typeface="SimSun" pitchFamily="2" charset="-122"/>
              </a:rPr>
              <a:t>, </a:t>
            </a:r>
            <a:r>
              <a:rPr lang="en-US" altLang="zh-CN" sz="2000" b="1" i="1">
                <a:ea typeface="SimSun" pitchFamily="2" charset="-122"/>
              </a:rPr>
              <a:t>x</a:t>
            </a:r>
            <a:r>
              <a:rPr lang="en-US" altLang="zh-CN" sz="2000" b="1" i="1" baseline="-25000">
                <a:ea typeface="SimSun" pitchFamily="2" charset="-122"/>
              </a:rPr>
              <a:t>w</a:t>
            </a:r>
            <a:r>
              <a:rPr lang="en-US" altLang="zh-CN" sz="2000" b="1" baseline="-25000">
                <a:ea typeface="SimSun" pitchFamily="2" charset="-122"/>
              </a:rPr>
              <a:t>–2 </a:t>
            </a:r>
            <a:r>
              <a:rPr lang="en-US" altLang="zh-CN" sz="2000">
                <a:ea typeface="SimSun" pitchFamily="2" charset="-122"/>
              </a:rPr>
              <a:t>,…, </a:t>
            </a:r>
            <a:r>
              <a:rPr lang="en-US" altLang="zh-CN" sz="2000" b="1" i="1">
                <a:ea typeface="SimSun" pitchFamily="2" charset="-122"/>
              </a:rPr>
              <a:t>x</a:t>
            </a:r>
            <a:r>
              <a:rPr lang="en-US" altLang="zh-CN" sz="2000" b="1" baseline="-25000">
                <a:ea typeface="SimSun" pitchFamily="2" charset="-122"/>
              </a:rPr>
              <a:t>0</a:t>
            </a:r>
            <a:endParaRPr lang="en-US" altLang="zh-CN" sz="2000">
              <a:ea typeface="SimSun" pitchFamily="2" charset="-122"/>
            </a:endParaRPr>
          </a:p>
          <a:p>
            <a:endParaRPr lang="zh-CN" altLang="en-US" sz="1900">
              <a:ea typeface="SimSun" pitchFamily="2" charset="-122"/>
            </a:endParaRP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1981200" y="4529138"/>
            <a:ext cx="1463675" cy="3016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altLang="zh-CN" sz="1400" i="1">
                <a:latin typeface="Helvetica" pitchFamily="34" charset="0"/>
                <a:ea typeface="SimSun" pitchFamily="2" charset="-122"/>
              </a:rPr>
              <a:t>k</a:t>
            </a:r>
            <a:r>
              <a:rPr lang="en-US" altLang="zh-CN" sz="1400">
                <a:latin typeface="Helvetica" pitchFamily="34" charset="0"/>
                <a:ea typeface="SimSun" pitchFamily="2" charset="-122"/>
              </a:rPr>
              <a:t> copies of MSB</a:t>
            </a:r>
          </a:p>
        </p:txBody>
      </p:sp>
      <p:grpSp>
        <p:nvGrpSpPr>
          <p:cNvPr id="79877" name="Group 5"/>
          <p:cNvGrpSpPr>
            <a:grpSpLocks/>
          </p:cNvGrpSpPr>
          <p:nvPr/>
        </p:nvGrpSpPr>
        <p:grpSpPr bwMode="auto">
          <a:xfrm>
            <a:off x="3276600" y="4127500"/>
            <a:ext cx="5181600" cy="1981200"/>
            <a:chOff x="1392" y="2352"/>
            <a:chExt cx="3264" cy="1248"/>
          </a:xfrm>
        </p:grpSpPr>
        <p:grpSp>
          <p:nvGrpSpPr>
            <p:cNvPr id="79878" name="Group 6"/>
            <p:cNvGrpSpPr>
              <a:grpSpLocks/>
            </p:cNvGrpSpPr>
            <p:nvPr/>
          </p:nvGrpSpPr>
          <p:grpSpPr bwMode="auto">
            <a:xfrm>
              <a:off x="2928" y="2400"/>
              <a:ext cx="1728" cy="144"/>
              <a:chOff x="2928" y="2400"/>
              <a:chExt cx="1728" cy="144"/>
            </a:xfrm>
          </p:grpSpPr>
          <p:sp>
            <p:nvSpPr>
              <p:cNvPr id="79879" name="Rectangle 7"/>
              <p:cNvSpPr>
                <a:spLocks noChangeArrowheads="1"/>
              </p:cNvSpPr>
              <p:nvPr/>
            </p:nvSpPr>
            <p:spPr bwMode="auto">
              <a:xfrm>
                <a:off x="2928" y="240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80" name="Rectangle 8"/>
              <p:cNvSpPr>
                <a:spLocks noChangeArrowheads="1"/>
              </p:cNvSpPr>
              <p:nvPr/>
            </p:nvSpPr>
            <p:spPr bwMode="auto">
              <a:xfrm>
                <a:off x="3072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81" name="Rectangle 9"/>
              <p:cNvSpPr>
                <a:spLocks noChangeArrowheads="1"/>
              </p:cNvSpPr>
              <p:nvPr/>
            </p:nvSpPr>
            <p:spPr bwMode="auto">
              <a:xfrm>
                <a:off x="3216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82" name="Rectangle 10"/>
              <p:cNvSpPr>
                <a:spLocks noChangeArrowheads="1"/>
              </p:cNvSpPr>
              <p:nvPr/>
            </p:nvSpPr>
            <p:spPr bwMode="auto">
              <a:xfrm>
                <a:off x="4224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83" name="Rectangle 11"/>
              <p:cNvSpPr>
                <a:spLocks noChangeArrowheads="1"/>
              </p:cNvSpPr>
              <p:nvPr/>
            </p:nvSpPr>
            <p:spPr bwMode="auto">
              <a:xfrm>
                <a:off x="4368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84" name="Rectangle 12"/>
              <p:cNvSpPr>
                <a:spLocks noChangeArrowheads="1"/>
              </p:cNvSpPr>
              <p:nvPr/>
            </p:nvSpPr>
            <p:spPr bwMode="auto">
              <a:xfrm>
                <a:off x="4512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85" name="Rectangle 13"/>
              <p:cNvSpPr>
                <a:spLocks noChangeArrowheads="1"/>
              </p:cNvSpPr>
              <p:nvPr/>
            </p:nvSpPr>
            <p:spPr bwMode="auto">
              <a:xfrm>
                <a:off x="3360" y="2400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>
                    <a:latin typeface="Courier New" pitchFamily="49" charset="0"/>
                    <a:ea typeface="SimSun" pitchFamily="2" charset="-122"/>
                  </a:rPr>
                  <a:t>• • •</a:t>
                </a:r>
              </a:p>
            </p:txBody>
          </p:sp>
        </p:grpSp>
        <p:sp>
          <p:nvSpPr>
            <p:cNvPr id="79886" name="Rectangle 14"/>
            <p:cNvSpPr>
              <a:spLocks noChangeArrowheads="1"/>
            </p:cNvSpPr>
            <p:nvPr/>
          </p:nvSpPr>
          <p:spPr bwMode="auto">
            <a:xfrm>
              <a:off x="2544" y="2352"/>
              <a:ext cx="248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latin typeface="Times" pitchFamily="18" charset="0"/>
                  <a:ea typeface="SimSun" pitchFamily="2" charset="-122"/>
                </a:rPr>
                <a:t>X</a:t>
              </a:r>
              <a:r>
                <a:rPr lang="en-US" altLang="zh-CN">
                  <a:latin typeface="Times" pitchFamily="18" charset="0"/>
                  <a:ea typeface="SimSun" pitchFamily="2" charset="-122"/>
                </a:rPr>
                <a:t> </a:t>
              </a:r>
              <a:endParaRPr lang="en-US" altLang="zh-CN">
                <a:latin typeface="Symbol" pitchFamily="18" charset="2"/>
                <a:ea typeface="SimSun" pitchFamily="2" charset="-122"/>
              </a:endParaRPr>
            </a:p>
          </p:txBody>
        </p:sp>
        <p:sp>
          <p:nvSpPr>
            <p:cNvPr id="79887" name="Rectangle 15"/>
            <p:cNvSpPr>
              <a:spLocks noChangeArrowheads="1"/>
            </p:cNvSpPr>
            <p:nvPr/>
          </p:nvSpPr>
          <p:spPr bwMode="auto">
            <a:xfrm>
              <a:off x="1392" y="3360"/>
              <a:ext cx="284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latin typeface="Times" pitchFamily="18" charset="0"/>
                  <a:ea typeface="SimSun" pitchFamily="2" charset="-122"/>
                </a:rPr>
                <a:t>X</a:t>
              </a:r>
              <a:r>
                <a:rPr lang="en-US" altLang="zh-CN">
                  <a:latin typeface="Times" pitchFamily="18" charset="0"/>
                  <a:ea typeface="SimSun" pitchFamily="2" charset="-122"/>
                </a:rPr>
                <a:t> </a:t>
              </a:r>
              <a:r>
                <a:rPr lang="en-US" altLang="zh-CN">
                  <a:latin typeface="Symbol" pitchFamily="18" charset="2"/>
                  <a:ea typeface="SimSun" pitchFamily="2" charset="-122"/>
                </a:rPr>
                <a:t></a:t>
              </a:r>
            </a:p>
          </p:txBody>
        </p:sp>
        <p:sp>
          <p:nvSpPr>
            <p:cNvPr id="79888" name="Line 16"/>
            <p:cNvSpPr>
              <a:spLocks noChangeShapeType="1"/>
            </p:cNvSpPr>
            <p:nvPr/>
          </p:nvSpPr>
          <p:spPr bwMode="auto">
            <a:xfrm>
              <a:off x="3024" y="2592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9" name="Line 17"/>
            <p:cNvSpPr>
              <a:spLocks noChangeShapeType="1"/>
            </p:cNvSpPr>
            <p:nvPr/>
          </p:nvSpPr>
          <p:spPr bwMode="auto">
            <a:xfrm flipH="1">
              <a:off x="2880" y="2592"/>
              <a:ext cx="14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9890" name="Group 18"/>
            <p:cNvGrpSpPr>
              <a:grpSpLocks/>
            </p:cNvGrpSpPr>
            <p:nvPr/>
          </p:nvGrpSpPr>
          <p:grpSpPr bwMode="auto">
            <a:xfrm>
              <a:off x="1824" y="3456"/>
              <a:ext cx="2832" cy="144"/>
              <a:chOff x="1824" y="3456"/>
              <a:chExt cx="2832" cy="144"/>
            </a:xfrm>
          </p:grpSpPr>
          <p:sp>
            <p:nvSpPr>
              <p:cNvPr id="79891" name="Rectangle 19"/>
              <p:cNvSpPr>
                <a:spLocks noChangeArrowheads="1"/>
              </p:cNvSpPr>
              <p:nvPr/>
            </p:nvSpPr>
            <p:spPr bwMode="auto">
              <a:xfrm>
                <a:off x="2112" y="3456"/>
                <a:ext cx="528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>
                    <a:latin typeface="Courier New" pitchFamily="49" charset="0"/>
                    <a:ea typeface="SimSun" pitchFamily="2" charset="-122"/>
                  </a:rPr>
                  <a:t>• • •</a:t>
                </a:r>
              </a:p>
            </p:txBody>
          </p:sp>
          <p:sp>
            <p:nvSpPr>
              <p:cNvPr id="79892" name="Rectangle 20"/>
              <p:cNvSpPr>
                <a:spLocks noChangeArrowheads="1"/>
              </p:cNvSpPr>
              <p:nvPr/>
            </p:nvSpPr>
            <p:spPr bwMode="auto">
              <a:xfrm>
                <a:off x="2784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93" name="Rectangle 21"/>
              <p:cNvSpPr>
                <a:spLocks noChangeArrowheads="1"/>
              </p:cNvSpPr>
              <p:nvPr/>
            </p:nvSpPr>
            <p:spPr bwMode="auto">
              <a:xfrm>
                <a:off x="2640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94" name="Rectangle 22"/>
              <p:cNvSpPr>
                <a:spLocks noChangeArrowheads="1"/>
              </p:cNvSpPr>
              <p:nvPr/>
            </p:nvSpPr>
            <p:spPr bwMode="auto">
              <a:xfrm>
                <a:off x="1968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sp>
            <p:nvSpPr>
              <p:cNvPr id="79895" name="Rectangle 23"/>
              <p:cNvSpPr>
                <a:spLocks noChangeArrowheads="1"/>
              </p:cNvSpPr>
              <p:nvPr/>
            </p:nvSpPr>
            <p:spPr bwMode="auto">
              <a:xfrm>
                <a:off x="1824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>
                  <a:latin typeface="Courier New" pitchFamily="49" charset="0"/>
                  <a:ea typeface="SimSun" pitchFamily="2" charset="-122"/>
                </a:endParaRPr>
              </a:p>
            </p:txBody>
          </p:sp>
          <p:grpSp>
            <p:nvGrpSpPr>
              <p:cNvPr id="79896" name="Group 24"/>
              <p:cNvGrpSpPr>
                <a:grpSpLocks/>
              </p:cNvGrpSpPr>
              <p:nvPr/>
            </p:nvGrpSpPr>
            <p:grpSpPr bwMode="auto">
              <a:xfrm>
                <a:off x="2928" y="3456"/>
                <a:ext cx="1728" cy="144"/>
                <a:chOff x="2928" y="3456"/>
                <a:chExt cx="1728" cy="144"/>
              </a:xfrm>
            </p:grpSpPr>
            <p:sp>
              <p:nvSpPr>
                <p:cNvPr id="79897" name="Rectangle 25"/>
                <p:cNvSpPr>
                  <a:spLocks noChangeArrowheads="1"/>
                </p:cNvSpPr>
                <p:nvPr/>
              </p:nvSpPr>
              <p:spPr bwMode="auto">
                <a:xfrm>
                  <a:off x="2928" y="3456"/>
                  <a:ext cx="144" cy="144"/>
                </a:xfrm>
                <a:prstGeom prst="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en-US">
                    <a:latin typeface="Courier New" pitchFamily="49" charset="0"/>
                    <a:ea typeface="SimSun" pitchFamily="2" charset="-122"/>
                  </a:endParaRPr>
                </a:p>
              </p:txBody>
            </p:sp>
            <p:sp>
              <p:nvSpPr>
                <p:cNvPr id="79898" name="Rectangle 26"/>
                <p:cNvSpPr>
                  <a:spLocks noChangeArrowheads="1"/>
                </p:cNvSpPr>
                <p:nvPr/>
              </p:nvSpPr>
              <p:spPr bwMode="auto">
                <a:xfrm>
                  <a:off x="3072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en-US">
                    <a:latin typeface="Courier New" pitchFamily="49" charset="0"/>
                    <a:ea typeface="SimSun" pitchFamily="2" charset="-122"/>
                  </a:endParaRPr>
                </a:p>
              </p:txBody>
            </p:sp>
            <p:sp>
              <p:nvSpPr>
                <p:cNvPr id="79899" name="Rectangle 27"/>
                <p:cNvSpPr>
                  <a:spLocks noChangeArrowheads="1"/>
                </p:cNvSpPr>
                <p:nvPr/>
              </p:nvSpPr>
              <p:spPr bwMode="auto">
                <a:xfrm>
                  <a:off x="3216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en-US">
                    <a:latin typeface="Courier New" pitchFamily="49" charset="0"/>
                    <a:ea typeface="SimSun" pitchFamily="2" charset="-122"/>
                  </a:endParaRPr>
                </a:p>
              </p:txBody>
            </p:sp>
            <p:sp>
              <p:nvSpPr>
                <p:cNvPr id="7990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24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en-US">
                    <a:latin typeface="Courier New" pitchFamily="49" charset="0"/>
                    <a:ea typeface="SimSun" pitchFamily="2" charset="-122"/>
                  </a:endParaRPr>
                </a:p>
              </p:txBody>
            </p:sp>
            <p:sp>
              <p:nvSpPr>
                <p:cNvPr id="79901" name="Rectangle 29"/>
                <p:cNvSpPr>
                  <a:spLocks noChangeArrowheads="1"/>
                </p:cNvSpPr>
                <p:nvPr/>
              </p:nvSpPr>
              <p:spPr bwMode="auto">
                <a:xfrm>
                  <a:off x="4368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en-US">
                    <a:latin typeface="Courier New" pitchFamily="49" charset="0"/>
                    <a:ea typeface="SimSun" pitchFamily="2" charset="-122"/>
                  </a:endParaRPr>
                </a:p>
              </p:txBody>
            </p:sp>
            <p:sp>
              <p:nvSpPr>
                <p:cNvPr id="79902" name="Rectangle 30"/>
                <p:cNvSpPr>
                  <a:spLocks noChangeArrowheads="1"/>
                </p:cNvSpPr>
                <p:nvPr/>
              </p:nvSpPr>
              <p:spPr bwMode="auto">
                <a:xfrm>
                  <a:off x="4512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en-US">
                    <a:latin typeface="Courier New" pitchFamily="49" charset="0"/>
                    <a:ea typeface="SimSun" pitchFamily="2" charset="-122"/>
                  </a:endParaRPr>
                </a:p>
              </p:txBody>
            </p:sp>
            <p:sp>
              <p:nvSpPr>
                <p:cNvPr id="79903" name="Rectangle 31"/>
                <p:cNvSpPr>
                  <a:spLocks noChangeArrowheads="1"/>
                </p:cNvSpPr>
                <p:nvPr/>
              </p:nvSpPr>
              <p:spPr bwMode="auto">
                <a:xfrm>
                  <a:off x="3360" y="3456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zh-CN">
                      <a:latin typeface="Courier New" pitchFamily="49" charset="0"/>
                      <a:ea typeface="SimSun" pitchFamily="2" charset="-122"/>
                    </a:rPr>
                    <a:t>• • •</a:t>
                  </a:r>
                </a:p>
              </p:txBody>
            </p:sp>
          </p:grpSp>
        </p:grpSp>
        <p:sp>
          <p:nvSpPr>
            <p:cNvPr id="79904" name="Line 32"/>
            <p:cNvSpPr>
              <a:spLocks noChangeShapeType="1"/>
            </p:cNvSpPr>
            <p:nvPr/>
          </p:nvSpPr>
          <p:spPr bwMode="auto">
            <a:xfrm flipH="1">
              <a:off x="2736" y="2592"/>
              <a:ext cx="288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5" name="Line 33"/>
            <p:cNvSpPr>
              <a:spLocks noChangeShapeType="1"/>
            </p:cNvSpPr>
            <p:nvPr/>
          </p:nvSpPr>
          <p:spPr bwMode="auto">
            <a:xfrm flipH="1">
              <a:off x="2064" y="2592"/>
              <a:ext cx="96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6" name="Line 34"/>
            <p:cNvSpPr>
              <a:spLocks noChangeShapeType="1"/>
            </p:cNvSpPr>
            <p:nvPr/>
          </p:nvSpPr>
          <p:spPr bwMode="auto">
            <a:xfrm flipH="1">
              <a:off x="1920" y="2592"/>
              <a:ext cx="110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7" name="Line 35"/>
            <p:cNvSpPr>
              <a:spLocks noChangeShapeType="1"/>
            </p:cNvSpPr>
            <p:nvPr/>
          </p:nvSpPr>
          <p:spPr bwMode="auto">
            <a:xfrm>
              <a:off x="3168" y="2592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8" name="Line 36"/>
            <p:cNvSpPr>
              <a:spLocks noChangeShapeType="1"/>
            </p:cNvSpPr>
            <p:nvPr/>
          </p:nvSpPr>
          <p:spPr bwMode="auto">
            <a:xfrm>
              <a:off x="3312" y="2592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9" name="Line 37"/>
            <p:cNvSpPr>
              <a:spLocks noChangeShapeType="1"/>
            </p:cNvSpPr>
            <p:nvPr/>
          </p:nvSpPr>
          <p:spPr bwMode="auto">
            <a:xfrm>
              <a:off x="4320" y="2592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10" name="Line 38"/>
            <p:cNvSpPr>
              <a:spLocks noChangeShapeType="1"/>
            </p:cNvSpPr>
            <p:nvPr/>
          </p:nvSpPr>
          <p:spPr bwMode="auto">
            <a:xfrm>
              <a:off x="4464" y="2592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11" name="Line 39"/>
            <p:cNvSpPr>
              <a:spLocks noChangeShapeType="1"/>
            </p:cNvSpPr>
            <p:nvPr/>
          </p:nvSpPr>
          <p:spPr bwMode="auto">
            <a:xfrm>
              <a:off x="4608" y="2592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12" name="Rectangle 40"/>
            <p:cNvSpPr>
              <a:spLocks noChangeArrowheads="1"/>
            </p:cNvSpPr>
            <p:nvPr/>
          </p:nvSpPr>
          <p:spPr bwMode="auto">
            <a:xfrm>
              <a:off x="2352" y="3120"/>
              <a:ext cx="451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400">
                  <a:latin typeface="Courier New" pitchFamily="49" charset="0"/>
                  <a:ea typeface="SimSun" pitchFamily="2" charset="-122"/>
                </a:rPr>
                <a:t>• • •</a:t>
              </a:r>
            </a:p>
          </p:txBody>
        </p:sp>
      </p:grpSp>
      <p:sp>
        <p:nvSpPr>
          <p:cNvPr id="79913" name="Line 41"/>
          <p:cNvSpPr>
            <a:spLocks noChangeShapeType="1"/>
          </p:cNvSpPr>
          <p:nvPr/>
        </p:nvSpPr>
        <p:spPr bwMode="auto">
          <a:xfrm>
            <a:off x="5715000" y="38989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914" name="Rectangle 42"/>
          <p:cNvSpPr>
            <a:spLocks noChangeArrowheads="1"/>
          </p:cNvSpPr>
          <p:nvPr/>
        </p:nvSpPr>
        <p:spPr bwMode="auto">
          <a:xfrm>
            <a:off x="6934200" y="3733800"/>
            <a:ext cx="349250" cy="366713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i="1">
                <a:latin typeface="Helvetica" pitchFamily="34" charset="0"/>
                <a:ea typeface="SimSun" pitchFamily="2" charset="-122"/>
              </a:rPr>
              <a:t>w</a:t>
            </a:r>
          </a:p>
        </p:txBody>
      </p:sp>
      <p:sp>
        <p:nvSpPr>
          <p:cNvPr id="79915" name="Line 43"/>
          <p:cNvSpPr>
            <a:spLocks noChangeShapeType="1"/>
          </p:cNvSpPr>
          <p:nvPr/>
        </p:nvSpPr>
        <p:spPr bwMode="auto">
          <a:xfrm>
            <a:off x="5715000" y="63373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916" name="Rectangle 44"/>
          <p:cNvSpPr>
            <a:spLocks noChangeArrowheads="1"/>
          </p:cNvSpPr>
          <p:nvPr/>
        </p:nvSpPr>
        <p:spPr bwMode="auto">
          <a:xfrm>
            <a:off x="6934200" y="6172200"/>
            <a:ext cx="349250" cy="366713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i="1">
                <a:latin typeface="Helvetica" pitchFamily="34" charset="0"/>
                <a:ea typeface="SimSun" pitchFamily="2" charset="-122"/>
              </a:rPr>
              <a:t>w</a:t>
            </a:r>
          </a:p>
        </p:txBody>
      </p:sp>
      <p:sp>
        <p:nvSpPr>
          <p:cNvPr id="79917" name="Line 45"/>
          <p:cNvSpPr>
            <a:spLocks noChangeShapeType="1"/>
          </p:cNvSpPr>
          <p:nvPr/>
        </p:nvSpPr>
        <p:spPr bwMode="auto">
          <a:xfrm>
            <a:off x="3962400" y="63373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918" name="Rectangle 46"/>
          <p:cNvSpPr>
            <a:spLocks noChangeArrowheads="1"/>
          </p:cNvSpPr>
          <p:nvPr/>
        </p:nvSpPr>
        <p:spPr bwMode="auto">
          <a:xfrm>
            <a:off x="4572000" y="6184900"/>
            <a:ext cx="298450" cy="366713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i="1">
                <a:latin typeface="Helvetica" pitchFamily="34" charset="0"/>
                <a:ea typeface="SimSun" pitchFamily="2" charset="-122"/>
              </a:rPr>
              <a:t>k</a:t>
            </a:r>
          </a:p>
        </p:txBody>
      </p:sp>
      <p:sp>
        <p:nvSpPr>
          <p:cNvPr id="79919" name="Freeform 47"/>
          <p:cNvSpPr>
            <a:spLocks/>
          </p:cNvSpPr>
          <p:nvPr/>
        </p:nvSpPr>
        <p:spPr bwMode="auto">
          <a:xfrm>
            <a:off x="2057400" y="4376738"/>
            <a:ext cx="1296988" cy="77787"/>
          </a:xfrm>
          <a:custGeom>
            <a:avLst/>
            <a:gdLst>
              <a:gd name="T0" fmla="*/ 0 w 817"/>
              <a:gd name="T1" fmla="*/ 0 h 49"/>
              <a:gd name="T2" fmla="*/ 0 w 817"/>
              <a:gd name="T3" fmla="*/ 48 h 49"/>
              <a:gd name="T4" fmla="*/ 816 w 817"/>
              <a:gd name="T5" fmla="*/ 48 h 49"/>
              <a:gd name="T6" fmla="*/ 816 w 817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817"/>
              <a:gd name="T13" fmla="*/ 0 h 49"/>
              <a:gd name="T14" fmla="*/ 817 w 817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7" h="49">
                <a:moveTo>
                  <a:pt x="0" y="0"/>
                </a:moveTo>
                <a:lnTo>
                  <a:pt x="0" y="48"/>
                </a:lnTo>
                <a:lnTo>
                  <a:pt x="816" y="48"/>
                </a:lnTo>
                <a:lnTo>
                  <a:pt x="81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Sign Extension Example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2159000" y="2743200"/>
            <a:ext cx="4191000" cy="122872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b="1">
                <a:latin typeface="Courier New" pitchFamily="49" charset="0"/>
                <a:ea typeface="SimSun" pitchFamily="2" charset="-122"/>
              </a:rPr>
              <a:t>  </a:t>
            </a:r>
            <a:r>
              <a:rPr lang="en-US" altLang="zh-CN" b="1">
                <a:latin typeface="Courier New" pitchFamily="49" charset="0"/>
                <a:ea typeface="SimSun" pitchFamily="2" charset="-122"/>
              </a:rPr>
              <a:t>short int x =  15213;</a:t>
            </a:r>
          </a:p>
          <a:p>
            <a:pPr eaLnBrk="0" hangingPunct="0"/>
            <a:r>
              <a:rPr lang="en-US" altLang="zh-CN" b="1">
                <a:latin typeface="Courier New" pitchFamily="49" charset="0"/>
                <a:ea typeface="SimSun" pitchFamily="2" charset="-122"/>
              </a:rPr>
              <a:t>  int      ix = (int) x; </a:t>
            </a:r>
          </a:p>
          <a:p>
            <a:pPr eaLnBrk="0" hangingPunct="0"/>
            <a:r>
              <a:rPr lang="en-US" altLang="zh-CN" b="1">
                <a:latin typeface="Courier New" pitchFamily="49" charset="0"/>
                <a:ea typeface="SimSun" pitchFamily="2" charset="-122"/>
              </a:rPr>
              <a:t>  short int y = -15213;</a:t>
            </a:r>
          </a:p>
          <a:p>
            <a:pPr eaLnBrk="0" hangingPunct="0"/>
            <a:r>
              <a:rPr lang="en-US" altLang="zh-CN" b="1">
                <a:latin typeface="Courier New" pitchFamily="49" charset="0"/>
                <a:ea typeface="SimSun" pitchFamily="2" charset="-122"/>
              </a:rPr>
              <a:t>  int      iy = (int) y;</a:t>
            </a:r>
          </a:p>
        </p:txBody>
      </p:sp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4102100"/>
            <a:ext cx="8431213" cy="157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5500">
                <a:ea typeface="SimSun" pitchFamily="2" charset="-122"/>
              </a:rPr>
              <a:t>Memory Locations, Addresses, and Operations</a:t>
            </a:r>
          </a:p>
        </p:txBody>
      </p:sp>
      <p:sp>
        <p:nvSpPr>
          <p:cNvPr id="83971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Memory Location, Addresses, and Operation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3276600" cy="4411662"/>
          </a:xfrm>
        </p:spPr>
        <p:txBody>
          <a:bodyPr/>
          <a:lstStyle/>
          <a:p>
            <a:r>
              <a:rPr lang="en-US" altLang="zh-CN" sz="2600">
                <a:ea typeface="SimSun" pitchFamily="2" charset="-122"/>
              </a:rPr>
              <a:t>Memory consists of many millions of storage cells, each of which can store 1 bit.</a:t>
            </a:r>
          </a:p>
          <a:p>
            <a:r>
              <a:rPr lang="en-US" altLang="zh-CN" sz="2600">
                <a:ea typeface="SimSun" pitchFamily="2" charset="-122"/>
              </a:rPr>
              <a:t>Data is usually accessed in </a:t>
            </a:r>
            <a:r>
              <a:rPr lang="en-US" altLang="zh-CN" sz="2600" i="1">
                <a:ea typeface="SimSun" pitchFamily="2" charset="-122"/>
              </a:rPr>
              <a:t>n</a:t>
            </a:r>
            <a:r>
              <a:rPr lang="en-US" altLang="zh-CN" sz="2600">
                <a:ea typeface="SimSun" pitchFamily="2" charset="-122"/>
              </a:rPr>
              <a:t>-bit groups. </a:t>
            </a:r>
            <a:r>
              <a:rPr lang="en-US" altLang="zh-CN" sz="2600" i="1">
                <a:ea typeface="SimSun" pitchFamily="2" charset="-122"/>
              </a:rPr>
              <a:t>n</a:t>
            </a:r>
            <a:r>
              <a:rPr lang="en-US" altLang="zh-CN" sz="2600">
                <a:ea typeface="SimSun" pitchFamily="2" charset="-122"/>
              </a:rPr>
              <a:t> is called word length.</a:t>
            </a:r>
          </a:p>
        </p:txBody>
      </p:sp>
      <p:grpSp>
        <p:nvGrpSpPr>
          <p:cNvPr id="86020" name="Group 40"/>
          <p:cNvGrpSpPr>
            <a:grpSpLocks/>
          </p:cNvGrpSpPr>
          <p:nvPr/>
        </p:nvGrpSpPr>
        <p:grpSpPr bwMode="auto">
          <a:xfrm>
            <a:off x="3733800" y="1339850"/>
            <a:ext cx="4814888" cy="5518150"/>
            <a:chOff x="697" y="816"/>
            <a:chExt cx="3033" cy="4018"/>
          </a:xfrm>
        </p:grpSpPr>
        <p:sp>
          <p:nvSpPr>
            <p:cNvPr id="86021" name="Rectangle 4"/>
            <p:cNvSpPr>
              <a:spLocks noChangeArrowheads="1"/>
            </p:cNvSpPr>
            <p:nvPr/>
          </p:nvSpPr>
          <p:spPr bwMode="auto">
            <a:xfrm>
              <a:off x="3048" y="1364"/>
              <a:ext cx="682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5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second word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22" name="Line 5"/>
            <p:cNvSpPr>
              <a:spLocks noChangeShapeType="1"/>
            </p:cNvSpPr>
            <p:nvPr/>
          </p:nvSpPr>
          <p:spPr bwMode="auto">
            <a:xfrm flipH="1">
              <a:off x="697" y="3011"/>
              <a:ext cx="1881" cy="1"/>
            </a:xfrm>
            <a:prstGeom prst="line">
              <a:avLst/>
            </a:prstGeom>
            <a:noFill/>
            <a:ln w="20638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3" name="Line 6"/>
            <p:cNvSpPr>
              <a:spLocks noChangeShapeType="1"/>
            </p:cNvSpPr>
            <p:nvPr/>
          </p:nvSpPr>
          <p:spPr bwMode="auto">
            <a:xfrm flipH="1">
              <a:off x="697" y="1600"/>
              <a:ext cx="1881" cy="1"/>
            </a:xfrm>
            <a:prstGeom prst="line">
              <a:avLst/>
            </a:prstGeom>
            <a:noFill/>
            <a:ln w="20638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4" name="Freeform 7"/>
            <p:cNvSpPr>
              <a:spLocks/>
            </p:cNvSpPr>
            <p:nvPr/>
          </p:nvSpPr>
          <p:spPr bwMode="auto">
            <a:xfrm>
              <a:off x="710" y="881"/>
              <a:ext cx="78" cy="40"/>
            </a:xfrm>
            <a:custGeom>
              <a:avLst/>
              <a:gdLst>
                <a:gd name="T0" fmla="*/ 6 w 6"/>
                <a:gd name="T1" fmla="*/ 0 h 3"/>
                <a:gd name="T2" fmla="*/ 0 w 6"/>
                <a:gd name="T3" fmla="*/ 1 h 3"/>
                <a:gd name="T4" fmla="*/ 6 w 6"/>
                <a:gd name="T5" fmla="*/ 3 h 3"/>
                <a:gd name="T6" fmla="*/ 6 w 6"/>
                <a:gd name="T7" fmla="*/ 1 h 3"/>
                <a:gd name="T8" fmla="*/ 6 w 6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"/>
                <a:gd name="T17" fmla="*/ 6 w 6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">
                  <a:moveTo>
                    <a:pt x="6" y="0"/>
                  </a:moveTo>
                  <a:lnTo>
                    <a:pt x="0" y="1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5" name="Freeform 8"/>
            <p:cNvSpPr>
              <a:spLocks/>
            </p:cNvSpPr>
            <p:nvPr/>
          </p:nvSpPr>
          <p:spPr bwMode="auto">
            <a:xfrm>
              <a:off x="710" y="881"/>
              <a:ext cx="78" cy="40"/>
            </a:xfrm>
            <a:custGeom>
              <a:avLst/>
              <a:gdLst>
                <a:gd name="T0" fmla="*/ 78 w 78"/>
                <a:gd name="T1" fmla="*/ 0 h 40"/>
                <a:gd name="T2" fmla="*/ 0 w 78"/>
                <a:gd name="T3" fmla="*/ 13 h 40"/>
                <a:gd name="T4" fmla="*/ 78 w 78"/>
                <a:gd name="T5" fmla="*/ 40 h 40"/>
                <a:gd name="T6" fmla="*/ 78 w 78"/>
                <a:gd name="T7" fmla="*/ 13 h 40"/>
                <a:gd name="T8" fmla="*/ 78 w 78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40"/>
                <a:gd name="T17" fmla="*/ 78 w 78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40">
                  <a:moveTo>
                    <a:pt x="78" y="0"/>
                  </a:moveTo>
                  <a:lnTo>
                    <a:pt x="0" y="13"/>
                  </a:lnTo>
                  <a:lnTo>
                    <a:pt x="78" y="40"/>
                  </a:lnTo>
                  <a:lnTo>
                    <a:pt x="78" y="13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6" name="Line 9"/>
            <p:cNvSpPr>
              <a:spLocks noChangeShapeType="1"/>
            </p:cNvSpPr>
            <p:nvPr/>
          </p:nvSpPr>
          <p:spPr bwMode="auto">
            <a:xfrm>
              <a:off x="772" y="894"/>
              <a:ext cx="63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7" name="Freeform 10"/>
            <p:cNvSpPr>
              <a:spLocks/>
            </p:cNvSpPr>
            <p:nvPr/>
          </p:nvSpPr>
          <p:spPr bwMode="auto">
            <a:xfrm>
              <a:off x="2497" y="881"/>
              <a:ext cx="79" cy="40"/>
            </a:xfrm>
            <a:custGeom>
              <a:avLst/>
              <a:gdLst>
                <a:gd name="T0" fmla="*/ 0 w 6"/>
                <a:gd name="T1" fmla="*/ 3 h 3"/>
                <a:gd name="T2" fmla="*/ 6 w 6"/>
                <a:gd name="T3" fmla="*/ 1 h 3"/>
                <a:gd name="T4" fmla="*/ 0 w 6"/>
                <a:gd name="T5" fmla="*/ 0 h 3"/>
                <a:gd name="T6" fmla="*/ 0 w 6"/>
                <a:gd name="T7" fmla="*/ 1 h 3"/>
                <a:gd name="T8" fmla="*/ 0 w 6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"/>
                <a:gd name="T17" fmla="*/ 6 w 6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">
                  <a:moveTo>
                    <a:pt x="0" y="3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8" name="Freeform 11"/>
            <p:cNvSpPr>
              <a:spLocks/>
            </p:cNvSpPr>
            <p:nvPr/>
          </p:nvSpPr>
          <p:spPr bwMode="auto">
            <a:xfrm>
              <a:off x="2497" y="881"/>
              <a:ext cx="79" cy="40"/>
            </a:xfrm>
            <a:custGeom>
              <a:avLst/>
              <a:gdLst>
                <a:gd name="T0" fmla="*/ 0 w 79"/>
                <a:gd name="T1" fmla="*/ 40 h 40"/>
                <a:gd name="T2" fmla="*/ 79 w 79"/>
                <a:gd name="T3" fmla="*/ 13 h 40"/>
                <a:gd name="T4" fmla="*/ 0 w 79"/>
                <a:gd name="T5" fmla="*/ 0 h 40"/>
                <a:gd name="T6" fmla="*/ 0 w 79"/>
                <a:gd name="T7" fmla="*/ 13 h 40"/>
                <a:gd name="T8" fmla="*/ 0 w 79"/>
                <a:gd name="T9" fmla="*/ 4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40"/>
                <a:gd name="T17" fmla="*/ 79 w 79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40">
                  <a:moveTo>
                    <a:pt x="0" y="40"/>
                  </a:moveTo>
                  <a:lnTo>
                    <a:pt x="79" y="13"/>
                  </a:lnTo>
                  <a:lnTo>
                    <a:pt x="0" y="0"/>
                  </a:lnTo>
                  <a:lnTo>
                    <a:pt x="0" y="13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9" name="Line 12"/>
            <p:cNvSpPr>
              <a:spLocks noChangeShapeType="1"/>
            </p:cNvSpPr>
            <p:nvPr/>
          </p:nvSpPr>
          <p:spPr bwMode="auto">
            <a:xfrm flipH="1">
              <a:off x="1873" y="894"/>
              <a:ext cx="66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30" name="Line 13"/>
            <p:cNvSpPr>
              <a:spLocks noChangeShapeType="1"/>
            </p:cNvSpPr>
            <p:nvPr/>
          </p:nvSpPr>
          <p:spPr bwMode="auto">
            <a:xfrm flipV="1">
              <a:off x="697" y="855"/>
              <a:ext cx="1" cy="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31" name="Line 14"/>
            <p:cNvSpPr>
              <a:spLocks noChangeShapeType="1"/>
            </p:cNvSpPr>
            <p:nvPr/>
          </p:nvSpPr>
          <p:spPr bwMode="auto">
            <a:xfrm flipV="1">
              <a:off x="2578" y="855"/>
              <a:ext cx="1" cy="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32" name="Line 15"/>
            <p:cNvSpPr>
              <a:spLocks noChangeShapeType="1"/>
            </p:cNvSpPr>
            <p:nvPr/>
          </p:nvSpPr>
          <p:spPr bwMode="auto">
            <a:xfrm flipH="1">
              <a:off x="697" y="1325"/>
              <a:ext cx="1881" cy="1"/>
            </a:xfrm>
            <a:prstGeom prst="line">
              <a:avLst/>
            </a:prstGeom>
            <a:noFill/>
            <a:ln w="20638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33" name="Rectangle 16"/>
            <p:cNvSpPr>
              <a:spLocks noChangeArrowheads="1"/>
            </p:cNvSpPr>
            <p:nvPr/>
          </p:nvSpPr>
          <p:spPr bwMode="auto">
            <a:xfrm>
              <a:off x="3048" y="1090"/>
              <a:ext cx="487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5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first word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34" name="Line 17"/>
            <p:cNvSpPr>
              <a:spLocks noChangeShapeType="1"/>
            </p:cNvSpPr>
            <p:nvPr/>
          </p:nvSpPr>
          <p:spPr bwMode="auto">
            <a:xfrm flipH="1">
              <a:off x="697" y="2710"/>
              <a:ext cx="1881" cy="1"/>
            </a:xfrm>
            <a:prstGeom prst="line">
              <a:avLst/>
            </a:prstGeom>
            <a:noFill/>
            <a:ln w="20638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35" name="Line 18"/>
            <p:cNvSpPr>
              <a:spLocks noChangeShapeType="1"/>
            </p:cNvSpPr>
            <p:nvPr/>
          </p:nvSpPr>
          <p:spPr bwMode="auto">
            <a:xfrm flipH="1">
              <a:off x="697" y="4147"/>
              <a:ext cx="1881" cy="1"/>
            </a:xfrm>
            <a:prstGeom prst="line">
              <a:avLst/>
            </a:prstGeom>
            <a:noFill/>
            <a:ln w="20638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36" name="Rectangle 19"/>
            <p:cNvSpPr>
              <a:spLocks noChangeArrowheads="1"/>
            </p:cNvSpPr>
            <p:nvPr/>
          </p:nvSpPr>
          <p:spPr bwMode="auto">
            <a:xfrm>
              <a:off x="697" y="1038"/>
              <a:ext cx="1881" cy="3383"/>
            </a:xfrm>
            <a:prstGeom prst="rect">
              <a:avLst/>
            </a:prstGeom>
            <a:noFill/>
            <a:ln w="2063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37" name="Rectangle 20"/>
            <p:cNvSpPr>
              <a:spLocks noChangeArrowheads="1"/>
            </p:cNvSpPr>
            <p:nvPr/>
          </p:nvSpPr>
          <p:spPr bwMode="auto">
            <a:xfrm>
              <a:off x="1429" y="4656"/>
              <a:ext cx="1596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6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Figure 2.5.   Memory words.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38" name="Rectangle 21"/>
            <p:cNvSpPr>
              <a:spLocks noChangeArrowheads="1"/>
            </p:cNvSpPr>
            <p:nvPr/>
          </p:nvSpPr>
          <p:spPr bwMode="auto">
            <a:xfrm>
              <a:off x="1494" y="816"/>
              <a:ext cx="67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500" i="1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n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39" name="Rectangle 22"/>
            <p:cNvSpPr>
              <a:spLocks noChangeArrowheads="1"/>
            </p:cNvSpPr>
            <p:nvPr/>
          </p:nvSpPr>
          <p:spPr bwMode="auto">
            <a:xfrm>
              <a:off x="1546" y="816"/>
              <a:ext cx="220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CA" sz="15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 </a:t>
              </a:r>
              <a:r>
                <a:rPr lang="en-CA" altLang="zh-CN" sz="15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bits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40" name="Rectangle 23"/>
            <p:cNvSpPr>
              <a:spLocks noChangeArrowheads="1"/>
            </p:cNvSpPr>
            <p:nvPr/>
          </p:nvSpPr>
          <p:spPr bwMode="auto">
            <a:xfrm>
              <a:off x="3035" y="4186"/>
              <a:ext cx="481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5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last word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41" name="Rectangle 24"/>
            <p:cNvSpPr>
              <a:spLocks noChangeArrowheads="1"/>
            </p:cNvSpPr>
            <p:nvPr/>
          </p:nvSpPr>
          <p:spPr bwMode="auto">
            <a:xfrm>
              <a:off x="3035" y="2788"/>
              <a:ext cx="27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500" i="1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i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42" name="Rectangle 25"/>
            <p:cNvSpPr>
              <a:spLocks noChangeArrowheads="1"/>
            </p:cNvSpPr>
            <p:nvPr/>
          </p:nvSpPr>
          <p:spPr bwMode="auto">
            <a:xfrm>
              <a:off x="3061" y="2788"/>
              <a:ext cx="427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CA" sz="15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 </a:t>
              </a:r>
              <a:r>
                <a:rPr lang="en-CA" altLang="zh-CN" sz="15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th word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86043" name="Freeform 26"/>
            <p:cNvSpPr>
              <a:spLocks/>
            </p:cNvSpPr>
            <p:nvPr/>
          </p:nvSpPr>
          <p:spPr bwMode="auto">
            <a:xfrm>
              <a:off x="2852" y="2854"/>
              <a:ext cx="79" cy="26"/>
            </a:xfrm>
            <a:custGeom>
              <a:avLst/>
              <a:gdLst>
                <a:gd name="T0" fmla="*/ 0 w 6"/>
                <a:gd name="T1" fmla="*/ 2 h 2"/>
                <a:gd name="T2" fmla="*/ 6 w 6"/>
                <a:gd name="T3" fmla="*/ 1 h 2"/>
                <a:gd name="T4" fmla="*/ 0 w 6"/>
                <a:gd name="T5" fmla="*/ 0 h 2"/>
                <a:gd name="T6" fmla="*/ 0 w 6"/>
                <a:gd name="T7" fmla="*/ 1 h 2"/>
                <a:gd name="T8" fmla="*/ 0 w 6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2"/>
                <a:gd name="T17" fmla="*/ 6 w 6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2">
                  <a:moveTo>
                    <a:pt x="0" y="2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4" name="Freeform 27"/>
            <p:cNvSpPr>
              <a:spLocks/>
            </p:cNvSpPr>
            <p:nvPr/>
          </p:nvSpPr>
          <p:spPr bwMode="auto">
            <a:xfrm>
              <a:off x="2852" y="2854"/>
              <a:ext cx="79" cy="26"/>
            </a:xfrm>
            <a:custGeom>
              <a:avLst/>
              <a:gdLst>
                <a:gd name="T0" fmla="*/ 0 w 79"/>
                <a:gd name="T1" fmla="*/ 26 h 26"/>
                <a:gd name="T2" fmla="*/ 79 w 79"/>
                <a:gd name="T3" fmla="*/ 13 h 26"/>
                <a:gd name="T4" fmla="*/ 0 w 79"/>
                <a:gd name="T5" fmla="*/ 0 h 26"/>
                <a:gd name="T6" fmla="*/ 0 w 79"/>
                <a:gd name="T7" fmla="*/ 13 h 26"/>
                <a:gd name="T8" fmla="*/ 0 w 79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26"/>
                <a:gd name="T17" fmla="*/ 79 w 79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26">
                  <a:moveTo>
                    <a:pt x="0" y="26"/>
                  </a:moveTo>
                  <a:lnTo>
                    <a:pt x="79" y="13"/>
                  </a:lnTo>
                  <a:lnTo>
                    <a:pt x="0" y="0"/>
                  </a:lnTo>
                  <a:lnTo>
                    <a:pt x="0" y="1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5" name="Line 28"/>
            <p:cNvSpPr>
              <a:spLocks noChangeShapeType="1"/>
            </p:cNvSpPr>
            <p:nvPr/>
          </p:nvSpPr>
          <p:spPr bwMode="auto">
            <a:xfrm flipH="1">
              <a:off x="2473" y="2867"/>
              <a:ext cx="3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6" name="Freeform 29"/>
            <p:cNvSpPr>
              <a:spLocks/>
            </p:cNvSpPr>
            <p:nvPr/>
          </p:nvSpPr>
          <p:spPr bwMode="auto">
            <a:xfrm>
              <a:off x="2852" y="1443"/>
              <a:ext cx="79" cy="39"/>
            </a:xfrm>
            <a:custGeom>
              <a:avLst/>
              <a:gdLst>
                <a:gd name="T0" fmla="*/ 0 w 6"/>
                <a:gd name="T1" fmla="*/ 3 h 3"/>
                <a:gd name="T2" fmla="*/ 6 w 6"/>
                <a:gd name="T3" fmla="*/ 1 h 3"/>
                <a:gd name="T4" fmla="*/ 0 w 6"/>
                <a:gd name="T5" fmla="*/ 0 h 3"/>
                <a:gd name="T6" fmla="*/ 0 w 6"/>
                <a:gd name="T7" fmla="*/ 1 h 3"/>
                <a:gd name="T8" fmla="*/ 0 w 6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"/>
                <a:gd name="T17" fmla="*/ 6 w 6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">
                  <a:moveTo>
                    <a:pt x="0" y="3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7" name="Freeform 30"/>
            <p:cNvSpPr>
              <a:spLocks/>
            </p:cNvSpPr>
            <p:nvPr/>
          </p:nvSpPr>
          <p:spPr bwMode="auto">
            <a:xfrm>
              <a:off x="2852" y="1443"/>
              <a:ext cx="79" cy="39"/>
            </a:xfrm>
            <a:custGeom>
              <a:avLst/>
              <a:gdLst>
                <a:gd name="T0" fmla="*/ 0 w 79"/>
                <a:gd name="T1" fmla="*/ 39 h 39"/>
                <a:gd name="T2" fmla="*/ 79 w 79"/>
                <a:gd name="T3" fmla="*/ 13 h 39"/>
                <a:gd name="T4" fmla="*/ 0 w 79"/>
                <a:gd name="T5" fmla="*/ 0 h 39"/>
                <a:gd name="T6" fmla="*/ 0 w 79"/>
                <a:gd name="T7" fmla="*/ 13 h 39"/>
                <a:gd name="T8" fmla="*/ 0 w 79"/>
                <a:gd name="T9" fmla="*/ 39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39"/>
                <a:gd name="T17" fmla="*/ 79 w 79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39">
                  <a:moveTo>
                    <a:pt x="0" y="39"/>
                  </a:moveTo>
                  <a:lnTo>
                    <a:pt x="79" y="13"/>
                  </a:lnTo>
                  <a:lnTo>
                    <a:pt x="0" y="0"/>
                  </a:lnTo>
                  <a:lnTo>
                    <a:pt x="0" y="13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8" name="Line 31"/>
            <p:cNvSpPr>
              <a:spLocks noChangeShapeType="1"/>
            </p:cNvSpPr>
            <p:nvPr/>
          </p:nvSpPr>
          <p:spPr bwMode="auto">
            <a:xfrm flipH="1">
              <a:off x="2473" y="1456"/>
              <a:ext cx="3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9" name="Freeform 32"/>
            <p:cNvSpPr>
              <a:spLocks/>
            </p:cNvSpPr>
            <p:nvPr/>
          </p:nvSpPr>
          <p:spPr bwMode="auto">
            <a:xfrm>
              <a:off x="2852" y="1169"/>
              <a:ext cx="79" cy="26"/>
            </a:xfrm>
            <a:custGeom>
              <a:avLst/>
              <a:gdLst>
                <a:gd name="T0" fmla="*/ 0 w 6"/>
                <a:gd name="T1" fmla="*/ 2 h 2"/>
                <a:gd name="T2" fmla="*/ 6 w 6"/>
                <a:gd name="T3" fmla="*/ 1 h 2"/>
                <a:gd name="T4" fmla="*/ 0 w 6"/>
                <a:gd name="T5" fmla="*/ 0 h 2"/>
                <a:gd name="T6" fmla="*/ 0 w 6"/>
                <a:gd name="T7" fmla="*/ 1 h 2"/>
                <a:gd name="T8" fmla="*/ 0 w 6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2"/>
                <a:gd name="T17" fmla="*/ 6 w 6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2">
                  <a:moveTo>
                    <a:pt x="0" y="2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50" name="Freeform 33"/>
            <p:cNvSpPr>
              <a:spLocks/>
            </p:cNvSpPr>
            <p:nvPr/>
          </p:nvSpPr>
          <p:spPr bwMode="auto">
            <a:xfrm>
              <a:off x="2852" y="1169"/>
              <a:ext cx="79" cy="26"/>
            </a:xfrm>
            <a:custGeom>
              <a:avLst/>
              <a:gdLst>
                <a:gd name="T0" fmla="*/ 0 w 79"/>
                <a:gd name="T1" fmla="*/ 26 h 26"/>
                <a:gd name="T2" fmla="*/ 79 w 79"/>
                <a:gd name="T3" fmla="*/ 13 h 26"/>
                <a:gd name="T4" fmla="*/ 0 w 79"/>
                <a:gd name="T5" fmla="*/ 0 h 26"/>
                <a:gd name="T6" fmla="*/ 0 w 79"/>
                <a:gd name="T7" fmla="*/ 13 h 26"/>
                <a:gd name="T8" fmla="*/ 0 w 79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26"/>
                <a:gd name="T17" fmla="*/ 79 w 79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26">
                  <a:moveTo>
                    <a:pt x="0" y="26"/>
                  </a:moveTo>
                  <a:lnTo>
                    <a:pt x="79" y="13"/>
                  </a:lnTo>
                  <a:lnTo>
                    <a:pt x="0" y="0"/>
                  </a:lnTo>
                  <a:lnTo>
                    <a:pt x="0" y="1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51" name="Line 34"/>
            <p:cNvSpPr>
              <a:spLocks noChangeShapeType="1"/>
            </p:cNvSpPr>
            <p:nvPr/>
          </p:nvSpPr>
          <p:spPr bwMode="auto">
            <a:xfrm flipH="1">
              <a:off x="2473" y="1182"/>
              <a:ext cx="3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52" name="Freeform 35"/>
            <p:cNvSpPr>
              <a:spLocks/>
            </p:cNvSpPr>
            <p:nvPr/>
          </p:nvSpPr>
          <p:spPr bwMode="auto">
            <a:xfrm>
              <a:off x="2852" y="4265"/>
              <a:ext cx="79" cy="39"/>
            </a:xfrm>
            <a:custGeom>
              <a:avLst/>
              <a:gdLst>
                <a:gd name="T0" fmla="*/ 0 w 6"/>
                <a:gd name="T1" fmla="*/ 3 h 3"/>
                <a:gd name="T2" fmla="*/ 6 w 6"/>
                <a:gd name="T3" fmla="*/ 1 h 3"/>
                <a:gd name="T4" fmla="*/ 0 w 6"/>
                <a:gd name="T5" fmla="*/ 0 h 3"/>
                <a:gd name="T6" fmla="*/ 0 w 6"/>
                <a:gd name="T7" fmla="*/ 1 h 3"/>
                <a:gd name="T8" fmla="*/ 0 w 6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"/>
                <a:gd name="T17" fmla="*/ 6 w 6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">
                  <a:moveTo>
                    <a:pt x="0" y="3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53" name="Freeform 36"/>
            <p:cNvSpPr>
              <a:spLocks/>
            </p:cNvSpPr>
            <p:nvPr/>
          </p:nvSpPr>
          <p:spPr bwMode="auto">
            <a:xfrm>
              <a:off x="2852" y="4265"/>
              <a:ext cx="79" cy="39"/>
            </a:xfrm>
            <a:custGeom>
              <a:avLst/>
              <a:gdLst>
                <a:gd name="T0" fmla="*/ 0 w 79"/>
                <a:gd name="T1" fmla="*/ 39 h 39"/>
                <a:gd name="T2" fmla="*/ 79 w 79"/>
                <a:gd name="T3" fmla="*/ 13 h 39"/>
                <a:gd name="T4" fmla="*/ 0 w 79"/>
                <a:gd name="T5" fmla="*/ 0 h 39"/>
                <a:gd name="T6" fmla="*/ 0 w 79"/>
                <a:gd name="T7" fmla="*/ 13 h 39"/>
                <a:gd name="T8" fmla="*/ 0 w 79"/>
                <a:gd name="T9" fmla="*/ 39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39"/>
                <a:gd name="T17" fmla="*/ 79 w 79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39">
                  <a:moveTo>
                    <a:pt x="0" y="39"/>
                  </a:moveTo>
                  <a:lnTo>
                    <a:pt x="79" y="13"/>
                  </a:lnTo>
                  <a:lnTo>
                    <a:pt x="0" y="0"/>
                  </a:lnTo>
                  <a:lnTo>
                    <a:pt x="0" y="13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54" name="Line 37"/>
            <p:cNvSpPr>
              <a:spLocks noChangeShapeType="1"/>
            </p:cNvSpPr>
            <p:nvPr/>
          </p:nvSpPr>
          <p:spPr bwMode="auto">
            <a:xfrm flipH="1">
              <a:off x="2473" y="4278"/>
              <a:ext cx="3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55" name="Text Box 38"/>
            <p:cNvSpPr txBox="1">
              <a:spLocks noChangeArrowheads="1"/>
            </p:cNvSpPr>
            <p:nvPr/>
          </p:nvSpPr>
          <p:spPr bwMode="auto">
            <a:xfrm>
              <a:off x="1536" y="1884"/>
              <a:ext cx="168" cy="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  <a:spcBef>
                  <a:spcPct val="50000"/>
                </a:spcBef>
              </a:pPr>
              <a:endParaRPr lang="zh-CN" altLang="en-US" sz="2000">
                <a:latin typeface="Nimbus Roman No9 L" charset="0"/>
                <a:ea typeface="SimSun" pitchFamily="2" charset="-122"/>
              </a:endParaRP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CA" altLang="zh-CN" sz="2000">
                  <a:latin typeface="Nimbus Roman No9 L" charset="0"/>
                  <a:ea typeface="SimSun" pitchFamily="2" charset="-122"/>
                </a:rPr>
                <a:t>•</a:t>
              </a:r>
              <a:endParaRPr lang="en-US" altLang="zh-CN" sz="2000">
                <a:latin typeface="Nimbus Roman No9 L" charset="0"/>
                <a:ea typeface="SimSun" pitchFamily="2" charset="-122"/>
              </a:endParaRP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CA" altLang="zh-CN" sz="2000">
                  <a:latin typeface="Nimbus Roman No9 L" charset="0"/>
                  <a:ea typeface="SimSun" pitchFamily="2" charset="-122"/>
                </a:rPr>
                <a:t>•</a:t>
              </a:r>
              <a:endParaRPr lang="en-US" altLang="zh-CN" sz="2000">
                <a:latin typeface="Nimbus Roman No9 L" charset="0"/>
                <a:ea typeface="SimSun" pitchFamily="2" charset="-122"/>
              </a:endParaRP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CA" altLang="zh-CN" sz="2000">
                  <a:latin typeface="Nimbus Roman No9 L" charset="0"/>
                  <a:ea typeface="SimSun" pitchFamily="2" charset="-122"/>
                </a:rPr>
                <a:t>•</a:t>
              </a: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endParaRPr lang="zh-CN" altLang="en-CA" sz="2000">
                <a:latin typeface="Nimbus Roman No9 L" charset="0"/>
                <a:ea typeface="SimSun" pitchFamily="2" charset="-122"/>
              </a:endParaRPr>
            </a:p>
          </p:txBody>
        </p:sp>
        <p:sp>
          <p:nvSpPr>
            <p:cNvPr id="86056" name="Text Box 39"/>
            <p:cNvSpPr txBox="1">
              <a:spLocks noChangeArrowheads="1"/>
            </p:cNvSpPr>
            <p:nvPr/>
          </p:nvSpPr>
          <p:spPr bwMode="auto">
            <a:xfrm>
              <a:off x="1548" y="3306"/>
              <a:ext cx="168" cy="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  <a:spcBef>
                  <a:spcPct val="50000"/>
                </a:spcBef>
              </a:pPr>
              <a:endParaRPr lang="zh-CN" altLang="en-US" sz="2000">
                <a:latin typeface="Nimbus Roman No9 L" charset="0"/>
                <a:ea typeface="SimSun" pitchFamily="2" charset="-122"/>
              </a:endParaRP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CA" altLang="zh-CN" sz="2000">
                  <a:latin typeface="Nimbus Roman No9 L" charset="0"/>
                  <a:ea typeface="SimSun" pitchFamily="2" charset="-122"/>
                </a:rPr>
                <a:t>•</a:t>
              </a:r>
              <a:endParaRPr lang="en-US" altLang="zh-CN" sz="2000">
                <a:latin typeface="Nimbus Roman No9 L" charset="0"/>
                <a:ea typeface="SimSun" pitchFamily="2" charset="-122"/>
              </a:endParaRP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CA" altLang="zh-CN" sz="2000">
                  <a:latin typeface="Nimbus Roman No9 L" charset="0"/>
                  <a:ea typeface="SimSun" pitchFamily="2" charset="-122"/>
                </a:rPr>
                <a:t>•</a:t>
              </a:r>
              <a:endParaRPr lang="en-US" altLang="zh-CN" sz="2000">
                <a:latin typeface="Nimbus Roman No9 L" charset="0"/>
                <a:ea typeface="SimSun" pitchFamily="2" charset="-122"/>
              </a:endParaRP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CA" altLang="zh-CN" sz="2000">
                  <a:latin typeface="Nimbus Roman No9 L" charset="0"/>
                  <a:ea typeface="SimSun" pitchFamily="2" charset="-122"/>
                </a:rPr>
                <a:t>•</a:t>
              </a: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endParaRPr lang="zh-CN" altLang="en-CA" sz="2000">
                <a:latin typeface="Nimbus Roman No9 L" charset="0"/>
                <a:ea typeface="SimSun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Memory Location, Addresses, and Operation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566737"/>
          </a:xfrm>
        </p:spPr>
        <p:txBody>
          <a:bodyPr/>
          <a:lstStyle/>
          <a:p>
            <a:r>
              <a:rPr lang="en-US" altLang="zh-CN">
                <a:ea typeface="SimSun" pitchFamily="2" charset="-122"/>
              </a:rPr>
              <a:t>32-bit word length example</a:t>
            </a:r>
          </a:p>
        </p:txBody>
      </p:sp>
      <p:sp>
        <p:nvSpPr>
          <p:cNvPr id="88068" name="Rectangle 5"/>
          <p:cNvSpPr>
            <a:spLocks noChangeArrowheads="1"/>
          </p:cNvSpPr>
          <p:nvPr/>
        </p:nvSpPr>
        <p:spPr bwMode="auto">
          <a:xfrm>
            <a:off x="3575050" y="6577013"/>
            <a:ext cx="18383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(b) Four characters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69" name="Rectangle 6"/>
          <p:cNvSpPr>
            <a:spLocks noChangeArrowheads="1"/>
          </p:cNvSpPr>
          <p:nvPr/>
        </p:nvSpPr>
        <p:spPr bwMode="auto">
          <a:xfrm>
            <a:off x="6502400" y="6126163"/>
            <a:ext cx="90170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character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0" name="Rectangle 7"/>
          <p:cNvSpPr>
            <a:spLocks noChangeArrowheads="1"/>
          </p:cNvSpPr>
          <p:nvPr/>
        </p:nvSpPr>
        <p:spPr bwMode="auto">
          <a:xfrm>
            <a:off x="4954588" y="6126163"/>
            <a:ext cx="90170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character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1" name="Rectangle 8"/>
          <p:cNvSpPr>
            <a:spLocks noChangeArrowheads="1"/>
          </p:cNvSpPr>
          <p:nvPr/>
        </p:nvSpPr>
        <p:spPr bwMode="auto">
          <a:xfrm>
            <a:off x="1885950" y="6126163"/>
            <a:ext cx="90170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character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2" name="Rectangle 9"/>
          <p:cNvSpPr>
            <a:spLocks noChangeArrowheads="1"/>
          </p:cNvSpPr>
          <p:nvPr/>
        </p:nvSpPr>
        <p:spPr bwMode="auto">
          <a:xfrm>
            <a:off x="3408363" y="6126163"/>
            <a:ext cx="90170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character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3" name="Rectangle 10"/>
          <p:cNvSpPr>
            <a:spLocks noChangeArrowheads="1"/>
          </p:cNvSpPr>
          <p:nvPr/>
        </p:nvSpPr>
        <p:spPr bwMode="auto">
          <a:xfrm>
            <a:off x="3551238" y="4173538"/>
            <a:ext cx="18891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(a) A signed integer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4" name="Rectangle 11"/>
          <p:cNvSpPr>
            <a:spLocks noChangeArrowheads="1"/>
          </p:cNvSpPr>
          <p:nvPr/>
        </p:nvSpPr>
        <p:spPr bwMode="auto">
          <a:xfrm>
            <a:off x="2266950" y="3365500"/>
            <a:ext cx="7826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Sign bit: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5" name="Rectangle 12"/>
          <p:cNvSpPr>
            <a:spLocks noChangeArrowheads="1"/>
          </p:cNvSpPr>
          <p:nvPr/>
        </p:nvSpPr>
        <p:spPr bwMode="auto">
          <a:xfrm>
            <a:off x="3813175" y="3360738"/>
            <a:ext cx="224631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CA" sz="19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CA" altLang="zh-CN" sz="19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for positive numbers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6" name="Rectangle 13"/>
          <p:cNvSpPr>
            <a:spLocks noChangeArrowheads="1"/>
          </p:cNvSpPr>
          <p:nvPr/>
        </p:nvSpPr>
        <p:spPr bwMode="auto">
          <a:xfrm>
            <a:off x="3813175" y="3668713"/>
            <a:ext cx="23415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CA" sz="19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CA" altLang="zh-CN" sz="19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for negative numbers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7" name="Rectangle 14"/>
          <p:cNvSpPr>
            <a:spLocks noChangeArrowheads="1"/>
          </p:cNvSpPr>
          <p:nvPr/>
        </p:nvSpPr>
        <p:spPr bwMode="auto">
          <a:xfrm>
            <a:off x="6597650" y="5911850"/>
            <a:ext cx="5651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ASCII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8" name="Rectangle 15"/>
          <p:cNvSpPr>
            <a:spLocks noChangeArrowheads="1"/>
          </p:cNvSpPr>
          <p:nvPr/>
        </p:nvSpPr>
        <p:spPr bwMode="auto">
          <a:xfrm>
            <a:off x="5073650" y="5911850"/>
            <a:ext cx="5651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ASCII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79" name="Rectangle 16"/>
          <p:cNvSpPr>
            <a:spLocks noChangeArrowheads="1"/>
          </p:cNvSpPr>
          <p:nvPr/>
        </p:nvSpPr>
        <p:spPr bwMode="auto">
          <a:xfrm>
            <a:off x="3527425" y="5911850"/>
            <a:ext cx="5651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ASCII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80" name="Rectangle 17"/>
          <p:cNvSpPr>
            <a:spLocks noChangeArrowheads="1"/>
          </p:cNvSpPr>
          <p:nvPr/>
        </p:nvSpPr>
        <p:spPr bwMode="auto">
          <a:xfrm>
            <a:off x="1981200" y="5911850"/>
            <a:ext cx="5651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ASCII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81" name="Line 18"/>
          <p:cNvSpPr>
            <a:spLocks noChangeShapeType="1"/>
          </p:cNvSpPr>
          <p:nvPr/>
        </p:nvSpPr>
        <p:spPr bwMode="auto">
          <a:xfrm flipV="1">
            <a:off x="1957388" y="2651125"/>
            <a:ext cx="1587" cy="4524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2" name="Line 19"/>
          <p:cNvSpPr>
            <a:spLocks noChangeShapeType="1"/>
          </p:cNvSpPr>
          <p:nvPr/>
        </p:nvSpPr>
        <p:spPr bwMode="auto">
          <a:xfrm flipV="1">
            <a:off x="2409825" y="2651125"/>
            <a:ext cx="1588" cy="4524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3" name="Line 20"/>
          <p:cNvSpPr>
            <a:spLocks noChangeShapeType="1"/>
          </p:cNvSpPr>
          <p:nvPr/>
        </p:nvSpPr>
        <p:spPr bwMode="auto">
          <a:xfrm flipV="1">
            <a:off x="6740525" y="2651125"/>
            <a:ext cx="1588" cy="4524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4" name="Line 21"/>
          <p:cNvSpPr>
            <a:spLocks noChangeShapeType="1"/>
          </p:cNvSpPr>
          <p:nvPr/>
        </p:nvSpPr>
        <p:spPr bwMode="auto">
          <a:xfrm flipV="1">
            <a:off x="7191375" y="2651125"/>
            <a:ext cx="1588" cy="4524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5" name="Line 22"/>
          <p:cNvSpPr>
            <a:spLocks noChangeShapeType="1"/>
          </p:cNvSpPr>
          <p:nvPr/>
        </p:nvSpPr>
        <p:spPr bwMode="auto">
          <a:xfrm>
            <a:off x="1481138" y="3103563"/>
            <a:ext cx="6186487" cy="1587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6" name="Line 23"/>
          <p:cNvSpPr>
            <a:spLocks noChangeShapeType="1"/>
          </p:cNvSpPr>
          <p:nvPr/>
        </p:nvSpPr>
        <p:spPr bwMode="auto">
          <a:xfrm>
            <a:off x="1481138" y="2651125"/>
            <a:ext cx="1587" cy="4524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7" name="Line 24"/>
          <p:cNvSpPr>
            <a:spLocks noChangeShapeType="1"/>
          </p:cNvSpPr>
          <p:nvPr/>
        </p:nvSpPr>
        <p:spPr bwMode="auto">
          <a:xfrm flipH="1">
            <a:off x="1481138" y="2651125"/>
            <a:ext cx="6186487" cy="1588"/>
          </a:xfrm>
          <a:prstGeom prst="line">
            <a:avLst/>
          </a:prstGeom>
          <a:noFill/>
          <a:ln w="714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8" name="Line 25"/>
          <p:cNvSpPr>
            <a:spLocks noChangeShapeType="1"/>
          </p:cNvSpPr>
          <p:nvPr/>
        </p:nvSpPr>
        <p:spPr bwMode="auto">
          <a:xfrm>
            <a:off x="1481138" y="2198688"/>
            <a:ext cx="1587" cy="309562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89" name="Line 26"/>
          <p:cNvSpPr>
            <a:spLocks noChangeShapeType="1"/>
          </p:cNvSpPr>
          <p:nvPr/>
        </p:nvSpPr>
        <p:spPr bwMode="auto">
          <a:xfrm flipH="1" flipV="1">
            <a:off x="7669213" y="2198688"/>
            <a:ext cx="20637" cy="309562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0" name="Freeform 27"/>
          <p:cNvSpPr>
            <a:spLocks/>
          </p:cNvSpPr>
          <p:nvPr/>
        </p:nvSpPr>
        <p:spPr bwMode="auto">
          <a:xfrm>
            <a:off x="7477125" y="2317750"/>
            <a:ext cx="142875" cy="47625"/>
          </a:xfrm>
          <a:custGeom>
            <a:avLst/>
            <a:gdLst>
              <a:gd name="T0" fmla="*/ 0 w 6"/>
              <a:gd name="T1" fmla="*/ 2 h 2"/>
              <a:gd name="T2" fmla="*/ 6 w 6"/>
              <a:gd name="T3" fmla="*/ 1 h 2"/>
              <a:gd name="T4" fmla="*/ 0 w 6"/>
              <a:gd name="T5" fmla="*/ 0 h 2"/>
              <a:gd name="T6" fmla="*/ 0 w 6"/>
              <a:gd name="T7" fmla="*/ 1 h 2"/>
              <a:gd name="T8" fmla="*/ 0 w 6"/>
              <a:gd name="T9" fmla="*/ 2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2"/>
              <a:gd name="T17" fmla="*/ 6 w 6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2">
                <a:moveTo>
                  <a:pt x="0" y="2"/>
                </a:moveTo>
                <a:lnTo>
                  <a:pt x="6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1" name="Freeform 28"/>
          <p:cNvSpPr>
            <a:spLocks/>
          </p:cNvSpPr>
          <p:nvPr/>
        </p:nvSpPr>
        <p:spPr bwMode="auto">
          <a:xfrm>
            <a:off x="7477125" y="2317750"/>
            <a:ext cx="142875" cy="47625"/>
          </a:xfrm>
          <a:custGeom>
            <a:avLst/>
            <a:gdLst>
              <a:gd name="T0" fmla="*/ 0 w 90"/>
              <a:gd name="T1" fmla="*/ 30 h 30"/>
              <a:gd name="T2" fmla="*/ 90 w 90"/>
              <a:gd name="T3" fmla="*/ 15 h 30"/>
              <a:gd name="T4" fmla="*/ 0 w 90"/>
              <a:gd name="T5" fmla="*/ 0 h 30"/>
              <a:gd name="T6" fmla="*/ 0 w 90"/>
              <a:gd name="T7" fmla="*/ 15 h 30"/>
              <a:gd name="T8" fmla="*/ 0 w 90"/>
              <a:gd name="T9" fmla="*/ 3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30"/>
              <a:gd name="T17" fmla="*/ 90 w 9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30">
                <a:moveTo>
                  <a:pt x="0" y="30"/>
                </a:moveTo>
                <a:lnTo>
                  <a:pt x="90" y="15"/>
                </a:lnTo>
                <a:lnTo>
                  <a:pt x="0" y="0"/>
                </a:lnTo>
                <a:lnTo>
                  <a:pt x="0" y="15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2" name="Line 29"/>
          <p:cNvSpPr>
            <a:spLocks noChangeShapeType="1"/>
          </p:cNvSpPr>
          <p:nvPr/>
        </p:nvSpPr>
        <p:spPr bwMode="auto">
          <a:xfrm flipH="1">
            <a:off x="5026025" y="2341563"/>
            <a:ext cx="2451100" cy="158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3" name="Freeform 30"/>
          <p:cNvSpPr>
            <a:spLocks/>
          </p:cNvSpPr>
          <p:nvPr/>
        </p:nvSpPr>
        <p:spPr bwMode="auto">
          <a:xfrm>
            <a:off x="1528763" y="2317750"/>
            <a:ext cx="142875" cy="47625"/>
          </a:xfrm>
          <a:custGeom>
            <a:avLst/>
            <a:gdLst>
              <a:gd name="T0" fmla="*/ 6 w 6"/>
              <a:gd name="T1" fmla="*/ 0 h 2"/>
              <a:gd name="T2" fmla="*/ 0 w 6"/>
              <a:gd name="T3" fmla="*/ 1 h 2"/>
              <a:gd name="T4" fmla="*/ 6 w 6"/>
              <a:gd name="T5" fmla="*/ 2 h 2"/>
              <a:gd name="T6" fmla="*/ 6 w 6"/>
              <a:gd name="T7" fmla="*/ 1 h 2"/>
              <a:gd name="T8" fmla="*/ 6 w 6"/>
              <a:gd name="T9" fmla="*/ 0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2"/>
              <a:gd name="T17" fmla="*/ 6 w 6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2">
                <a:moveTo>
                  <a:pt x="6" y="0"/>
                </a:moveTo>
                <a:lnTo>
                  <a:pt x="0" y="1"/>
                </a:lnTo>
                <a:lnTo>
                  <a:pt x="6" y="2"/>
                </a:lnTo>
                <a:lnTo>
                  <a:pt x="6" y="1"/>
                </a:lnTo>
                <a:lnTo>
                  <a:pt x="6" y="0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4" name="Freeform 31"/>
          <p:cNvSpPr>
            <a:spLocks/>
          </p:cNvSpPr>
          <p:nvPr/>
        </p:nvSpPr>
        <p:spPr bwMode="auto">
          <a:xfrm>
            <a:off x="1528763" y="2317750"/>
            <a:ext cx="142875" cy="47625"/>
          </a:xfrm>
          <a:custGeom>
            <a:avLst/>
            <a:gdLst>
              <a:gd name="T0" fmla="*/ 90 w 90"/>
              <a:gd name="T1" fmla="*/ 0 h 30"/>
              <a:gd name="T2" fmla="*/ 0 w 90"/>
              <a:gd name="T3" fmla="*/ 15 h 30"/>
              <a:gd name="T4" fmla="*/ 90 w 90"/>
              <a:gd name="T5" fmla="*/ 30 h 30"/>
              <a:gd name="T6" fmla="*/ 90 w 90"/>
              <a:gd name="T7" fmla="*/ 15 h 30"/>
              <a:gd name="T8" fmla="*/ 90 w 90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30"/>
              <a:gd name="T17" fmla="*/ 90 w 9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30">
                <a:moveTo>
                  <a:pt x="90" y="0"/>
                </a:moveTo>
                <a:lnTo>
                  <a:pt x="0" y="15"/>
                </a:lnTo>
                <a:lnTo>
                  <a:pt x="90" y="30"/>
                </a:lnTo>
                <a:lnTo>
                  <a:pt x="90" y="15"/>
                </a:lnTo>
                <a:lnTo>
                  <a:pt x="9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5" name="Line 32"/>
          <p:cNvSpPr>
            <a:spLocks noChangeShapeType="1"/>
          </p:cNvSpPr>
          <p:nvPr/>
        </p:nvSpPr>
        <p:spPr bwMode="auto">
          <a:xfrm>
            <a:off x="1671638" y="2341563"/>
            <a:ext cx="2451100" cy="158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6" name="Rectangle 33"/>
          <p:cNvSpPr>
            <a:spLocks noChangeArrowheads="1"/>
          </p:cNvSpPr>
          <p:nvPr/>
        </p:nvSpPr>
        <p:spPr bwMode="auto">
          <a:xfrm>
            <a:off x="4289425" y="2198688"/>
            <a:ext cx="63817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32 bits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097" name="Line 34"/>
          <p:cNvSpPr>
            <a:spLocks noChangeShapeType="1"/>
          </p:cNvSpPr>
          <p:nvPr/>
        </p:nvSpPr>
        <p:spPr bwMode="auto">
          <a:xfrm flipV="1">
            <a:off x="3027363" y="5078413"/>
            <a:ext cx="1587" cy="452437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8" name="Line 35"/>
          <p:cNvSpPr>
            <a:spLocks noChangeShapeType="1"/>
          </p:cNvSpPr>
          <p:nvPr/>
        </p:nvSpPr>
        <p:spPr bwMode="auto">
          <a:xfrm flipV="1">
            <a:off x="4575175" y="5078413"/>
            <a:ext cx="1588" cy="452437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99" name="Line 36"/>
          <p:cNvSpPr>
            <a:spLocks noChangeShapeType="1"/>
          </p:cNvSpPr>
          <p:nvPr/>
        </p:nvSpPr>
        <p:spPr bwMode="auto">
          <a:xfrm flipV="1">
            <a:off x="6121400" y="5078413"/>
            <a:ext cx="1588" cy="452437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00" name="Rectangle 37"/>
          <p:cNvSpPr>
            <a:spLocks noChangeArrowheads="1"/>
          </p:cNvSpPr>
          <p:nvPr/>
        </p:nvSpPr>
        <p:spPr bwMode="auto">
          <a:xfrm>
            <a:off x="1481138" y="5078413"/>
            <a:ext cx="6186487" cy="452437"/>
          </a:xfrm>
          <a:prstGeom prst="rect">
            <a:avLst/>
          </a:prstGeom>
          <a:noFill/>
          <a:ln w="23813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01" name="Rectangle 38"/>
          <p:cNvSpPr>
            <a:spLocks noChangeArrowheads="1"/>
          </p:cNvSpPr>
          <p:nvPr/>
        </p:nvSpPr>
        <p:spPr bwMode="auto">
          <a:xfrm>
            <a:off x="2028825" y="5126038"/>
            <a:ext cx="5175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8 bits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02" name="Rectangle 39"/>
          <p:cNvSpPr>
            <a:spLocks noChangeArrowheads="1"/>
          </p:cNvSpPr>
          <p:nvPr/>
        </p:nvSpPr>
        <p:spPr bwMode="auto">
          <a:xfrm>
            <a:off x="3575050" y="5126038"/>
            <a:ext cx="5175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8 bits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03" name="Rectangle 40"/>
          <p:cNvSpPr>
            <a:spLocks noChangeArrowheads="1"/>
          </p:cNvSpPr>
          <p:nvPr/>
        </p:nvSpPr>
        <p:spPr bwMode="auto">
          <a:xfrm>
            <a:off x="5121275" y="5126038"/>
            <a:ext cx="5175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8 bits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04" name="Rectangle 41"/>
          <p:cNvSpPr>
            <a:spLocks noChangeArrowheads="1"/>
          </p:cNvSpPr>
          <p:nvPr/>
        </p:nvSpPr>
        <p:spPr bwMode="auto">
          <a:xfrm>
            <a:off x="6645275" y="5126038"/>
            <a:ext cx="5175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8 bits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05" name="Line 42"/>
          <p:cNvSpPr>
            <a:spLocks noChangeShapeType="1"/>
          </p:cNvSpPr>
          <p:nvPr/>
        </p:nvSpPr>
        <p:spPr bwMode="auto">
          <a:xfrm flipV="1">
            <a:off x="7667625" y="2651125"/>
            <a:ext cx="1588" cy="4524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06" name="Freeform 43"/>
          <p:cNvSpPr>
            <a:spLocks/>
          </p:cNvSpPr>
          <p:nvPr/>
        </p:nvSpPr>
        <p:spPr bwMode="auto">
          <a:xfrm>
            <a:off x="1695450" y="3222625"/>
            <a:ext cx="47625" cy="142875"/>
          </a:xfrm>
          <a:custGeom>
            <a:avLst/>
            <a:gdLst>
              <a:gd name="T0" fmla="*/ 2 w 2"/>
              <a:gd name="T1" fmla="*/ 6 h 6"/>
              <a:gd name="T2" fmla="*/ 1 w 2"/>
              <a:gd name="T3" fmla="*/ 0 h 6"/>
              <a:gd name="T4" fmla="*/ 0 w 2"/>
              <a:gd name="T5" fmla="*/ 6 h 6"/>
              <a:gd name="T6" fmla="*/ 1 w 2"/>
              <a:gd name="T7" fmla="*/ 6 h 6"/>
              <a:gd name="T8" fmla="*/ 2 w 2"/>
              <a:gd name="T9" fmla="*/ 6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"/>
              <a:gd name="T16" fmla="*/ 0 h 6"/>
              <a:gd name="T17" fmla="*/ 2 w 2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" h="6">
                <a:moveTo>
                  <a:pt x="2" y="6"/>
                </a:moveTo>
                <a:lnTo>
                  <a:pt x="1" y="0"/>
                </a:lnTo>
                <a:lnTo>
                  <a:pt x="0" y="6"/>
                </a:lnTo>
                <a:lnTo>
                  <a:pt x="1" y="6"/>
                </a:lnTo>
                <a:lnTo>
                  <a:pt x="2" y="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07" name="Freeform 44"/>
          <p:cNvSpPr>
            <a:spLocks/>
          </p:cNvSpPr>
          <p:nvPr/>
        </p:nvSpPr>
        <p:spPr bwMode="auto">
          <a:xfrm>
            <a:off x="1695450" y="3222625"/>
            <a:ext cx="47625" cy="142875"/>
          </a:xfrm>
          <a:custGeom>
            <a:avLst/>
            <a:gdLst>
              <a:gd name="T0" fmla="*/ 30 w 30"/>
              <a:gd name="T1" fmla="*/ 90 h 90"/>
              <a:gd name="T2" fmla="*/ 15 w 30"/>
              <a:gd name="T3" fmla="*/ 0 h 90"/>
              <a:gd name="T4" fmla="*/ 0 w 30"/>
              <a:gd name="T5" fmla="*/ 90 h 90"/>
              <a:gd name="T6" fmla="*/ 15 w 30"/>
              <a:gd name="T7" fmla="*/ 90 h 90"/>
              <a:gd name="T8" fmla="*/ 30 w 30"/>
              <a:gd name="T9" fmla="*/ 9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90"/>
              <a:gd name="T17" fmla="*/ 30 w 3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90">
                <a:moveTo>
                  <a:pt x="30" y="90"/>
                </a:moveTo>
                <a:lnTo>
                  <a:pt x="15" y="0"/>
                </a:lnTo>
                <a:lnTo>
                  <a:pt x="0" y="90"/>
                </a:lnTo>
                <a:lnTo>
                  <a:pt x="15" y="90"/>
                </a:lnTo>
                <a:lnTo>
                  <a:pt x="30" y="9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08" name="Freeform 45"/>
          <p:cNvSpPr>
            <a:spLocks/>
          </p:cNvSpPr>
          <p:nvPr/>
        </p:nvSpPr>
        <p:spPr bwMode="auto">
          <a:xfrm>
            <a:off x="1719263" y="3365500"/>
            <a:ext cx="381000" cy="166688"/>
          </a:xfrm>
          <a:custGeom>
            <a:avLst/>
            <a:gdLst>
              <a:gd name="T0" fmla="*/ 0 w 16"/>
              <a:gd name="T1" fmla="*/ 0 h 7"/>
              <a:gd name="T2" fmla="*/ 0 w 16"/>
              <a:gd name="T3" fmla="*/ 2 h 7"/>
              <a:gd name="T4" fmla="*/ 0 w 16"/>
              <a:gd name="T5" fmla="*/ 7 h 7"/>
              <a:gd name="T6" fmla="*/ 7 w 16"/>
              <a:gd name="T7" fmla="*/ 7 h 7"/>
              <a:gd name="T8" fmla="*/ 16 w 16"/>
              <a:gd name="T9" fmla="*/ 7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7"/>
              <a:gd name="T17" fmla="*/ 16 w 16"/>
              <a:gd name="T18" fmla="*/ 7 h 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7">
                <a:moveTo>
                  <a:pt x="0" y="0"/>
                </a:moveTo>
                <a:lnTo>
                  <a:pt x="0" y="2"/>
                </a:lnTo>
                <a:lnTo>
                  <a:pt x="0" y="7"/>
                </a:lnTo>
                <a:lnTo>
                  <a:pt x="7" y="7"/>
                </a:lnTo>
                <a:lnTo>
                  <a:pt x="16" y="7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09" name="Rectangle 46"/>
          <p:cNvSpPr>
            <a:spLocks noChangeArrowheads="1"/>
          </p:cNvSpPr>
          <p:nvPr/>
        </p:nvSpPr>
        <p:spPr bwMode="auto">
          <a:xfrm>
            <a:off x="1600200" y="2698750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0" name="Rectangle 47"/>
          <p:cNvSpPr>
            <a:spLocks noChangeArrowheads="1"/>
          </p:cNvSpPr>
          <p:nvPr/>
        </p:nvSpPr>
        <p:spPr bwMode="auto">
          <a:xfrm>
            <a:off x="1719263" y="2817813"/>
            <a:ext cx="1841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1" name="Rectangle 48"/>
          <p:cNvSpPr>
            <a:spLocks noChangeArrowheads="1"/>
          </p:cNvSpPr>
          <p:nvPr/>
        </p:nvSpPr>
        <p:spPr bwMode="auto">
          <a:xfrm>
            <a:off x="2052638" y="2698750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2" name="Rectangle 49"/>
          <p:cNvSpPr>
            <a:spLocks noChangeArrowheads="1"/>
          </p:cNvSpPr>
          <p:nvPr/>
        </p:nvSpPr>
        <p:spPr bwMode="auto">
          <a:xfrm>
            <a:off x="2171700" y="2817813"/>
            <a:ext cx="1841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3" name="Rectangle 50"/>
          <p:cNvSpPr>
            <a:spLocks noChangeArrowheads="1"/>
          </p:cNvSpPr>
          <p:nvPr/>
        </p:nvSpPr>
        <p:spPr bwMode="auto">
          <a:xfrm>
            <a:off x="6881813" y="2698750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4" name="Rectangle 51"/>
          <p:cNvSpPr>
            <a:spLocks noChangeArrowheads="1"/>
          </p:cNvSpPr>
          <p:nvPr/>
        </p:nvSpPr>
        <p:spPr bwMode="auto">
          <a:xfrm>
            <a:off x="7000875" y="281781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5" name="Rectangle 52"/>
          <p:cNvSpPr>
            <a:spLocks noChangeArrowheads="1"/>
          </p:cNvSpPr>
          <p:nvPr/>
        </p:nvSpPr>
        <p:spPr bwMode="auto">
          <a:xfrm>
            <a:off x="7334250" y="2698750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6" name="Rectangle 53"/>
          <p:cNvSpPr>
            <a:spLocks noChangeArrowheads="1"/>
          </p:cNvSpPr>
          <p:nvPr/>
        </p:nvSpPr>
        <p:spPr bwMode="auto">
          <a:xfrm>
            <a:off x="7453313" y="281781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7" name="Rectangle 54"/>
          <p:cNvSpPr>
            <a:spLocks noChangeArrowheads="1"/>
          </p:cNvSpPr>
          <p:nvPr/>
        </p:nvSpPr>
        <p:spPr bwMode="auto">
          <a:xfrm>
            <a:off x="3146425" y="3365500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8" name="Rectangle 55"/>
          <p:cNvSpPr>
            <a:spLocks noChangeArrowheads="1"/>
          </p:cNvSpPr>
          <p:nvPr/>
        </p:nvSpPr>
        <p:spPr bwMode="auto">
          <a:xfrm>
            <a:off x="3265488" y="3482975"/>
            <a:ext cx="1841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19" name="Rectangle 56"/>
          <p:cNvSpPr>
            <a:spLocks noChangeArrowheads="1"/>
          </p:cNvSpPr>
          <p:nvPr/>
        </p:nvSpPr>
        <p:spPr bwMode="auto">
          <a:xfrm>
            <a:off x="3670300" y="3365500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20" name="Rectangle 57"/>
          <p:cNvSpPr>
            <a:spLocks noChangeArrowheads="1"/>
          </p:cNvSpPr>
          <p:nvPr/>
        </p:nvSpPr>
        <p:spPr bwMode="auto">
          <a:xfrm>
            <a:off x="3432175" y="3365500"/>
            <a:ext cx="125413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=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21" name="Rectangle 58"/>
          <p:cNvSpPr>
            <a:spLocks noChangeArrowheads="1"/>
          </p:cNvSpPr>
          <p:nvPr/>
        </p:nvSpPr>
        <p:spPr bwMode="auto">
          <a:xfrm>
            <a:off x="3146425" y="3673475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22" name="Rectangle 59"/>
          <p:cNvSpPr>
            <a:spLocks noChangeArrowheads="1"/>
          </p:cNvSpPr>
          <p:nvPr/>
        </p:nvSpPr>
        <p:spPr bwMode="auto">
          <a:xfrm>
            <a:off x="3265488" y="3792538"/>
            <a:ext cx="1841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23" name="Rectangle 60"/>
          <p:cNvSpPr>
            <a:spLocks noChangeArrowheads="1"/>
          </p:cNvSpPr>
          <p:nvPr/>
        </p:nvSpPr>
        <p:spPr bwMode="auto">
          <a:xfrm>
            <a:off x="3670300" y="3673475"/>
            <a:ext cx="120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24" name="Rectangle 61"/>
          <p:cNvSpPr>
            <a:spLocks noChangeArrowheads="1"/>
          </p:cNvSpPr>
          <p:nvPr/>
        </p:nvSpPr>
        <p:spPr bwMode="auto">
          <a:xfrm>
            <a:off x="3432175" y="3673475"/>
            <a:ext cx="125413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7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=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125" name="Freeform 62"/>
          <p:cNvSpPr>
            <a:spLocks/>
          </p:cNvSpPr>
          <p:nvPr/>
        </p:nvSpPr>
        <p:spPr bwMode="auto">
          <a:xfrm>
            <a:off x="6881813" y="5697538"/>
            <a:ext cx="690562" cy="119062"/>
          </a:xfrm>
          <a:custGeom>
            <a:avLst/>
            <a:gdLst>
              <a:gd name="T0" fmla="*/ 29 w 29"/>
              <a:gd name="T1" fmla="*/ 0 h 5"/>
              <a:gd name="T2" fmla="*/ 28 w 29"/>
              <a:gd name="T3" fmla="*/ 1 h 5"/>
              <a:gd name="T4" fmla="*/ 27 w 29"/>
              <a:gd name="T5" fmla="*/ 2 h 5"/>
              <a:gd name="T6" fmla="*/ 27 w 29"/>
              <a:gd name="T7" fmla="*/ 2 h 5"/>
              <a:gd name="T8" fmla="*/ 27 w 29"/>
              <a:gd name="T9" fmla="*/ 2 h 5"/>
              <a:gd name="T10" fmla="*/ 26 w 29"/>
              <a:gd name="T11" fmla="*/ 2 h 5"/>
              <a:gd name="T12" fmla="*/ 18 w 29"/>
              <a:gd name="T13" fmla="*/ 2 h 5"/>
              <a:gd name="T14" fmla="*/ 15 w 29"/>
              <a:gd name="T15" fmla="*/ 2 h 5"/>
              <a:gd name="T16" fmla="*/ 11 w 29"/>
              <a:gd name="T17" fmla="*/ 2 h 5"/>
              <a:gd name="T18" fmla="*/ 3 w 29"/>
              <a:gd name="T19" fmla="*/ 2 h 5"/>
              <a:gd name="T20" fmla="*/ 3 w 29"/>
              <a:gd name="T21" fmla="*/ 2 h 5"/>
              <a:gd name="T22" fmla="*/ 2 w 29"/>
              <a:gd name="T23" fmla="*/ 2 h 5"/>
              <a:gd name="T24" fmla="*/ 2 w 29"/>
              <a:gd name="T25" fmla="*/ 2 h 5"/>
              <a:gd name="T26" fmla="*/ 1 w 29"/>
              <a:gd name="T27" fmla="*/ 3 h 5"/>
              <a:gd name="T28" fmla="*/ 0 w 29"/>
              <a:gd name="T29" fmla="*/ 5 h 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9"/>
              <a:gd name="T46" fmla="*/ 0 h 5"/>
              <a:gd name="T47" fmla="*/ 29 w 29"/>
              <a:gd name="T48" fmla="*/ 5 h 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9" h="5">
                <a:moveTo>
                  <a:pt x="29" y="0"/>
                </a:moveTo>
                <a:lnTo>
                  <a:pt x="28" y="1"/>
                </a:lnTo>
                <a:lnTo>
                  <a:pt x="27" y="2"/>
                </a:lnTo>
                <a:lnTo>
                  <a:pt x="26" y="2"/>
                </a:lnTo>
                <a:lnTo>
                  <a:pt x="18" y="2"/>
                </a:lnTo>
                <a:lnTo>
                  <a:pt x="15" y="2"/>
                </a:lnTo>
                <a:lnTo>
                  <a:pt x="11" y="2"/>
                </a:lnTo>
                <a:lnTo>
                  <a:pt x="3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26" name="Freeform 63"/>
          <p:cNvSpPr>
            <a:spLocks/>
          </p:cNvSpPr>
          <p:nvPr/>
        </p:nvSpPr>
        <p:spPr bwMode="auto">
          <a:xfrm>
            <a:off x="6216650" y="5697538"/>
            <a:ext cx="665163" cy="119062"/>
          </a:xfrm>
          <a:custGeom>
            <a:avLst/>
            <a:gdLst>
              <a:gd name="T0" fmla="*/ 0 w 28"/>
              <a:gd name="T1" fmla="*/ 0 h 5"/>
              <a:gd name="T2" fmla="*/ 0 w 28"/>
              <a:gd name="T3" fmla="*/ 1 h 5"/>
              <a:gd name="T4" fmla="*/ 1 w 28"/>
              <a:gd name="T5" fmla="*/ 2 h 5"/>
              <a:gd name="T6" fmla="*/ 1 w 28"/>
              <a:gd name="T7" fmla="*/ 2 h 5"/>
              <a:gd name="T8" fmla="*/ 2 w 28"/>
              <a:gd name="T9" fmla="*/ 2 h 5"/>
              <a:gd name="T10" fmla="*/ 2 w 28"/>
              <a:gd name="T11" fmla="*/ 2 h 5"/>
              <a:gd name="T12" fmla="*/ 10 w 28"/>
              <a:gd name="T13" fmla="*/ 2 h 5"/>
              <a:gd name="T14" fmla="*/ 14 w 28"/>
              <a:gd name="T15" fmla="*/ 2 h 5"/>
              <a:gd name="T16" fmla="*/ 18 w 28"/>
              <a:gd name="T17" fmla="*/ 2 h 5"/>
              <a:gd name="T18" fmla="*/ 26 w 28"/>
              <a:gd name="T19" fmla="*/ 2 h 5"/>
              <a:gd name="T20" fmla="*/ 26 w 28"/>
              <a:gd name="T21" fmla="*/ 2 h 5"/>
              <a:gd name="T22" fmla="*/ 26 w 28"/>
              <a:gd name="T23" fmla="*/ 2 h 5"/>
              <a:gd name="T24" fmla="*/ 27 w 28"/>
              <a:gd name="T25" fmla="*/ 2 h 5"/>
              <a:gd name="T26" fmla="*/ 27 w 28"/>
              <a:gd name="T27" fmla="*/ 3 h 5"/>
              <a:gd name="T28" fmla="*/ 28 w 28"/>
              <a:gd name="T29" fmla="*/ 5 h 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8"/>
              <a:gd name="T46" fmla="*/ 0 h 5"/>
              <a:gd name="T47" fmla="*/ 28 w 28"/>
              <a:gd name="T48" fmla="*/ 5 h 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8" h="5">
                <a:moveTo>
                  <a:pt x="0" y="0"/>
                </a:moveTo>
                <a:lnTo>
                  <a:pt x="0" y="1"/>
                </a:lnTo>
                <a:lnTo>
                  <a:pt x="1" y="2"/>
                </a:lnTo>
                <a:lnTo>
                  <a:pt x="2" y="2"/>
                </a:lnTo>
                <a:lnTo>
                  <a:pt x="10" y="2"/>
                </a:lnTo>
                <a:lnTo>
                  <a:pt x="14" y="2"/>
                </a:lnTo>
                <a:lnTo>
                  <a:pt x="18" y="2"/>
                </a:lnTo>
                <a:lnTo>
                  <a:pt x="26" y="2"/>
                </a:lnTo>
                <a:lnTo>
                  <a:pt x="27" y="2"/>
                </a:lnTo>
                <a:lnTo>
                  <a:pt x="27" y="3"/>
                </a:lnTo>
                <a:lnTo>
                  <a:pt x="28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27" name="Freeform 64"/>
          <p:cNvSpPr>
            <a:spLocks/>
          </p:cNvSpPr>
          <p:nvPr/>
        </p:nvSpPr>
        <p:spPr bwMode="auto">
          <a:xfrm>
            <a:off x="5335588" y="5697538"/>
            <a:ext cx="690562" cy="119062"/>
          </a:xfrm>
          <a:custGeom>
            <a:avLst/>
            <a:gdLst>
              <a:gd name="T0" fmla="*/ 29 w 29"/>
              <a:gd name="T1" fmla="*/ 0 h 5"/>
              <a:gd name="T2" fmla="*/ 28 w 29"/>
              <a:gd name="T3" fmla="*/ 1 h 5"/>
              <a:gd name="T4" fmla="*/ 28 w 29"/>
              <a:gd name="T5" fmla="*/ 2 h 5"/>
              <a:gd name="T6" fmla="*/ 27 w 29"/>
              <a:gd name="T7" fmla="*/ 2 h 5"/>
              <a:gd name="T8" fmla="*/ 27 w 29"/>
              <a:gd name="T9" fmla="*/ 2 h 5"/>
              <a:gd name="T10" fmla="*/ 26 w 29"/>
              <a:gd name="T11" fmla="*/ 2 h 5"/>
              <a:gd name="T12" fmla="*/ 18 w 29"/>
              <a:gd name="T13" fmla="*/ 2 h 5"/>
              <a:gd name="T14" fmla="*/ 15 w 29"/>
              <a:gd name="T15" fmla="*/ 2 h 5"/>
              <a:gd name="T16" fmla="*/ 11 w 29"/>
              <a:gd name="T17" fmla="*/ 2 h 5"/>
              <a:gd name="T18" fmla="*/ 3 w 29"/>
              <a:gd name="T19" fmla="*/ 2 h 5"/>
              <a:gd name="T20" fmla="*/ 3 w 29"/>
              <a:gd name="T21" fmla="*/ 2 h 5"/>
              <a:gd name="T22" fmla="*/ 2 w 29"/>
              <a:gd name="T23" fmla="*/ 2 h 5"/>
              <a:gd name="T24" fmla="*/ 2 w 29"/>
              <a:gd name="T25" fmla="*/ 2 h 5"/>
              <a:gd name="T26" fmla="*/ 1 w 29"/>
              <a:gd name="T27" fmla="*/ 3 h 5"/>
              <a:gd name="T28" fmla="*/ 0 w 29"/>
              <a:gd name="T29" fmla="*/ 5 h 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9"/>
              <a:gd name="T46" fmla="*/ 0 h 5"/>
              <a:gd name="T47" fmla="*/ 29 w 29"/>
              <a:gd name="T48" fmla="*/ 5 h 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9" h="5">
                <a:moveTo>
                  <a:pt x="29" y="0"/>
                </a:moveTo>
                <a:lnTo>
                  <a:pt x="28" y="1"/>
                </a:lnTo>
                <a:lnTo>
                  <a:pt x="28" y="2"/>
                </a:lnTo>
                <a:lnTo>
                  <a:pt x="27" y="2"/>
                </a:lnTo>
                <a:lnTo>
                  <a:pt x="26" y="2"/>
                </a:lnTo>
                <a:lnTo>
                  <a:pt x="18" y="2"/>
                </a:lnTo>
                <a:lnTo>
                  <a:pt x="15" y="2"/>
                </a:lnTo>
                <a:lnTo>
                  <a:pt x="11" y="2"/>
                </a:lnTo>
                <a:lnTo>
                  <a:pt x="3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28" name="Freeform 65"/>
          <p:cNvSpPr>
            <a:spLocks/>
          </p:cNvSpPr>
          <p:nvPr/>
        </p:nvSpPr>
        <p:spPr bwMode="auto">
          <a:xfrm>
            <a:off x="4668838" y="5697538"/>
            <a:ext cx="666750" cy="119062"/>
          </a:xfrm>
          <a:custGeom>
            <a:avLst/>
            <a:gdLst>
              <a:gd name="T0" fmla="*/ 0 w 28"/>
              <a:gd name="T1" fmla="*/ 0 h 5"/>
              <a:gd name="T2" fmla="*/ 1 w 28"/>
              <a:gd name="T3" fmla="*/ 1 h 5"/>
              <a:gd name="T4" fmla="*/ 1 w 28"/>
              <a:gd name="T5" fmla="*/ 2 h 5"/>
              <a:gd name="T6" fmla="*/ 2 w 28"/>
              <a:gd name="T7" fmla="*/ 2 h 5"/>
              <a:gd name="T8" fmla="*/ 2 w 28"/>
              <a:gd name="T9" fmla="*/ 2 h 5"/>
              <a:gd name="T10" fmla="*/ 3 w 28"/>
              <a:gd name="T11" fmla="*/ 2 h 5"/>
              <a:gd name="T12" fmla="*/ 10 w 28"/>
              <a:gd name="T13" fmla="*/ 2 h 5"/>
              <a:gd name="T14" fmla="*/ 14 w 28"/>
              <a:gd name="T15" fmla="*/ 2 h 5"/>
              <a:gd name="T16" fmla="*/ 18 w 28"/>
              <a:gd name="T17" fmla="*/ 2 h 5"/>
              <a:gd name="T18" fmla="*/ 26 w 28"/>
              <a:gd name="T19" fmla="*/ 2 h 5"/>
              <a:gd name="T20" fmla="*/ 26 w 28"/>
              <a:gd name="T21" fmla="*/ 2 h 5"/>
              <a:gd name="T22" fmla="*/ 27 w 28"/>
              <a:gd name="T23" fmla="*/ 2 h 5"/>
              <a:gd name="T24" fmla="*/ 27 w 28"/>
              <a:gd name="T25" fmla="*/ 3 h 5"/>
              <a:gd name="T26" fmla="*/ 28 w 28"/>
              <a:gd name="T27" fmla="*/ 5 h 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8"/>
              <a:gd name="T43" fmla="*/ 0 h 5"/>
              <a:gd name="T44" fmla="*/ 28 w 28"/>
              <a:gd name="T45" fmla="*/ 5 h 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8" h="5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10" y="2"/>
                </a:lnTo>
                <a:lnTo>
                  <a:pt x="14" y="2"/>
                </a:lnTo>
                <a:lnTo>
                  <a:pt x="18" y="2"/>
                </a:lnTo>
                <a:lnTo>
                  <a:pt x="26" y="2"/>
                </a:lnTo>
                <a:lnTo>
                  <a:pt x="27" y="2"/>
                </a:lnTo>
                <a:lnTo>
                  <a:pt x="27" y="3"/>
                </a:lnTo>
                <a:lnTo>
                  <a:pt x="28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29" name="Freeform 66"/>
          <p:cNvSpPr>
            <a:spLocks/>
          </p:cNvSpPr>
          <p:nvPr/>
        </p:nvSpPr>
        <p:spPr bwMode="auto">
          <a:xfrm>
            <a:off x="3813175" y="5697538"/>
            <a:ext cx="666750" cy="119062"/>
          </a:xfrm>
          <a:custGeom>
            <a:avLst/>
            <a:gdLst>
              <a:gd name="T0" fmla="*/ 28 w 28"/>
              <a:gd name="T1" fmla="*/ 0 h 5"/>
              <a:gd name="T2" fmla="*/ 27 w 28"/>
              <a:gd name="T3" fmla="*/ 1 h 5"/>
              <a:gd name="T4" fmla="*/ 27 w 28"/>
              <a:gd name="T5" fmla="*/ 2 h 5"/>
              <a:gd name="T6" fmla="*/ 26 w 28"/>
              <a:gd name="T7" fmla="*/ 2 h 5"/>
              <a:gd name="T8" fmla="*/ 26 w 28"/>
              <a:gd name="T9" fmla="*/ 2 h 5"/>
              <a:gd name="T10" fmla="*/ 25 w 28"/>
              <a:gd name="T11" fmla="*/ 2 h 5"/>
              <a:gd name="T12" fmla="*/ 18 w 28"/>
              <a:gd name="T13" fmla="*/ 2 h 5"/>
              <a:gd name="T14" fmla="*/ 14 w 28"/>
              <a:gd name="T15" fmla="*/ 2 h 5"/>
              <a:gd name="T16" fmla="*/ 10 w 28"/>
              <a:gd name="T17" fmla="*/ 2 h 5"/>
              <a:gd name="T18" fmla="*/ 2 w 28"/>
              <a:gd name="T19" fmla="*/ 2 h 5"/>
              <a:gd name="T20" fmla="*/ 2 w 28"/>
              <a:gd name="T21" fmla="*/ 2 h 5"/>
              <a:gd name="T22" fmla="*/ 1 w 28"/>
              <a:gd name="T23" fmla="*/ 2 h 5"/>
              <a:gd name="T24" fmla="*/ 1 w 28"/>
              <a:gd name="T25" fmla="*/ 3 h 5"/>
              <a:gd name="T26" fmla="*/ 0 w 28"/>
              <a:gd name="T27" fmla="*/ 5 h 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8"/>
              <a:gd name="T43" fmla="*/ 0 h 5"/>
              <a:gd name="T44" fmla="*/ 28 w 28"/>
              <a:gd name="T45" fmla="*/ 5 h 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8" h="5">
                <a:moveTo>
                  <a:pt x="28" y="0"/>
                </a:moveTo>
                <a:lnTo>
                  <a:pt x="27" y="1"/>
                </a:lnTo>
                <a:lnTo>
                  <a:pt x="27" y="2"/>
                </a:lnTo>
                <a:lnTo>
                  <a:pt x="26" y="2"/>
                </a:lnTo>
                <a:lnTo>
                  <a:pt x="25" y="2"/>
                </a:lnTo>
                <a:lnTo>
                  <a:pt x="18" y="2"/>
                </a:lnTo>
                <a:lnTo>
                  <a:pt x="14" y="2"/>
                </a:lnTo>
                <a:lnTo>
                  <a:pt x="10" y="2"/>
                </a:ln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lnTo>
                  <a:pt x="0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30" name="Freeform 67"/>
          <p:cNvSpPr>
            <a:spLocks/>
          </p:cNvSpPr>
          <p:nvPr/>
        </p:nvSpPr>
        <p:spPr bwMode="auto">
          <a:xfrm>
            <a:off x="3122613" y="5697538"/>
            <a:ext cx="690562" cy="119062"/>
          </a:xfrm>
          <a:custGeom>
            <a:avLst/>
            <a:gdLst>
              <a:gd name="T0" fmla="*/ 0 w 29"/>
              <a:gd name="T1" fmla="*/ 0 h 5"/>
              <a:gd name="T2" fmla="*/ 1 w 29"/>
              <a:gd name="T3" fmla="*/ 1 h 5"/>
              <a:gd name="T4" fmla="*/ 1 w 29"/>
              <a:gd name="T5" fmla="*/ 2 h 5"/>
              <a:gd name="T6" fmla="*/ 2 w 29"/>
              <a:gd name="T7" fmla="*/ 2 h 5"/>
              <a:gd name="T8" fmla="*/ 2 w 29"/>
              <a:gd name="T9" fmla="*/ 2 h 5"/>
              <a:gd name="T10" fmla="*/ 3 w 29"/>
              <a:gd name="T11" fmla="*/ 2 h 5"/>
              <a:gd name="T12" fmla="*/ 11 w 29"/>
              <a:gd name="T13" fmla="*/ 2 h 5"/>
              <a:gd name="T14" fmla="*/ 14 w 29"/>
              <a:gd name="T15" fmla="*/ 2 h 5"/>
              <a:gd name="T16" fmla="*/ 18 w 29"/>
              <a:gd name="T17" fmla="*/ 2 h 5"/>
              <a:gd name="T18" fmla="*/ 26 w 29"/>
              <a:gd name="T19" fmla="*/ 2 h 5"/>
              <a:gd name="T20" fmla="*/ 26 w 29"/>
              <a:gd name="T21" fmla="*/ 2 h 5"/>
              <a:gd name="T22" fmla="*/ 27 w 29"/>
              <a:gd name="T23" fmla="*/ 2 h 5"/>
              <a:gd name="T24" fmla="*/ 27 w 29"/>
              <a:gd name="T25" fmla="*/ 2 h 5"/>
              <a:gd name="T26" fmla="*/ 28 w 29"/>
              <a:gd name="T27" fmla="*/ 3 h 5"/>
              <a:gd name="T28" fmla="*/ 29 w 29"/>
              <a:gd name="T29" fmla="*/ 5 h 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9"/>
              <a:gd name="T46" fmla="*/ 0 h 5"/>
              <a:gd name="T47" fmla="*/ 29 w 29"/>
              <a:gd name="T48" fmla="*/ 5 h 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9" h="5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11" y="2"/>
                </a:lnTo>
                <a:lnTo>
                  <a:pt x="14" y="2"/>
                </a:lnTo>
                <a:lnTo>
                  <a:pt x="18" y="2"/>
                </a:lnTo>
                <a:lnTo>
                  <a:pt x="26" y="2"/>
                </a:lnTo>
                <a:lnTo>
                  <a:pt x="27" y="2"/>
                </a:lnTo>
                <a:lnTo>
                  <a:pt x="28" y="3"/>
                </a:lnTo>
                <a:lnTo>
                  <a:pt x="29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31" name="Freeform 68"/>
          <p:cNvSpPr>
            <a:spLocks/>
          </p:cNvSpPr>
          <p:nvPr/>
        </p:nvSpPr>
        <p:spPr bwMode="auto">
          <a:xfrm>
            <a:off x="2266950" y="5697538"/>
            <a:ext cx="688975" cy="119062"/>
          </a:xfrm>
          <a:custGeom>
            <a:avLst/>
            <a:gdLst>
              <a:gd name="T0" fmla="*/ 29 w 29"/>
              <a:gd name="T1" fmla="*/ 0 h 5"/>
              <a:gd name="T2" fmla="*/ 28 w 29"/>
              <a:gd name="T3" fmla="*/ 1 h 5"/>
              <a:gd name="T4" fmla="*/ 27 w 29"/>
              <a:gd name="T5" fmla="*/ 2 h 5"/>
              <a:gd name="T6" fmla="*/ 27 w 29"/>
              <a:gd name="T7" fmla="*/ 2 h 5"/>
              <a:gd name="T8" fmla="*/ 26 w 29"/>
              <a:gd name="T9" fmla="*/ 2 h 5"/>
              <a:gd name="T10" fmla="*/ 26 w 29"/>
              <a:gd name="T11" fmla="*/ 2 h 5"/>
              <a:gd name="T12" fmla="*/ 18 w 29"/>
              <a:gd name="T13" fmla="*/ 2 h 5"/>
              <a:gd name="T14" fmla="*/ 14 w 29"/>
              <a:gd name="T15" fmla="*/ 2 h 5"/>
              <a:gd name="T16" fmla="*/ 11 w 29"/>
              <a:gd name="T17" fmla="*/ 2 h 5"/>
              <a:gd name="T18" fmla="*/ 3 w 29"/>
              <a:gd name="T19" fmla="*/ 2 h 5"/>
              <a:gd name="T20" fmla="*/ 2 w 29"/>
              <a:gd name="T21" fmla="*/ 2 h 5"/>
              <a:gd name="T22" fmla="*/ 2 w 29"/>
              <a:gd name="T23" fmla="*/ 2 h 5"/>
              <a:gd name="T24" fmla="*/ 1 w 29"/>
              <a:gd name="T25" fmla="*/ 2 h 5"/>
              <a:gd name="T26" fmla="*/ 1 w 29"/>
              <a:gd name="T27" fmla="*/ 3 h 5"/>
              <a:gd name="T28" fmla="*/ 0 w 29"/>
              <a:gd name="T29" fmla="*/ 5 h 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9"/>
              <a:gd name="T46" fmla="*/ 0 h 5"/>
              <a:gd name="T47" fmla="*/ 29 w 29"/>
              <a:gd name="T48" fmla="*/ 5 h 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9" h="5">
                <a:moveTo>
                  <a:pt x="29" y="0"/>
                </a:moveTo>
                <a:lnTo>
                  <a:pt x="28" y="1"/>
                </a:lnTo>
                <a:lnTo>
                  <a:pt x="27" y="2"/>
                </a:lnTo>
                <a:lnTo>
                  <a:pt x="26" y="2"/>
                </a:lnTo>
                <a:lnTo>
                  <a:pt x="18" y="2"/>
                </a:lnTo>
                <a:lnTo>
                  <a:pt x="14" y="2"/>
                </a:lnTo>
                <a:lnTo>
                  <a:pt x="11" y="2"/>
                </a:lnTo>
                <a:lnTo>
                  <a:pt x="3" y="2"/>
                </a:ln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lnTo>
                  <a:pt x="0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32" name="Freeform 69"/>
          <p:cNvSpPr>
            <a:spLocks/>
          </p:cNvSpPr>
          <p:nvPr/>
        </p:nvSpPr>
        <p:spPr bwMode="auto">
          <a:xfrm>
            <a:off x="1576388" y="5697538"/>
            <a:ext cx="690562" cy="119062"/>
          </a:xfrm>
          <a:custGeom>
            <a:avLst/>
            <a:gdLst>
              <a:gd name="T0" fmla="*/ 0 w 29"/>
              <a:gd name="T1" fmla="*/ 0 h 5"/>
              <a:gd name="T2" fmla="*/ 1 w 29"/>
              <a:gd name="T3" fmla="*/ 1 h 5"/>
              <a:gd name="T4" fmla="*/ 2 w 29"/>
              <a:gd name="T5" fmla="*/ 2 h 5"/>
              <a:gd name="T6" fmla="*/ 2 w 29"/>
              <a:gd name="T7" fmla="*/ 2 h 5"/>
              <a:gd name="T8" fmla="*/ 3 w 29"/>
              <a:gd name="T9" fmla="*/ 2 h 5"/>
              <a:gd name="T10" fmla="*/ 3 w 29"/>
              <a:gd name="T11" fmla="*/ 2 h 5"/>
              <a:gd name="T12" fmla="*/ 11 w 29"/>
              <a:gd name="T13" fmla="*/ 2 h 5"/>
              <a:gd name="T14" fmla="*/ 15 w 29"/>
              <a:gd name="T15" fmla="*/ 2 h 5"/>
              <a:gd name="T16" fmla="*/ 18 w 29"/>
              <a:gd name="T17" fmla="*/ 2 h 5"/>
              <a:gd name="T18" fmla="*/ 26 w 29"/>
              <a:gd name="T19" fmla="*/ 2 h 5"/>
              <a:gd name="T20" fmla="*/ 27 w 29"/>
              <a:gd name="T21" fmla="*/ 2 h 5"/>
              <a:gd name="T22" fmla="*/ 27 w 29"/>
              <a:gd name="T23" fmla="*/ 2 h 5"/>
              <a:gd name="T24" fmla="*/ 28 w 29"/>
              <a:gd name="T25" fmla="*/ 3 h 5"/>
              <a:gd name="T26" fmla="*/ 29 w 29"/>
              <a:gd name="T27" fmla="*/ 5 h 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9"/>
              <a:gd name="T43" fmla="*/ 0 h 5"/>
              <a:gd name="T44" fmla="*/ 29 w 29"/>
              <a:gd name="T45" fmla="*/ 5 h 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9" h="5">
                <a:moveTo>
                  <a:pt x="0" y="0"/>
                </a:moveTo>
                <a:lnTo>
                  <a:pt x="1" y="1"/>
                </a:lnTo>
                <a:lnTo>
                  <a:pt x="2" y="2"/>
                </a:lnTo>
                <a:lnTo>
                  <a:pt x="3" y="2"/>
                </a:lnTo>
                <a:lnTo>
                  <a:pt x="11" y="2"/>
                </a:lnTo>
                <a:lnTo>
                  <a:pt x="15" y="2"/>
                </a:lnTo>
                <a:lnTo>
                  <a:pt x="18" y="2"/>
                </a:lnTo>
                <a:lnTo>
                  <a:pt x="26" y="2"/>
                </a:lnTo>
                <a:lnTo>
                  <a:pt x="27" y="2"/>
                </a:lnTo>
                <a:lnTo>
                  <a:pt x="28" y="3"/>
                </a:lnTo>
                <a:lnTo>
                  <a:pt x="29" y="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133" name="Text Box 70"/>
          <p:cNvSpPr txBox="1">
            <a:spLocks noChangeArrowheads="1"/>
          </p:cNvSpPr>
          <p:nvPr/>
        </p:nvSpPr>
        <p:spPr bwMode="auto">
          <a:xfrm rot="-5400000">
            <a:off x="4521200" y="2352675"/>
            <a:ext cx="266700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  <a:endParaRPr lang="en-US" altLang="zh-CN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  <a:endParaRPr lang="en-US" altLang="zh-CN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CA" sz="2000">
              <a:latin typeface="Nimbus Roman No9 L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Memory Location, Addresses, and Operation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600">
                <a:ea typeface="SimSun" pitchFamily="2" charset="-122"/>
              </a:rPr>
              <a:t>To retrieve information from memory, either for one word or one byte (8-bit), addresses for each location are needed.</a:t>
            </a:r>
          </a:p>
          <a:p>
            <a:r>
              <a:rPr lang="en-US" altLang="zh-CN" sz="2600">
                <a:ea typeface="SimSun" pitchFamily="2" charset="-122"/>
              </a:rPr>
              <a:t>A </a:t>
            </a:r>
            <a:r>
              <a:rPr lang="en-US" altLang="zh-CN" sz="2600" i="1">
                <a:ea typeface="SimSun" pitchFamily="2" charset="-122"/>
              </a:rPr>
              <a:t>k</a:t>
            </a:r>
            <a:r>
              <a:rPr lang="en-US" altLang="zh-CN" sz="2600">
                <a:ea typeface="SimSun" pitchFamily="2" charset="-122"/>
              </a:rPr>
              <a:t>-bit address memory has 2</a:t>
            </a:r>
            <a:r>
              <a:rPr lang="en-US" altLang="zh-CN" sz="2600" baseline="30000">
                <a:ea typeface="SimSun" pitchFamily="2" charset="-122"/>
              </a:rPr>
              <a:t>k</a:t>
            </a:r>
            <a:r>
              <a:rPr lang="en-US" altLang="zh-CN" sz="2600">
                <a:ea typeface="SimSun" pitchFamily="2" charset="-122"/>
              </a:rPr>
              <a:t> memory locations, namely 0 – 2</a:t>
            </a:r>
            <a:r>
              <a:rPr lang="en-US" altLang="zh-CN" sz="2600" baseline="30000">
                <a:ea typeface="SimSun" pitchFamily="2" charset="-122"/>
              </a:rPr>
              <a:t>k</a:t>
            </a:r>
            <a:r>
              <a:rPr lang="en-US" altLang="zh-CN" sz="2600">
                <a:ea typeface="SimSun" pitchFamily="2" charset="-122"/>
              </a:rPr>
              <a:t>-1, called memory space.</a:t>
            </a:r>
          </a:p>
          <a:p>
            <a:r>
              <a:rPr lang="en-US" altLang="zh-CN" sz="2600">
                <a:ea typeface="SimSun" pitchFamily="2" charset="-122"/>
              </a:rPr>
              <a:t>24-bit memory: 2</a:t>
            </a:r>
            <a:r>
              <a:rPr lang="en-US" altLang="zh-CN" sz="2600" baseline="30000">
                <a:ea typeface="SimSun" pitchFamily="2" charset="-122"/>
              </a:rPr>
              <a:t>24</a:t>
            </a:r>
            <a:r>
              <a:rPr lang="en-US" altLang="zh-CN" sz="2600">
                <a:ea typeface="SimSun" pitchFamily="2" charset="-122"/>
              </a:rPr>
              <a:t> = 16,777,216 = 16M (1M=2</a:t>
            </a:r>
            <a:r>
              <a:rPr lang="en-US" altLang="zh-CN" sz="2600" baseline="30000">
                <a:ea typeface="SimSun" pitchFamily="2" charset="-122"/>
              </a:rPr>
              <a:t>20</a:t>
            </a:r>
            <a:r>
              <a:rPr lang="en-US" altLang="zh-CN" sz="2600">
                <a:ea typeface="SimSun" pitchFamily="2" charset="-122"/>
              </a:rPr>
              <a:t>)</a:t>
            </a:r>
          </a:p>
          <a:p>
            <a:r>
              <a:rPr lang="en-US" altLang="zh-CN" sz="2600">
                <a:ea typeface="SimSun" pitchFamily="2" charset="-122"/>
              </a:rPr>
              <a:t>32-bit memory: 2</a:t>
            </a:r>
            <a:r>
              <a:rPr lang="en-US" altLang="zh-CN" sz="2600" baseline="30000">
                <a:ea typeface="SimSun" pitchFamily="2" charset="-122"/>
              </a:rPr>
              <a:t>32</a:t>
            </a:r>
            <a:r>
              <a:rPr lang="en-US" altLang="zh-CN" sz="2600">
                <a:ea typeface="SimSun" pitchFamily="2" charset="-122"/>
              </a:rPr>
              <a:t> = 4G (1G=2</a:t>
            </a:r>
            <a:r>
              <a:rPr lang="en-US" altLang="zh-CN" sz="2600" baseline="30000">
                <a:ea typeface="SimSun" pitchFamily="2" charset="-122"/>
              </a:rPr>
              <a:t>30</a:t>
            </a:r>
            <a:r>
              <a:rPr lang="en-US" altLang="zh-CN" sz="2600">
                <a:ea typeface="SimSun" pitchFamily="2" charset="-122"/>
              </a:rPr>
              <a:t>)</a:t>
            </a:r>
          </a:p>
          <a:p>
            <a:r>
              <a:rPr lang="en-US" altLang="zh-CN" sz="2600">
                <a:ea typeface="SimSun" pitchFamily="2" charset="-122"/>
              </a:rPr>
              <a:t>1K(kilo)=2</a:t>
            </a:r>
            <a:r>
              <a:rPr lang="en-US" altLang="zh-CN" sz="2600" baseline="30000">
                <a:ea typeface="SimSun" pitchFamily="2" charset="-122"/>
              </a:rPr>
              <a:t>10</a:t>
            </a:r>
          </a:p>
          <a:p>
            <a:r>
              <a:rPr lang="en-US" altLang="zh-CN" sz="2600">
                <a:ea typeface="SimSun" pitchFamily="2" charset="-122"/>
              </a:rPr>
              <a:t>1T(tera)=2</a:t>
            </a:r>
            <a:r>
              <a:rPr lang="en-US" altLang="zh-CN" sz="2600" baseline="30000">
                <a:ea typeface="SimSun" pitchFamily="2" charset="-122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Memory Location, Addresses, and Operation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It is impractical to assign distinct addresses to individual bit locations in the memory.</a:t>
            </a:r>
          </a:p>
          <a:p>
            <a:r>
              <a:rPr lang="en-US" altLang="zh-CN">
                <a:ea typeface="SimSun" pitchFamily="2" charset="-122"/>
              </a:rPr>
              <a:t>The most practical assignment is to have successive addresses refer to successive byte locations in the memory – byte-addressable memory.</a:t>
            </a:r>
          </a:p>
          <a:p>
            <a:r>
              <a:rPr lang="en-US" altLang="zh-CN">
                <a:ea typeface="SimSun" pitchFamily="2" charset="-122"/>
              </a:rPr>
              <a:t>Byte locations have addresses 0, 1, 2, … If word length is 32 bits, they successive words are located at addresses 0, 4, 8,…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Big-Endian and Little-Endian Assignments</a:t>
            </a:r>
          </a:p>
        </p:txBody>
      </p:sp>
      <p:sp>
        <p:nvSpPr>
          <p:cNvPr id="94211" name="Rectangle 4"/>
          <p:cNvSpPr>
            <a:spLocks noChangeArrowheads="1"/>
          </p:cNvSpPr>
          <p:nvPr/>
        </p:nvSpPr>
        <p:spPr bwMode="auto">
          <a:xfrm>
            <a:off x="1747838" y="2671763"/>
            <a:ext cx="2397125" cy="3116262"/>
          </a:xfrm>
          <a:prstGeom prst="rect">
            <a:avLst/>
          </a:prstGeom>
          <a:noFill/>
          <a:ln w="1905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2" name="Line 5"/>
          <p:cNvSpPr>
            <a:spLocks noChangeShapeType="1"/>
          </p:cNvSpPr>
          <p:nvPr/>
        </p:nvSpPr>
        <p:spPr bwMode="auto">
          <a:xfrm flipH="1">
            <a:off x="1747838" y="3143250"/>
            <a:ext cx="2397125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3" name="Line 6"/>
          <p:cNvSpPr>
            <a:spLocks noChangeShapeType="1"/>
          </p:cNvSpPr>
          <p:nvPr/>
        </p:nvSpPr>
        <p:spPr bwMode="auto">
          <a:xfrm flipH="1">
            <a:off x="1747838" y="3635375"/>
            <a:ext cx="2397125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4" name="Line 7"/>
          <p:cNvSpPr>
            <a:spLocks noChangeShapeType="1"/>
          </p:cNvSpPr>
          <p:nvPr/>
        </p:nvSpPr>
        <p:spPr bwMode="auto">
          <a:xfrm flipV="1">
            <a:off x="2351088" y="2671763"/>
            <a:ext cx="1587" cy="9636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5" name="Line 8"/>
          <p:cNvSpPr>
            <a:spLocks noChangeShapeType="1"/>
          </p:cNvSpPr>
          <p:nvPr/>
        </p:nvSpPr>
        <p:spPr bwMode="auto">
          <a:xfrm flipV="1">
            <a:off x="2936875" y="2671763"/>
            <a:ext cx="1588" cy="9636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6" name="Line 9"/>
          <p:cNvSpPr>
            <a:spLocks noChangeShapeType="1"/>
          </p:cNvSpPr>
          <p:nvPr/>
        </p:nvSpPr>
        <p:spPr bwMode="auto">
          <a:xfrm flipV="1">
            <a:off x="3541713" y="2671763"/>
            <a:ext cx="1587" cy="9636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7" name="Line 10"/>
          <p:cNvSpPr>
            <a:spLocks noChangeShapeType="1"/>
          </p:cNvSpPr>
          <p:nvPr/>
        </p:nvSpPr>
        <p:spPr bwMode="auto">
          <a:xfrm flipH="1">
            <a:off x="1747838" y="5316538"/>
            <a:ext cx="2397125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8" name="Line 11"/>
          <p:cNvSpPr>
            <a:spLocks noChangeShapeType="1"/>
          </p:cNvSpPr>
          <p:nvPr/>
        </p:nvSpPr>
        <p:spPr bwMode="auto">
          <a:xfrm flipV="1">
            <a:off x="2351088" y="5316538"/>
            <a:ext cx="1587" cy="4714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9" name="Line 12"/>
          <p:cNvSpPr>
            <a:spLocks noChangeShapeType="1"/>
          </p:cNvSpPr>
          <p:nvPr/>
        </p:nvSpPr>
        <p:spPr bwMode="auto">
          <a:xfrm flipV="1">
            <a:off x="2936875" y="5316538"/>
            <a:ext cx="1588" cy="4714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20" name="Line 13"/>
          <p:cNvSpPr>
            <a:spLocks noChangeShapeType="1"/>
          </p:cNvSpPr>
          <p:nvPr/>
        </p:nvSpPr>
        <p:spPr bwMode="auto">
          <a:xfrm flipV="1">
            <a:off x="3541713" y="5316538"/>
            <a:ext cx="1587" cy="4714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21" name="Rectangle 14"/>
          <p:cNvSpPr>
            <a:spLocks noChangeArrowheads="1"/>
          </p:cNvSpPr>
          <p:nvPr/>
        </p:nvSpPr>
        <p:spPr bwMode="auto">
          <a:xfrm>
            <a:off x="1860550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2" name="Rectangle 15"/>
          <p:cNvSpPr>
            <a:spLocks noChangeArrowheads="1"/>
          </p:cNvSpPr>
          <p:nvPr/>
        </p:nvSpPr>
        <p:spPr bwMode="auto">
          <a:xfrm>
            <a:off x="1954213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3" name="Rectangle 16"/>
          <p:cNvSpPr>
            <a:spLocks noChangeArrowheads="1"/>
          </p:cNvSpPr>
          <p:nvPr/>
        </p:nvSpPr>
        <p:spPr bwMode="auto">
          <a:xfrm>
            <a:off x="2143125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4" name="Rectangle 17"/>
          <p:cNvSpPr>
            <a:spLocks noChangeArrowheads="1"/>
          </p:cNvSpPr>
          <p:nvPr/>
        </p:nvSpPr>
        <p:spPr bwMode="auto">
          <a:xfrm>
            <a:off x="2030413" y="5467350"/>
            <a:ext cx="555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5" name="Rectangle 18"/>
          <p:cNvSpPr>
            <a:spLocks noChangeArrowheads="1"/>
          </p:cNvSpPr>
          <p:nvPr/>
        </p:nvSpPr>
        <p:spPr bwMode="auto">
          <a:xfrm>
            <a:off x="2465388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6" name="Rectangle 19"/>
          <p:cNvSpPr>
            <a:spLocks noChangeArrowheads="1"/>
          </p:cNvSpPr>
          <p:nvPr/>
        </p:nvSpPr>
        <p:spPr bwMode="auto">
          <a:xfrm>
            <a:off x="2559050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7" name="Rectangle 20"/>
          <p:cNvSpPr>
            <a:spLocks noChangeArrowheads="1"/>
          </p:cNvSpPr>
          <p:nvPr/>
        </p:nvSpPr>
        <p:spPr bwMode="auto">
          <a:xfrm>
            <a:off x="2747963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8" name="Rectangle 21"/>
          <p:cNvSpPr>
            <a:spLocks noChangeArrowheads="1"/>
          </p:cNvSpPr>
          <p:nvPr/>
        </p:nvSpPr>
        <p:spPr bwMode="auto">
          <a:xfrm>
            <a:off x="2635250" y="5467350"/>
            <a:ext cx="555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29" name="Rectangle 22"/>
          <p:cNvSpPr>
            <a:spLocks noChangeArrowheads="1"/>
          </p:cNvSpPr>
          <p:nvPr/>
        </p:nvSpPr>
        <p:spPr bwMode="auto">
          <a:xfrm>
            <a:off x="3068638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0" name="Rectangle 23"/>
          <p:cNvSpPr>
            <a:spLocks noChangeArrowheads="1"/>
          </p:cNvSpPr>
          <p:nvPr/>
        </p:nvSpPr>
        <p:spPr bwMode="auto">
          <a:xfrm>
            <a:off x="3144838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1" name="Rectangle 24"/>
          <p:cNvSpPr>
            <a:spLocks noChangeArrowheads="1"/>
          </p:cNvSpPr>
          <p:nvPr/>
        </p:nvSpPr>
        <p:spPr bwMode="auto">
          <a:xfrm>
            <a:off x="3352800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2" name="Rectangle 25"/>
          <p:cNvSpPr>
            <a:spLocks noChangeArrowheads="1"/>
          </p:cNvSpPr>
          <p:nvPr/>
        </p:nvSpPr>
        <p:spPr bwMode="auto">
          <a:xfrm>
            <a:off x="3219450" y="5467350"/>
            <a:ext cx="555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3" name="Rectangle 26"/>
          <p:cNvSpPr>
            <a:spLocks noChangeArrowheads="1"/>
          </p:cNvSpPr>
          <p:nvPr/>
        </p:nvSpPr>
        <p:spPr bwMode="auto">
          <a:xfrm>
            <a:off x="3654425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4" name="Rectangle 27"/>
          <p:cNvSpPr>
            <a:spLocks noChangeArrowheads="1"/>
          </p:cNvSpPr>
          <p:nvPr/>
        </p:nvSpPr>
        <p:spPr bwMode="auto">
          <a:xfrm>
            <a:off x="3748088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5" name="Rectangle 28"/>
          <p:cNvSpPr>
            <a:spLocks noChangeArrowheads="1"/>
          </p:cNvSpPr>
          <p:nvPr/>
        </p:nvSpPr>
        <p:spPr bwMode="auto">
          <a:xfrm>
            <a:off x="3956050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6" name="Rectangle 29"/>
          <p:cNvSpPr>
            <a:spLocks noChangeArrowheads="1"/>
          </p:cNvSpPr>
          <p:nvPr/>
        </p:nvSpPr>
        <p:spPr bwMode="auto">
          <a:xfrm>
            <a:off x="3824288" y="5467350"/>
            <a:ext cx="555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7" name="Rectangle 30"/>
          <p:cNvSpPr>
            <a:spLocks noChangeArrowheads="1"/>
          </p:cNvSpPr>
          <p:nvPr/>
        </p:nvSpPr>
        <p:spPr bwMode="auto">
          <a:xfrm>
            <a:off x="4560888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8" name="Rectangle 31"/>
          <p:cNvSpPr>
            <a:spLocks noChangeArrowheads="1"/>
          </p:cNvSpPr>
          <p:nvPr/>
        </p:nvSpPr>
        <p:spPr bwMode="auto">
          <a:xfrm>
            <a:off x="4654550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39" name="Rectangle 32"/>
          <p:cNvSpPr>
            <a:spLocks noChangeArrowheads="1"/>
          </p:cNvSpPr>
          <p:nvPr/>
        </p:nvSpPr>
        <p:spPr bwMode="auto">
          <a:xfrm>
            <a:off x="4862513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0" name="Rectangle 33"/>
          <p:cNvSpPr>
            <a:spLocks noChangeArrowheads="1"/>
          </p:cNvSpPr>
          <p:nvPr/>
        </p:nvSpPr>
        <p:spPr bwMode="auto">
          <a:xfrm>
            <a:off x="4730750" y="5467350"/>
            <a:ext cx="555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1" name="Rectangle 34"/>
          <p:cNvSpPr>
            <a:spLocks noChangeArrowheads="1"/>
          </p:cNvSpPr>
          <p:nvPr/>
        </p:nvSpPr>
        <p:spPr bwMode="auto">
          <a:xfrm>
            <a:off x="1200150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2" name="Rectangle 35"/>
          <p:cNvSpPr>
            <a:spLocks noChangeArrowheads="1"/>
          </p:cNvSpPr>
          <p:nvPr/>
        </p:nvSpPr>
        <p:spPr bwMode="auto">
          <a:xfrm>
            <a:off x="1293813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3" name="Rectangle 36"/>
          <p:cNvSpPr>
            <a:spLocks noChangeArrowheads="1"/>
          </p:cNvSpPr>
          <p:nvPr/>
        </p:nvSpPr>
        <p:spPr bwMode="auto">
          <a:xfrm>
            <a:off x="1482725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4" name="Rectangle 37"/>
          <p:cNvSpPr>
            <a:spLocks noChangeArrowheads="1"/>
          </p:cNvSpPr>
          <p:nvPr/>
        </p:nvSpPr>
        <p:spPr bwMode="auto">
          <a:xfrm>
            <a:off x="1370013" y="5467350"/>
            <a:ext cx="555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5" name="Rectangle 38"/>
          <p:cNvSpPr>
            <a:spLocks noChangeArrowheads="1"/>
          </p:cNvSpPr>
          <p:nvPr/>
        </p:nvSpPr>
        <p:spPr bwMode="auto">
          <a:xfrm>
            <a:off x="1992313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6" name="Rectangle 39"/>
          <p:cNvSpPr>
            <a:spLocks noChangeArrowheads="1"/>
          </p:cNvSpPr>
          <p:nvPr/>
        </p:nvSpPr>
        <p:spPr bwMode="auto">
          <a:xfrm>
            <a:off x="2597150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7" name="Rectangle 40"/>
          <p:cNvSpPr>
            <a:spLocks noChangeArrowheads="1"/>
          </p:cNvSpPr>
          <p:nvPr/>
        </p:nvSpPr>
        <p:spPr bwMode="auto">
          <a:xfrm>
            <a:off x="3200400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8" name="Rectangle 41"/>
          <p:cNvSpPr>
            <a:spLocks noChangeArrowheads="1"/>
          </p:cNvSpPr>
          <p:nvPr/>
        </p:nvSpPr>
        <p:spPr bwMode="auto">
          <a:xfrm>
            <a:off x="3805238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49" name="Rectangle 42"/>
          <p:cNvSpPr>
            <a:spLocks noChangeArrowheads="1"/>
          </p:cNvSpPr>
          <p:nvPr/>
        </p:nvSpPr>
        <p:spPr bwMode="auto">
          <a:xfrm>
            <a:off x="1992313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50" name="Rectangle 43"/>
          <p:cNvSpPr>
            <a:spLocks noChangeArrowheads="1"/>
          </p:cNvSpPr>
          <p:nvPr/>
        </p:nvSpPr>
        <p:spPr bwMode="auto">
          <a:xfrm>
            <a:off x="2597150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51" name="Rectangle 44"/>
          <p:cNvSpPr>
            <a:spLocks noChangeArrowheads="1"/>
          </p:cNvSpPr>
          <p:nvPr/>
        </p:nvSpPr>
        <p:spPr bwMode="auto">
          <a:xfrm>
            <a:off x="3200400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52" name="Rectangle 45"/>
          <p:cNvSpPr>
            <a:spLocks noChangeArrowheads="1"/>
          </p:cNvSpPr>
          <p:nvPr/>
        </p:nvSpPr>
        <p:spPr bwMode="auto">
          <a:xfrm>
            <a:off x="3805238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53" name="Rectangle 46"/>
          <p:cNvSpPr>
            <a:spLocks noChangeArrowheads="1"/>
          </p:cNvSpPr>
          <p:nvPr/>
        </p:nvSpPr>
        <p:spPr bwMode="auto">
          <a:xfrm>
            <a:off x="4824413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54" name="Rectangle 47"/>
          <p:cNvSpPr>
            <a:spLocks noChangeArrowheads="1"/>
          </p:cNvSpPr>
          <p:nvPr/>
        </p:nvSpPr>
        <p:spPr bwMode="auto">
          <a:xfrm>
            <a:off x="1331913" y="2786063"/>
            <a:ext cx="138112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CA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55" name="Rectangle 48"/>
          <p:cNvSpPr>
            <a:spLocks noChangeArrowheads="1"/>
          </p:cNvSpPr>
          <p:nvPr/>
        </p:nvSpPr>
        <p:spPr bwMode="auto">
          <a:xfrm>
            <a:off x="1370013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56" name="Rectangle 49"/>
          <p:cNvSpPr>
            <a:spLocks noChangeArrowheads="1"/>
          </p:cNvSpPr>
          <p:nvPr/>
        </p:nvSpPr>
        <p:spPr bwMode="auto">
          <a:xfrm>
            <a:off x="5108575" y="2671763"/>
            <a:ext cx="2416175" cy="3116262"/>
          </a:xfrm>
          <a:prstGeom prst="rect">
            <a:avLst/>
          </a:prstGeom>
          <a:noFill/>
          <a:ln w="19050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57" name="Line 50"/>
          <p:cNvSpPr>
            <a:spLocks noChangeShapeType="1"/>
          </p:cNvSpPr>
          <p:nvPr/>
        </p:nvSpPr>
        <p:spPr bwMode="auto">
          <a:xfrm flipH="1">
            <a:off x="5108575" y="3143250"/>
            <a:ext cx="2416175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58" name="Line 51"/>
          <p:cNvSpPr>
            <a:spLocks noChangeShapeType="1"/>
          </p:cNvSpPr>
          <p:nvPr/>
        </p:nvSpPr>
        <p:spPr bwMode="auto">
          <a:xfrm flipH="1">
            <a:off x="5108575" y="3635375"/>
            <a:ext cx="2416175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59" name="Line 52"/>
          <p:cNvSpPr>
            <a:spLocks noChangeShapeType="1"/>
          </p:cNvSpPr>
          <p:nvPr/>
        </p:nvSpPr>
        <p:spPr bwMode="auto">
          <a:xfrm flipV="1">
            <a:off x="5711825" y="2671763"/>
            <a:ext cx="1588" cy="9636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60" name="Line 53"/>
          <p:cNvSpPr>
            <a:spLocks noChangeShapeType="1"/>
          </p:cNvSpPr>
          <p:nvPr/>
        </p:nvSpPr>
        <p:spPr bwMode="auto">
          <a:xfrm flipV="1">
            <a:off x="6316663" y="2671763"/>
            <a:ext cx="1587" cy="9636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61" name="Line 54"/>
          <p:cNvSpPr>
            <a:spLocks noChangeShapeType="1"/>
          </p:cNvSpPr>
          <p:nvPr/>
        </p:nvSpPr>
        <p:spPr bwMode="auto">
          <a:xfrm flipV="1">
            <a:off x="6921500" y="2671763"/>
            <a:ext cx="1588" cy="9636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62" name="Line 55"/>
          <p:cNvSpPr>
            <a:spLocks noChangeShapeType="1"/>
          </p:cNvSpPr>
          <p:nvPr/>
        </p:nvSpPr>
        <p:spPr bwMode="auto">
          <a:xfrm flipH="1">
            <a:off x="5108575" y="5316538"/>
            <a:ext cx="2416175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63" name="Line 56"/>
          <p:cNvSpPr>
            <a:spLocks noChangeShapeType="1"/>
          </p:cNvSpPr>
          <p:nvPr/>
        </p:nvSpPr>
        <p:spPr bwMode="auto">
          <a:xfrm flipV="1">
            <a:off x="5711825" y="5316538"/>
            <a:ext cx="1588" cy="4714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64" name="Line 57"/>
          <p:cNvSpPr>
            <a:spLocks noChangeShapeType="1"/>
          </p:cNvSpPr>
          <p:nvPr/>
        </p:nvSpPr>
        <p:spPr bwMode="auto">
          <a:xfrm flipV="1">
            <a:off x="6316663" y="5316538"/>
            <a:ext cx="1587" cy="4714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65" name="Line 58"/>
          <p:cNvSpPr>
            <a:spLocks noChangeShapeType="1"/>
          </p:cNvSpPr>
          <p:nvPr/>
        </p:nvSpPr>
        <p:spPr bwMode="auto">
          <a:xfrm flipV="1">
            <a:off x="6921500" y="5316538"/>
            <a:ext cx="1588" cy="4714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66" name="Rectangle 59"/>
          <p:cNvSpPr>
            <a:spLocks noChangeArrowheads="1"/>
          </p:cNvSpPr>
          <p:nvPr/>
        </p:nvSpPr>
        <p:spPr bwMode="auto">
          <a:xfrm>
            <a:off x="5240338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67" name="Rectangle 60"/>
          <p:cNvSpPr>
            <a:spLocks noChangeArrowheads="1"/>
          </p:cNvSpPr>
          <p:nvPr/>
        </p:nvSpPr>
        <p:spPr bwMode="auto">
          <a:xfrm>
            <a:off x="5316538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68" name="Rectangle 61"/>
          <p:cNvSpPr>
            <a:spLocks noChangeArrowheads="1"/>
          </p:cNvSpPr>
          <p:nvPr/>
        </p:nvSpPr>
        <p:spPr bwMode="auto">
          <a:xfrm>
            <a:off x="5522913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69" name="Rectangle 62"/>
          <p:cNvSpPr>
            <a:spLocks noChangeArrowheads="1"/>
          </p:cNvSpPr>
          <p:nvPr/>
        </p:nvSpPr>
        <p:spPr bwMode="auto">
          <a:xfrm>
            <a:off x="5391150" y="5467350"/>
            <a:ext cx="555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0" name="Rectangle 63"/>
          <p:cNvSpPr>
            <a:spLocks noChangeArrowheads="1"/>
          </p:cNvSpPr>
          <p:nvPr/>
        </p:nvSpPr>
        <p:spPr bwMode="auto">
          <a:xfrm>
            <a:off x="5826125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1" name="Rectangle 64"/>
          <p:cNvSpPr>
            <a:spLocks noChangeArrowheads="1"/>
          </p:cNvSpPr>
          <p:nvPr/>
        </p:nvSpPr>
        <p:spPr bwMode="auto">
          <a:xfrm>
            <a:off x="5919788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2" name="Rectangle 65"/>
          <p:cNvSpPr>
            <a:spLocks noChangeArrowheads="1"/>
          </p:cNvSpPr>
          <p:nvPr/>
        </p:nvSpPr>
        <p:spPr bwMode="auto">
          <a:xfrm>
            <a:off x="6127750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3" name="Rectangle 66"/>
          <p:cNvSpPr>
            <a:spLocks noChangeArrowheads="1"/>
          </p:cNvSpPr>
          <p:nvPr/>
        </p:nvSpPr>
        <p:spPr bwMode="auto">
          <a:xfrm>
            <a:off x="5995988" y="5467350"/>
            <a:ext cx="555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4" name="Rectangle 67"/>
          <p:cNvSpPr>
            <a:spLocks noChangeArrowheads="1"/>
          </p:cNvSpPr>
          <p:nvPr/>
        </p:nvSpPr>
        <p:spPr bwMode="auto">
          <a:xfrm>
            <a:off x="6429375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5" name="Rectangle 68"/>
          <p:cNvSpPr>
            <a:spLocks noChangeArrowheads="1"/>
          </p:cNvSpPr>
          <p:nvPr/>
        </p:nvSpPr>
        <p:spPr bwMode="auto">
          <a:xfrm>
            <a:off x="6524625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6" name="Rectangle 69"/>
          <p:cNvSpPr>
            <a:spLocks noChangeArrowheads="1"/>
          </p:cNvSpPr>
          <p:nvPr/>
        </p:nvSpPr>
        <p:spPr bwMode="auto">
          <a:xfrm>
            <a:off x="6713538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7" name="Rectangle 70"/>
          <p:cNvSpPr>
            <a:spLocks noChangeArrowheads="1"/>
          </p:cNvSpPr>
          <p:nvPr/>
        </p:nvSpPr>
        <p:spPr bwMode="auto">
          <a:xfrm>
            <a:off x="6599238" y="5467350"/>
            <a:ext cx="555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8" name="Rectangle 71"/>
          <p:cNvSpPr>
            <a:spLocks noChangeArrowheads="1"/>
          </p:cNvSpPr>
          <p:nvPr/>
        </p:nvSpPr>
        <p:spPr bwMode="auto">
          <a:xfrm>
            <a:off x="7034213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79" name="Rectangle 72"/>
          <p:cNvSpPr>
            <a:spLocks noChangeArrowheads="1"/>
          </p:cNvSpPr>
          <p:nvPr/>
        </p:nvSpPr>
        <p:spPr bwMode="auto">
          <a:xfrm>
            <a:off x="7127875" y="53911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0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k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0" name="Rectangle 73"/>
          <p:cNvSpPr>
            <a:spLocks noChangeArrowheads="1"/>
          </p:cNvSpPr>
          <p:nvPr/>
        </p:nvSpPr>
        <p:spPr bwMode="auto">
          <a:xfrm>
            <a:off x="7316788" y="546735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1" name="Rectangle 74"/>
          <p:cNvSpPr>
            <a:spLocks noChangeArrowheads="1"/>
          </p:cNvSpPr>
          <p:nvPr/>
        </p:nvSpPr>
        <p:spPr bwMode="auto">
          <a:xfrm>
            <a:off x="7204075" y="5467350"/>
            <a:ext cx="555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2" name="Rectangle 75"/>
          <p:cNvSpPr>
            <a:spLocks noChangeArrowheads="1"/>
          </p:cNvSpPr>
          <p:nvPr/>
        </p:nvSpPr>
        <p:spPr bwMode="auto">
          <a:xfrm>
            <a:off x="5372100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3" name="Rectangle 76"/>
          <p:cNvSpPr>
            <a:spLocks noChangeArrowheads="1"/>
          </p:cNvSpPr>
          <p:nvPr/>
        </p:nvSpPr>
        <p:spPr bwMode="auto">
          <a:xfrm>
            <a:off x="5976938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2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4" name="Rectangle 77"/>
          <p:cNvSpPr>
            <a:spLocks noChangeArrowheads="1"/>
          </p:cNvSpPr>
          <p:nvPr/>
        </p:nvSpPr>
        <p:spPr bwMode="auto">
          <a:xfrm>
            <a:off x="6562725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5" name="Rectangle 78"/>
          <p:cNvSpPr>
            <a:spLocks noChangeArrowheads="1"/>
          </p:cNvSpPr>
          <p:nvPr/>
        </p:nvSpPr>
        <p:spPr bwMode="auto">
          <a:xfrm>
            <a:off x="7165975" y="2786063"/>
            <a:ext cx="920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6" name="Rectangle 79"/>
          <p:cNvSpPr>
            <a:spLocks noChangeArrowheads="1"/>
          </p:cNvSpPr>
          <p:nvPr/>
        </p:nvSpPr>
        <p:spPr bwMode="auto">
          <a:xfrm>
            <a:off x="5372100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7" name="Rectangle 80"/>
          <p:cNvSpPr>
            <a:spLocks noChangeArrowheads="1"/>
          </p:cNvSpPr>
          <p:nvPr/>
        </p:nvSpPr>
        <p:spPr bwMode="auto">
          <a:xfrm>
            <a:off x="5976938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8" name="Rectangle 81"/>
          <p:cNvSpPr>
            <a:spLocks noChangeArrowheads="1"/>
          </p:cNvSpPr>
          <p:nvPr/>
        </p:nvSpPr>
        <p:spPr bwMode="auto">
          <a:xfrm>
            <a:off x="6562725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5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89" name="Rectangle 82"/>
          <p:cNvSpPr>
            <a:spLocks noChangeArrowheads="1"/>
          </p:cNvSpPr>
          <p:nvPr/>
        </p:nvSpPr>
        <p:spPr bwMode="auto">
          <a:xfrm>
            <a:off x="7165975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0" name="Rectangle 83"/>
          <p:cNvSpPr>
            <a:spLocks noChangeArrowheads="1"/>
          </p:cNvSpPr>
          <p:nvPr/>
        </p:nvSpPr>
        <p:spPr bwMode="auto">
          <a:xfrm>
            <a:off x="5881688" y="2370138"/>
            <a:ext cx="9652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Byte address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1" name="Rectangle 84"/>
          <p:cNvSpPr>
            <a:spLocks noChangeArrowheads="1"/>
          </p:cNvSpPr>
          <p:nvPr/>
        </p:nvSpPr>
        <p:spPr bwMode="auto">
          <a:xfrm>
            <a:off x="2501900" y="2370138"/>
            <a:ext cx="9652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Byte address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2" name="Rectangle 85"/>
          <p:cNvSpPr>
            <a:spLocks noChangeArrowheads="1"/>
          </p:cNvSpPr>
          <p:nvPr/>
        </p:nvSpPr>
        <p:spPr bwMode="auto">
          <a:xfrm>
            <a:off x="1954213" y="6165850"/>
            <a:ext cx="1931987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(a) Big-endian assignment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3" name="Rectangle 86"/>
          <p:cNvSpPr>
            <a:spLocks noChangeArrowheads="1"/>
          </p:cNvSpPr>
          <p:nvPr/>
        </p:nvSpPr>
        <p:spPr bwMode="auto">
          <a:xfrm>
            <a:off x="5259388" y="6165850"/>
            <a:ext cx="204311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(b) Little-endian assignment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4" name="Rectangle 87"/>
          <p:cNvSpPr>
            <a:spLocks noChangeArrowheads="1"/>
          </p:cNvSpPr>
          <p:nvPr/>
        </p:nvSpPr>
        <p:spPr bwMode="auto">
          <a:xfrm>
            <a:off x="4824413" y="3276600"/>
            <a:ext cx="920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5" name="Rectangle 88"/>
          <p:cNvSpPr>
            <a:spLocks noChangeArrowheads="1"/>
          </p:cNvSpPr>
          <p:nvPr/>
        </p:nvSpPr>
        <p:spPr bwMode="auto">
          <a:xfrm>
            <a:off x="1200150" y="2143125"/>
            <a:ext cx="1555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W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6" name="Rectangle 89"/>
          <p:cNvSpPr>
            <a:spLocks noChangeArrowheads="1"/>
          </p:cNvSpPr>
          <p:nvPr/>
        </p:nvSpPr>
        <p:spPr bwMode="auto">
          <a:xfrm>
            <a:off x="1350963" y="2143125"/>
            <a:ext cx="23971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ord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7" name="Rectangle 90"/>
          <p:cNvSpPr>
            <a:spLocks noChangeArrowheads="1"/>
          </p:cNvSpPr>
          <p:nvPr/>
        </p:nvSpPr>
        <p:spPr bwMode="auto">
          <a:xfrm>
            <a:off x="1143000" y="2351088"/>
            <a:ext cx="5889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address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298" name="Text Box 91"/>
          <p:cNvSpPr txBox="1">
            <a:spLocks noChangeArrowheads="1"/>
          </p:cNvSpPr>
          <p:nvPr/>
        </p:nvSpPr>
        <p:spPr bwMode="auto">
          <a:xfrm>
            <a:off x="6216650" y="4035425"/>
            <a:ext cx="266700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  <a:endParaRPr lang="en-US" altLang="zh-CN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  <a:endParaRPr lang="en-US" altLang="zh-CN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CA" sz="2000">
              <a:latin typeface="Nimbus Roman No9 L" charset="0"/>
              <a:ea typeface="SimSun" pitchFamily="2" charset="-122"/>
            </a:endParaRPr>
          </a:p>
        </p:txBody>
      </p:sp>
      <p:sp>
        <p:nvSpPr>
          <p:cNvPr id="94299" name="Text Box 92"/>
          <p:cNvSpPr txBox="1">
            <a:spLocks noChangeArrowheads="1"/>
          </p:cNvSpPr>
          <p:nvPr/>
        </p:nvSpPr>
        <p:spPr bwMode="auto">
          <a:xfrm>
            <a:off x="2768600" y="4035425"/>
            <a:ext cx="266700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  <a:endParaRPr lang="en-US" altLang="zh-CN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  <a:endParaRPr lang="en-US" altLang="zh-CN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altLang="zh-CN" sz="2000">
                <a:latin typeface="Nimbus Roman No9 L" charset="0"/>
                <a:ea typeface="SimSun" pitchFamily="2" charset="-122"/>
              </a:rPr>
              <a:t>•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CA" sz="2000">
              <a:latin typeface="Nimbus Roman No9 L" charset="0"/>
              <a:ea typeface="SimSun" pitchFamily="2" charset="-122"/>
            </a:endParaRPr>
          </a:p>
        </p:txBody>
      </p:sp>
      <p:sp>
        <p:nvSpPr>
          <p:cNvPr id="94300" name="Rectangle 93"/>
          <p:cNvSpPr>
            <a:spLocks noChangeArrowheads="1"/>
          </p:cNvSpPr>
          <p:nvPr/>
        </p:nvSpPr>
        <p:spPr bwMode="auto">
          <a:xfrm>
            <a:off x="2895600" y="6477000"/>
            <a:ext cx="32750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Figure 2.7.</a:t>
            </a:r>
            <a:r>
              <a:rPr lang="en-US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 Byte and word addressing.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4301" name="Text Box 95"/>
          <p:cNvSpPr txBox="1">
            <a:spLocks noChangeArrowheads="1"/>
          </p:cNvSpPr>
          <p:nvPr/>
        </p:nvSpPr>
        <p:spPr bwMode="auto">
          <a:xfrm>
            <a:off x="685800" y="1295400"/>
            <a:ext cx="731520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tx2"/>
                </a:solidFill>
                <a:ea typeface="SimSun" pitchFamily="2" charset="-122"/>
              </a:rPr>
              <a:t>Big-Endian: lower byte addresses are used for the most significant bytes of the word</a:t>
            </a:r>
          </a:p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tx2"/>
                </a:solidFill>
                <a:ea typeface="SimSun" pitchFamily="2" charset="-122"/>
              </a:rPr>
              <a:t>Little-Endian: opposite ordering. lower byte addresses are used for the less significant bytes of the word</a:t>
            </a:r>
            <a:endParaRPr lang="en-US" sz="14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Memory Location, Addresses, and Operation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Address ordering of bytes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Word alignment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Words are said to be aligned in memory if they begin at a byte addr. that is a multiple of the num of bytes in a word.</a:t>
            </a:r>
          </a:p>
          <a:p>
            <a:pPr lvl="2"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16-bit word: word addresses: 0, 2, 4,….</a:t>
            </a:r>
          </a:p>
          <a:p>
            <a:pPr lvl="2"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32-bit word: word addresses: 0, 4, 8,….</a:t>
            </a:r>
          </a:p>
          <a:p>
            <a:pPr lvl="2"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64-bit word: word addresses: 0, 8,16,….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Access numbers, characters, and character strings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Memory Operation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Load (or Read or Fetch)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Copy the content. The memory content doesn’t change.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Address – Load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Registers can be used</a:t>
            </a:r>
          </a:p>
          <a:p>
            <a:r>
              <a:rPr lang="en-US" altLang="zh-CN">
                <a:ea typeface="SimSun" pitchFamily="2" charset="-122"/>
              </a:rPr>
              <a:t>Store (or Write)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Overwrite the content in memory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Address and Data – Store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Registers can be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5500">
                <a:ea typeface="SimSun" pitchFamily="2" charset="-122"/>
              </a:rPr>
              <a:t>Instruction and Instruction Sequencing</a:t>
            </a:r>
          </a:p>
        </p:txBody>
      </p:sp>
      <p:sp>
        <p:nvSpPr>
          <p:cNvPr id="100355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“Must-Perform” Operations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Data transfers between the memory and the processor registers</a:t>
            </a:r>
          </a:p>
          <a:p>
            <a:r>
              <a:rPr lang="en-US" altLang="zh-CN">
                <a:ea typeface="SimSun" pitchFamily="2" charset="-122"/>
              </a:rPr>
              <a:t>Arithmetic and logic operations on data</a:t>
            </a:r>
          </a:p>
          <a:p>
            <a:r>
              <a:rPr lang="en-US" altLang="zh-CN">
                <a:ea typeface="SimSun" pitchFamily="2" charset="-122"/>
              </a:rPr>
              <a:t>Program sequencing and control</a:t>
            </a:r>
          </a:p>
          <a:p>
            <a:r>
              <a:rPr lang="en-US" altLang="zh-CN">
                <a:ea typeface="SimSun" pitchFamily="2" charset="-122"/>
              </a:rPr>
              <a:t>I/O transfers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Register Transfer Notation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Identify a location by a symbolic name standing for its hardware binary address (LOC, R0,…)</a:t>
            </a:r>
          </a:p>
          <a:p>
            <a:r>
              <a:rPr lang="en-US" altLang="zh-CN">
                <a:ea typeface="SimSun" pitchFamily="2" charset="-122"/>
              </a:rPr>
              <a:t>Contents of a location are denoted by placing square brackets around the name of the location (R1</a:t>
            </a:r>
            <a:r>
              <a:rPr lang="en-US" altLang="zh-CN">
                <a:ea typeface="SimSun" pitchFamily="2" charset="-122"/>
                <a:cs typeface="Arial" pitchFamily="34" charset="0"/>
              </a:rPr>
              <a:t>←[LOC], R3 ←[R1]+[R2])</a:t>
            </a:r>
          </a:p>
          <a:p>
            <a:r>
              <a:rPr lang="en-US" altLang="zh-CN">
                <a:ea typeface="SimSun" pitchFamily="2" charset="-122"/>
                <a:cs typeface="Arial" pitchFamily="34" charset="0"/>
              </a:rPr>
              <a:t>Register Transfer Notation (RTN)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Assembly Language Notation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Represent machine instructions and programs.</a:t>
            </a:r>
          </a:p>
          <a:p>
            <a:r>
              <a:rPr lang="en-US" altLang="zh-CN">
                <a:ea typeface="SimSun" pitchFamily="2" charset="-122"/>
              </a:rPr>
              <a:t>Move LOC, R1 = R1</a:t>
            </a:r>
            <a:r>
              <a:rPr lang="en-US" altLang="zh-CN">
                <a:ea typeface="SimSun" pitchFamily="2" charset="-122"/>
                <a:cs typeface="Arial" pitchFamily="34" charset="0"/>
              </a:rPr>
              <a:t>←[LOC]</a:t>
            </a:r>
          </a:p>
          <a:p>
            <a:r>
              <a:rPr lang="en-US" altLang="zh-CN">
                <a:ea typeface="SimSun" pitchFamily="2" charset="-122"/>
                <a:cs typeface="Arial" pitchFamily="34" charset="0"/>
              </a:rPr>
              <a:t>Add R1, R2, R3 = R3 ←[R1]+[R2]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CPU Organization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280400" cy="4498975"/>
          </a:xfrm>
        </p:spPr>
        <p:txBody>
          <a:bodyPr/>
          <a:lstStyle/>
          <a:p>
            <a:r>
              <a:rPr lang="en-US"/>
              <a:t>Single Accumulator</a:t>
            </a:r>
          </a:p>
          <a:p>
            <a:pPr lvl="1"/>
            <a:r>
              <a:rPr lang="en-US"/>
              <a:t>Result usually goes to the Accumulator</a:t>
            </a:r>
          </a:p>
          <a:p>
            <a:pPr lvl="1"/>
            <a:r>
              <a:rPr lang="en-US"/>
              <a:t>Accumulator has to be saved to memory quite often</a:t>
            </a:r>
          </a:p>
          <a:p>
            <a:r>
              <a:rPr lang="en-US"/>
              <a:t>General Register</a:t>
            </a:r>
          </a:p>
          <a:p>
            <a:pPr lvl="1"/>
            <a:r>
              <a:rPr lang="en-US"/>
              <a:t>Registers hold operands thus reduce memory traffic</a:t>
            </a:r>
          </a:p>
          <a:p>
            <a:pPr lvl="1"/>
            <a:r>
              <a:rPr lang="en-US"/>
              <a:t>Register bookkeeping</a:t>
            </a:r>
          </a:p>
          <a:p>
            <a:r>
              <a:rPr lang="en-US"/>
              <a:t>Stack</a:t>
            </a:r>
          </a:p>
          <a:p>
            <a:pPr lvl="1"/>
            <a:r>
              <a:rPr lang="en-US"/>
              <a:t>Operands and result are always in the stack</a:t>
            </a:r>
          </a:p>
        </p:txBody>
      </p:sp>
      <p:sp>
        <p:nvSpPr>
          <p:cNvPr id="326660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Instruction Formats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219200"/>
            <a:ext cx="8280400" cy="454342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sz="2600"/>
              <a:t>Three-Address Instructions</a:t>
            </a:r>
          </a:p>
          <a:p>
            <a:pPr lvl="1">
              <a:spcBef>
                <a:spcPct val="15000"/>
              </a:spcBef>
            </a:pPr>
            <a:r>
              <a:rPr lang="en-US" sz="2200"/>
              <a:t>ADD	R1, R2, R3		R1 ← R2 + R3</a:t>
            </a:r>
          </a:p>
          <a:p>
            <a:pPr>
              <a:spcBef>
                <a:spcPct val="15000"/>
              </a:spcBef>
            </a:pPr>
            <a:r>
              <a:rPr lang="en-US" sz="2600"/>
              <a:t>Two-Address Instructions</a:t>
            </a:r>
          </a:p>
          <a:p>
            <a:pPr lvl="1">
              <a:spcBef>
                <a:spcPct val="15000"/>
              </a:spcBef>
            </a:pPr>
            <a:r>
              <a:rPr lang="en-US" sz="2200"/>
              <a:t>ADD	R1, R2			R1 ← R1 + R2</a:t>
            </a:r>
          </a:p>
          <a:p>
            <a:pPr>
              <a:spcBef>
                <a:spcPct val="15000"/>
              </a:spcBef>
            </a:pPr>
            <a:r>
              <a:rPr lang="en-US" sz="2600"/>
              <a:t>One-Address Instructions</a:t>
            </a:r>
          </a:p>
          <a:p>
            <a:pPr lvl="1">
              <a:spcBef>
                <a:spcPct val="15000"/>
              </a:spcBef>
            </a:pPr>
            <a:r>
              <a:rPr lang="en-US" sz="2200"/>
              <a:t>ADD	M			AC ← AC + M[AR]</a:t>
            </a:r>
          </a:p>
          <a:p>
            <a:pPr>
              <a:spcBef>
                <a:spcPct val="15000"/>
              </a:spcBef>
            </a:pPr>
            <a:r>
              <a:rPr lang="en-US" sz="2600"/>
              <a:t>Zero-Address Instructions</a:t>
            </a:r>
          </a:p>
          <a:p>
            <a:pPr lvl="1">
              <a:spcBef>
                <a:spcPct val="15000"/>
              </a:spcBef>
            </a:pPr>
            <a:r>
              <a:rPr lang="en-US" sz="2200"/>
              <a:t>ADD				TOS ← TOS + (TOS – 1)</a:t>
            </a:r>
          </a:p>
          <a:p>
            <a:pPr>
              <a:spcBef>
                <a:spcPct val="15000"/>
              </a:spcBef>
            </a:pPr>
            <a:r>
              <a:rPr lang="en-US" sz="2600"/>
              <a:t>RISC Instructions</a:t>
            </a:r>
          </a:p>
          <a:p>
            <a:pPr lvl="1">
              <a:spcBef>
                <a:spcPct val="15000"/>
              </a:spcBef>
            </a:pPr>
            <a:r>
              <a:rPr lang="en-US" sz="2200"/>
              <a:t>Lots of registers. Memory is restricted to Load &amp; Store</a:t>
            </a:r>
          </a:p>
        </p:txBody>
      </p:sp>
      <p:sp>
        <p:nvSpPr>
          <p:cNvPr id="327684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9573" name="AutoShape 5"/>
          <p:cNvSpPr>
            <a:spLocks noChangeArrowheads="1"/>
          </p:cNvSpPr>
          <p:nvPr/>
        </p:nvSpPr>
        <p:spPr bwMode="auto">
          <a:xfrm>
            <a:off x="2592388" y="5826125"/>
            <a:ext cx="4262437" cy="663575"/>
          </a:xfrm>
          <a:prstGeom prst="cube">
            <a:avLst>
              <a:gd name="adj" fmla="val 45694"/>
            </a:avLst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sz="2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9574" name="WordArt 6"/>
          <p:cNvSpPr>
            <a:spLocks noChangeArrowheads="1" noChangeShapeType="1" noTextEdit="1"/>
          </p:cNvSpPr>
          <p:nvPr/>
        </p:nvSpPr>
        <p:spPr bwMode="auto">
          <a:xfrm>
            <a:off x="2773363" y="5864225"/>
            <a:ext cx="3806825" cy="212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167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Instruction</a:t>
            </a:r>
          </a:p>
        </p:txBody>
      </p:sp>
      <p:sp>
        <p:nvSpPr>
          <p:cNvPr id="109575" name="Text Box 7"/>
          <p:cNvSpPr txBox="1">
            <a:spLocks noChangeArrowheads="1"/>
          </p:cNvSpPr>
          <p:nvPr/>
        </p:nvSpPr>
        <p:spPr bwMode="auto">
          <a:xfrm>
            <a:off x="2592388" y="6129338"/>
            <a:ext cx="900112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Opcode</a:t>
            </a:r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3492500" y="6129338"/>
            <a:ext cx="3059113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Operand(s) or Address(es)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Instruction Formats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3894137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  <a:tabLst>
                <a:tab pos="2146300" algn="l"/>
                <a:tab pos="5022850" algn="l"/>
              </a:tabLst>
            </a:pPr>
            <a:r>
              <a:rPr lang="en-US"/>
              <a:t>Example:   Evaluate (A+B) </a:t>
            </a:r>
            <a:r>
              <a:rPr lang="en-US">
                <a:sym typeface="Symbol" pitchFamily="18" charset="2"/>
              </a:rPr>
              <a:t> (C+D)</a:t>
            </a:r>
          </a:p>
          <a:p>
            <a:pPr marL="533400" indent="-533400"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Three-Address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ADD	R1, A, B	; </a:t>
            </a:r>
            <a:r>
              <a:rPr lang="en-US"/>
              <a:t>R1 ← M[A] + M[B]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ADD	R2, C, D	; R2 ← M[C] + M[D]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MUL	X, R1, R2	; M[X] ← R1 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 R2</a:t>
            </a:r>
          </a:p>
        </p:txBody>
      </p:sp>
      <p:sp>
        <p:nvSpPr>
          <p:cNvPr id="328708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Instruction Formats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447800"/>
            <a:ext cx="8280400" cy="4405313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  <a:tabLst>
                <a:tab pos="2146300" algn="l"/>
                <a:tab pos="5022850" algn="l"/>
              </a:tabLst>
            </a:pPr>
            <a:r>
              <a:rPr lang="en-US"/>
              <a:t>Example:   Evaluate (A+B) </a:t>
            </a:r>
            <a:r>
              <a:rPr lang="en-US">
                <a:sym typeface="Symbol" pitchFamily="18" charset="2"/>
              </a:rPr>
              <a:t> (C+D)</a:t>
            </a:r>
          </a:p>
          <a:p>
            <a:pPr marL="533400" indent="-533400"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Two-Address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MOV	R1, A	; </a:t>
            </a:r>
            <a:r>
              <a:rPr lang="en-US"/>
              <a:t>R1 ← M[A]</a:t>
            </a:r>
            <a:endParaRPr lang="en-US">
              <a:sym typeface="Symbol" pitchFamily="18" charset="2"/>
            </a:endParaRP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ADD	R1, B	; </a:t>
            </a:r>
            <a:r>
              <a:rPr lang="en-US"/>
              <a:t>R1 ← R1 + M[B]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MOV	R2, C	; </a:t>
            </a:r>
            <a:r>
              <a:rPr lang="en-US"/>
              <a:t>R2 ← M[C]</a:t>
            </a:r>
            <a:endParaRPr lang="en-US">
              <a:sym typeface="Symbol" pitchFamily="18" charset="2"/>
            </a:endParaRP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ADD	R2, D	; R2 ← R2 + M[D]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MUL	R1, R2	; R1 ← R1 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 R2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MOV	X, R1	; M[X] ← R1</a:t>
            </a:r>
          </a:p>
        </p:txBody>
      </p:sp>
      <p:sp>
        <p:nvSpPr>
          <p:cNvPr id="329732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Instruction Formats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447800"/>
            <a:ext cx="8280400" cy="4953000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  <a:tabLst>
                <a:tab pos="2146300" algn="l"/>
                <a:tab pos="5022850" algn="l"/>
              </a:tabLst>
            </a:pPr>
            <a:r>
              <a:rPr lang="en-US"/>
              <a:t>Example:   Evaluate (A+B) </a:t>
            </a:r>
            <a:r>
              <a:rPr lang="en-US">
                <a:sym typeface="Symbol" pitchFamily="18" charset="2"/>
              </a:rPr>
              <a:t> (C+D)</a:t>
            </a:r>
          </a:p>
          <a:p>
            <a:pPr marL="533400" indent="-533400"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One-Address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LOAD	A	; </a:t>
            </a:r>
            <a:r>
              <a:rPr lang="en-US"/>
              <a:t>AC ← M[A]</a:t>
            </a:r>
            <a:endParaRPr lang="en-US">
              <a:sym typeface="Symbol" pitchFamily="18" charset="2"/>
            </a:endParaRP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ADD	B	; </a:t>
            </a:r>
            <a:r>
              <a:rPr lang="en-US"/>
              <a:t>AC ← AC + M[B]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STORE	T	; M[T] ← AC 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LOAD	C	; </a:t>
            </a:r>
            <a:r>
              <a:rPr lang="en-US"/>
              <a:t>AC ← M[C]</a:t>
            </a:r>
            <a:endParaRPr lang="en-US">
              <a:sym typeface="Symbol" pitchFamily="18" charset="2"/>
            </a:endParaRP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ADD	D	; AC ← AC + M[D]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MUL	T	; AC ← AC 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 M[T]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STORE	X	; M[X] ← AC</a:t>
            </a:r>
          </a:p>
        </p:txBody>
      </p:sp>
      <p:sp>
        <p:nvSpPr>
          <p:cNvPr id="330756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Instruction Formats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57313"/>
            <a:ext cx="8280400" cy="5500687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  <a:tabLst>
                <a:tab pos="2146300" algn="l"/>
                <a:tab pos="5022850" algn="l"/>
              </a:tabLst>
            </a:pPr>
            <a:r>
              <a:rPr lang="en-US"/>
              <a:t>Example:   Evaluate (A+B) </a:t>
            </a:r>
            <a:r>
              <a:rPr lang="en-US">
                <a:sym typeface="Symbol" pitchFamily="18" charset="2"/>
              </a:rPr>
              <a:t> (C+D)</a:t>
            </a:r>
          </a:p>
          <a:p>
            <a:pPr marL="533400" indent="-533400"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Zero-Address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PUSH	A	; </a:t>
            </a:r>
            <a:r>
              <a:rPr lang="en-US"/>
              <a:t>TOS ← A</a:t>
            </a:r>
            <a:endParaRPr lang="en-US">
              <a:sym typeface="Symbol" pitchFamily="18" charset="2"/>
            </a:endParaRP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PUSH	B 	; </a:t>
            </a:r>
            <a:r>
              <a:rPr lang="en-US"/>
              <a:t>TOS ← B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ADD		; TOS ← (A + B)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PUSH 	C	; </a:t>
            </a:r>
            <a:r>
              <a:rPr lang="en-US"/>
              <a:t>TOS ← C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PUSH	D	; TOS ← D</a:t>
            </a:r>
            <a:endParaRPr lang="en-US">
              <a:sym typeface="Symbol" pitchFamily="18" charset="2"/>
            </a:endParaRP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ADD		; TOS ← (C + D)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MUL		; TOS ← (C+D)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(A+B)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POP	X	; M[X] ← TOS</a:t>
            </a:r>
          </a:p>
        </p:txBody>
      </p:sp>
      <p:sp>
        <p:nvSpPr>
          <p:cNvPr id="331780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1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1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Instruction Formats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57313"/>
            <a:ext cx="8280400" cy="5500687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  <a:tabLst>
                <a:tab pos="2146300" algn="l"/>
                <a:tab pos="5022850" algn="l"/>
              </a:tabLst>
            </a:pPr>
            <a:r>
              <a:rPr lang="en-US"/>
              <a:t>Example:   Evaluate (A+B) </a:t>
            </a:r>
            <a:r>
              <a:rPr lang="en-US">
                <a:sym typeface="Symbol" pitchFamily="18" charset="2"/>
              </a:rPr>
              <a:t> (C+D)</a:t>
            </a:r>
          </a:p>
          <a:p>
            <a:pPr marL="533400" indent="-533400"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RISC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LOAD	R1, A	; </a:t>
            </a:r>
            <a:r>
              <a:rPr lang="en-US"/>
              <a:t>R1 ← M[A]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LOAD	R2, B</a:t>
            </a:r>
            <a:r>
              <a:rPr lang="en-US">
                <a:sym typeface="Symbol" pitchFamily="18" charset="2"/>
              </a:rPr>
              <a:t>	; </a:t>
            </a:r>
            <a:r>
              <a:rPr lang="en-US"/>
              <a:t>R2 ← M[B]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LOAD	R3, C</a:t>
            </a:r>
            <a:r>
              <a:rPr lang="en-US">
                <a:sym typeface="Symbol" pitchFamily="18" charset="2"/>
              </a:rPr>
              <a:t>	; </a:t>
            </a:r>
            <a:r>
              <a:rPr lang="en-US"/>
              <a:t>R3 ← M[C]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LOAD	R4, D	; </a:t>
            </a:r>
            <a:r>
              <a:rPr lang="en-US"/>
              <a:t>R4 ← M[D]</a:t>
            </a:r>
            <a:endParaRPr lang="en-US">
              <a:sym typeface="Symbol" pitchFamily="18" charset="2"/>
            </a:endParaRP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>
                <a:sym typeface="Symbol" pitchFamily="18" charset="2"/>
              </a:rPr>
              <a:t>ADD	R1, R1, R2	; </a:t>
            </a:r>
            <a:r>
              <a:rPr lang="en-US"/>
              <a:t>R1 ← R1 + R2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ADD	R3, R3, R4	; R3 ← R3 + R4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MUL	R1, R1, R3	; R1 ← R1 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 R3</a:t>
            </a:r>
          </a:p>
          <a:p>
            <a:pPr marL="989013" lvl="1" indent="-457200">
              <a:buFont typeface="Times New Roman" pitchFamily="18" charset="0"/>
              <a:buAutoNum type="arabicPeriod"/>
              <a:tabLst>
                <a:tab pos="2146300" algn="l"/>
                <a:tab pos="5022850" algn="l"/>
              </a:tabLst>
            </a:pPr>
            <a:r>
              <a:rPr lang="en-US"/>
              <a:t>STORE	X, R1	; M[X] ← R1</a:t>
            </a:r>
          </a:p>
        </p:txBody>
      </p:sp>
      <p:sp>
        <p:nvSpPr>
          <p:cNvPr id="332804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2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Using Registers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Registers are faster</a:t>
            </a:r>
          </a:p>
          <a:p>
            <a:r>
              <a:rPr lang="en-US" altLang="zh-CN">
                <a:ea typeface="SimSun" pitchFamily="2" charset="-122"/>
              </a:rPr>
              <a:t>Shorter instructions</a:t>
            </a:r>
          </a:p>
          <a:p>
            <a:pPr lvl="1"/>
            <a:r>
              <a:rPr lang="en-US" altLang="zh-CN">
                <a:ea typeface="SimSun" pitchFamily="2" charset="-122"/>
              </a:rPr>
              <a:t>The number of registers is smaller (e.g. 32 registers need 5 bits)</a:t>
            </a:r>
          </a:p>
          <a:p>
            <a:r>
              <a:rPr lang="en-US" altLang="zh-CN">
                <a:ea typeface="SimSun" pitchFamily="2" charset="-122"/>
              </a:rPr>
              <a:t>Potential speedup</a:t>
            </a:r>
          </a:p>
          <a:p>
            <a:r>
              <a:rPr lang="en-US" altLang="zh-CN">
                <a:ea typeface="SimSun" pitchFamily="2" charset="-122"/>
              </a:rPr>
              <a:t>Minimize the frequency with which data is moved back and forth between the memory and processor registers.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Instruction Execution and Straight-Line Sequencing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3548063" y="2651125"/>
            <a:ext cx="3460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R0,C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3548063" y="2355850"/>
            <a:ext cx="3381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B,R0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3548063" y="2076450"/>
            <a:ext cx="3381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A,R0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3073400" y="2651125"/>
            <a:ext cx="3714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Move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2136775" y="2601913"/>
            <a:ext cx="365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2185988" y="2601913"/>
            <a:ext cx="280987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CA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+ 8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H="1">
            <a:off x="2514600" y="2897188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228600" y="2076450"/>
            <a:ext cx="14255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Begin execution here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12" name="Rectangle 12"/>
          <p:cNvSpPr>
            <a:spLocks noChangeArrowheads="1"/>
          </p:cNvSpPr>
          <p:nvPr/>
        </p:nvSpPr>
        <p:spPr bwMode="auto">
          <a:xfrm>
            <a:off x="3073400" y="2076450"/>
            <a:ext cx="3714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Move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13" name="Rectangle 13"/>
          <p:cNvSpPr>
            <a:spLocks noChangeArrowheads="1"/>
          </p:cNvSpPr>
          <p:nvPr/>
        </p:nvSpPr>
        <p:spPr bwMode="auto">
          <a:xfrm>
            <a:off x="2136775" y="2043113"/>
            <a:ext cx="365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14" name="Freeform 14"/>
          <p:cNvSpPr>
            <a:spLocks/>
          </p:cNvSpPr>
          <p:nvPr/>
        </p:nvSpPr>
        <p:spPr bwMode="auto">
          <a:xfrm>
            <a:off x="1924050" y="2174875"/>
            <a:ext cx="98425" cy="31750"/>
          </a:xfrm>
          <a:custGeom>
            <a:avLst/>
            <a:gdLst>
              <a:gd name="T0" fmla="*/ 0 w 6"/>
              <a:gd name="T1" fmla="*/ 2 h 2"/>
              <a:gd name="T2" fmla="*/ 6 w 6"/>
              <a:gd name="T3" fmla="*/ 1 h 2"/>
              <a:gd name="T4" fmla="*/ 0 w 6"/>
              <a:gd name="T5" fmla="*/ 0 h 2"/>
              <a:gd name="T6" fmla="*/ 0 w 6"/>
              <a:gd name="T7" fmla="*/ 1 h 2"/>
              <a:gd name="T8" fmla="*/ 0 w 6"/>
              <a:gd name="T9" fmla="*/ 2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2"/>
              <a:gd name="T17" fmla="*/ 6 w 6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2">
                <a:moveTo>
                  <a:pt x="0" y="2"/>
                </a:moveTo>
                <a:lnTo>
                  <a:pt x="6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15" name="Freeform 15"/>
          <p:cNvSpPr>
            <a:spLocks/>
          </p:cNvSpPr>
          <p:nvPr/>
        </p:nvSpPr>
        <p:spPr bwMode="auto">
          <a:xfrm>
            <a:off x="1924050" y="2174875"/>
            <a:ext cx="98425" cy="31750"/>
          </a:xfrm>
          <a:custGeom>
            <a:avLst/>
            <a:gdLst>
              <a:gd name="T0" fmla="*/ 0 w 62"/>
              <a:gd name="T1" fmla="*/ 20 h 20"/>
              <a:gd name="T2" fmla="*/ 62 w 62"/>
              <a:gd name="T3" fmla="*/ 10 h 20"/>
              <a:gd name="T4" fmla="*/ 0 w 62"/>
              <a:gd name="T5" fmla="*/ 0 h 20"/>
              <a:gd name="T6" fmla="*/ 0 w 62"/>
              <a:gd name="T7" fmla="*/ 10 h 20"/>
              <a:gd name="T8" fmla="*/ 0 w 62"/>
              <a:gd name="T9" fmla="*/ 20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"/>
              <a:gd name="T16" fmla="*/ 0 h 20"/>
              <a:gd name="T17" fmla="*/ 62 w 62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" h="20">
                <a:moveTo>
                  <a:pt x="0" y="20"/>
                </a:moveTo>
                <a:lnTo>
                  <a:pt x="62" y="10"/>
                </a:lnTo>
                <a:lnTo>
                  <a:pt x="0" y="0"/>
                </a:lnTo>
                <a:lnTo>
                  <a:pt x="0" y="10"/>
                </a:lnTo>
                <a:lnTo>
                  <a:pt x="0" y="2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 flipH="1">
            <a:off x="1727200" y="2190750"/>
            <a:ext cx="179388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17" name="Rectangle 17"/>
          <p:cNvSpPr>
            <a:spLocks noChangeArrowheads="1"/>
          </p:cNvSpPr>
          <p:nvPr/>
        </p:nvSpPr>
        <p:spPr bwMode="auto">
          <a:xfrm>
            <a:off x="3187700" y="1600200"/>
            <a:ext cx="6080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Contents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18" name="Rectangle 18"/>
          <p:cNvSpPr>
            <a:spLocks noChangeArrowheads="1"/>
          </p:cNvSpPr>
          <p:nvPr/>
        </p:nvSpPr>
        <p:spPr bwMode="auto">
          <a:xfrm>
            <a:off x="1973263" y="1600200"/>
            <a:ext cx="5572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Address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19" name="Rectangle 19"/>
          <p:cNvSpPr>
            <a:spLocks noChangeArrowheads="1"/>
          </p:cNvSpPr>
          <p:nvPr/>
        </p:nvSpPr>
        <p:spPr bwMode="auto">
          <a:xfrm>
            <a:off x="2136775" y="5473700"/>
            <a:ext cx="1095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0" name="Rectangle 20"/>
          <p:cNvSpPr>
            <a:spLocks noChangeArrowheads="1"/>
          </p:cNvSpPr>
          <p:nvPr/>
        </p:nvSpPr>
        <p:spPr bwMode="auto">
          <a:xfrm>
            <a:off x="2136775" y="4521200"/>
            <a:ext cx="1016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1" name="Rectangle 21"/>
          <p:cNvSpPr>
            <a:spLocks noChangeArrowheads="1"/>
          </p:cNvSpPr>
          <p:nvPr/>
        </p:nvSpPr>
        <p:spPr bwMode="auto">
          <a:xfrm>
            <a:off x="2136775" y="3586163"/>
            <a:ext cx="1016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5029200" y="4603750"/>
            <a:ext cx="819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the program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3" name="Rectangle 23"/>
          <p:cNvSpPr>
            <a:spLocks noChangeArrowheads="1"/>
          </p:cNvSpPr>
          <p:nvPr/>
        </p:nvSpPr>
        <p:spPr bwMode="auto">
          <a:xfrm>
            <a:off x="5008563" y="4456113"/>
            <a:ext cx="54133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Data for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4" name="Rectangle 24"/>
          <p:cNvSpPr>
            <a:spLocks noChangeArrowheads="1"/>
          </p:cNvSpPr>
          <p:nvPr/>
        </p:nvSpPr>
        <p:spPr bwMode="auto">
          <a:xfrm>
            <a:off x="4730750" y="2454275"/>
            <a:ext cx="6350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segment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5" name="Rectangle 25"/>
          <p:cNvSpPr>
            <a:spLocks noChangeArrowheads="1"/>
          </p:cNvSpPr>
          <p:nvPr/>
        </p:nvSpPr>
        <p:spPr bwMode="auto">
          <a:xfrm>
            <a:off x="4730750" y="2322513"/>
            <a:ext cx="617538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program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6" name="Rectangle 26"/>
          <p:cNvSpPr>
            <a:spLocks noChangeArrowheads="1"/>
          </p:cNvSpPr>
          <p:nvPr/>
        </p:nvSpPr>
        <p:spPr bwMode="auto">
          <a:xfrm>
            <a:off x="4730750" y="2174875"/>
            <a:ext cx="9017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3-instruction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27" name="Line 27"/>
          <p:cNvSpPr>
            <a:spLocks noChangeShapeType="1"/>
          </p:cNvSpPr>
          <p:nvPr/>
        </p:nvSpPr>
        <p:spPr bwMode="auto">
          <a:xfrm flipV="1">
            <a:off x="4402138" y="1846263"/>
            <a:ext cx="1587" cy="4070350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28" name="Line 28"/>
          <p:cNvSpPr>
            <a:spLocks noChangeShapeType="1"/>
          </p:cNvSpPr>
          <p:nvPr/>
        </p:nvSpPr>
        <p:spPr bwMode="auto">
          <a:xfrm flipH="1">
            <a:off x="2514600" y="5719763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 flipH="1">
            <a:off x="2514600" y="4487863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0" name="Line 30"/>
          <p:cNvSpPr>
            <a:spLocks noChangeShapeType="1"/>
          </p:cNvSpPr>
          <p:nvPr/>
        </p:nvSpPr>
        <p:spPr bwMode="auto">
          <a:xfrm flipH="1">
            <a:off x="2514600" y="4767263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1" name="Line 31"/>
          <p:cNvSpPr>
            <a:spLocks noChangeShapeType="1"/>
          </p:cNvSpPr>
          <p:nvPr/>
        </p:nvSpPr>
        <p:spPr bwMode="auto">
          <a:xfrm flipH="1">
            <a:off x="2514600" y="5440363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2" name="Line 32"/>
          <p:cNvSpPr>
            <a:spLocks noChangeShapeType="1"/>
          </p:cNvSpPr>
          <p:nvPr/>
        </p:nvSpPr>
        <p:spPr bwMode="auto">
          <a:xfrm flipH="1">
            <a:off x="2514600" y="3832225"/>
            <a:ext cx="1887538" cy="1588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3" name="Line 33"/>
          <p:cNvSpPr>
            <a:spLocks noChangeShapeType="1"/>
          </p:cNvSpPr>
          <p:nvPr/>
        </p:nvSpPr>
        <p:spPr bwMode="auto">
          <a:xfrm flipH="1">
            <a:off x="2514600" y="3552825"/>
            <a:ext cx="1887538" cy="1588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4" name="Line 34"/>
          <p:cNvSpPr>
            <a:spLocks noChangeShapeType="1"/>
          </p:cNvSpPr>
          <p:nvPr/>
        </p:nvSpPr>
        <p:spPr bwMode="auto">
          <a:xfrm flipV="1">
            <a:off x="2514600" y="1846263"/>
            <a:ext cx="1588" cy="4070350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5" name="Line 35"/>
          <p:cNvSpPr>
            <a:spLocks noChangeShapeType="1"/>
          </p:cNvSpPr>
          <p:nvPr/>
        </p:nvSpPr>
        <p:spPr bwMode="auto">
          <a:xfrm flipH="1">
            <a:off x="2514600" y="2027238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6" name="Line 36"/>
          <p:cNvSpPr>
            <a:spLocks noChangeShapeType="1"/>
          </p:cNvSpPr>
          <p:nvPr/>
        </p:nvSpPr>
        <p:spPr bwMode="auto">
          <a:xfrm flipH="1">
            <a:off x="2514600" y="2322513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7" name="Line 37"/>
          <p:cNvSpPr>
            <a:spLocks noChangeShapeType="1"/>
          </p:cNvSpPr>
          <p:nvPr/>
        </p:nvSpPr>
        <p:spPr bwMode="auto">
          <a:xfrm flipH="1">
            <a:off x="2514600" y="2601913"/>
            <a:ext cx="1887538" cy="1587"/>
          </a:xfrm>
          <a:prstGeom prst="line">
            <a:avLst/>
          </a:prstGeom>
          <a:noFill/>
          <a:ln w="158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8" name="Freeform 38"/>
          <p:cNvSpPr>
            <a:spLocks/>
          </p:cNvSpPr>
          <p:nvPr/>
        </p:nvSpPr>
        <p:spPr bwMode="auto">
          <a:xfrm>
            <a:off x="4516438" y="4619625"/>
            <a:ext cx="98425" cy="33338"/>
          </a:xfrm>
          <a:custGeom>
            <a:avLst/>
            <a:gdLst>
              <a:gd name="T0" fmla="*/ 6 w 6"/>
              <a:gd name="T1" fmla="*/ 0 h 2"/>
              <a:gd name="T2" fmla="*/ 0 w 6"/>
              <a:gd name="T3" fmla="*/ 1 h 2"/>
              <a:gd name="T4" fmla="*/ 6 w 6"/>
              <a:gd name="T5" fmla="*/ 2 h 2"/>
              <a:gd name="T6" fmla="*/ 6 w 6"/>
              <a:gd name="T7" fmla="*/ 1 h 2"/>
              <a:gd name="T8" fmla="*/ 6 w 6"/>
              <a:gd name="T9" fmla="*/ 0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2"/>
              <a:gd name="T17" fmla="*/ 6 w 6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2">
                <a:moveTo>
                  <a:pt x="6" y="0"/>
                </a:moveTo>
                <a:lnTo>
                  <a:pt x="0" y="1"/>
                </a:lnTo>
                <a:lnTo>
                  <a:pt x="6" y="2"/>
                </a:lnTo>
                <a:lnTo>
                  <a:pt x="6" y="1"/>
                </a:lnTo>
                <a:lnTo>
                  <a:pt x="6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9" name="Freeform 39"/>
          <p:cNvSpPr>
            <a:spLocks/>
          </p:cNvSpPr>
          <p:nvPr/>
        </p:nvSpPr>
        <p:spPr bwMode="auto">
          <a:xfrm>
            <a:off x="4516438" y="4619625"/>
            <a:ext cx="98425" cy="33338"/>
          </a:xfrm>
          <a:custGeom>
            <a:avLst/>
            <a:gdLst>
              <a:gd name="T0" fmla="*/ 62 w 62"/>
              <a:gd name="T1" fmla="*/ 0 h 21"/>
              <a:gd name="T2" fmla="*/ 0 w 62"/>
              <a:gd name="T3" fmla="*/ 10 h 21"/>
              <a:gd name="T4" fmla="*/ 62 w 62"/>
              <a:gd name="T5" fmla="*/ 21 h 21"/>
              <a:gd name="T6" fmla="*/ 62 w 62"/>
              <a:gd name="T7" fmla="*/ 10 h 21"/>
              <a:gd name="T8" fmla="*/ 62 w 62"/>
              <a:gd name="T9" fmla="*/ 0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"/>
              <a:gd name="T16" fmla="*/ 0 h 21"/>
              <a:gd name="T17" fmla="*/ 62 w 62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" h="21">
                <a:moveTo>
                  <a:pt x="62" y="0"/>
                </a:moveTo>
                <a:lnTo>
                  <a:pt x="0" y="10"/>
                </a:lnTo>
                <a:lnTo>
                  <a:pt x="62" y="21"/>
                </a:lnTo>
                <a:lnTo>
                  <a:pt x="62" y="10"/>
                </a:lnTo>
                <a:lnTo>
                  <a:pt x="62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40" name="Line 40"/>
          <p:cNvSpPr>
            <a:spLocks noChangeShapeType="1"/>
          </p:cNvSpPr>
          <p:nvPr/>
        </p:nvSpPr>
        <p:spPr bwMode="auto">
          <a:xfrm>
            <a:off x="4632325" y="4635500"/>
            <a:ext cx="246063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41" name="Rectangle 41"/>
          <p:cNvSpPr>
            <a:spLocks noChangeArrowheads="1"/>
          </p:cNvSpPr>
          <p:nvPr/>
        </p:nvSpPr>
        <p:spPr bwMode="auto">
          <a:xfrm>
            <a:off x="3073400" y="2355850"/>
            <a:ext cx="2698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Add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42" name="Rectangle 42"/>
          <p:cNvSpPr>
            <a:spLocks noChangeArrowheads="1"/>
          </p:cNvSpPr>
          <p:nvPr/>
        </p:nvSpPr>
        <p:spPr bwMode="auto">
          <a:xfrm>
            <a:off x="2136775" y="2322513"/>
            <a:ext cx="365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43" name="Rectangle 43"/>
          <p:cNvSpPr>
            <a:spLocks noChangeArrowheads="1"/>
          </p:cNvSpPr>
          <p:nvPr/>
        </p:nvSpPr>
        <p:spPr bwMode="auto">
          <a:xfrm>
            <a:off x="2185988" y="2322513"/>
            <a:ext cx="280987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CA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+ 4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44" name="Freeform 44"/>
          <p:cNvSpPr>
            <a:spLocks/>
          </p:cNvSpPr>
          <p:nvPr/>
        </p:nvSpPr>
        <p:spPr bwMode="auto">
          <a:xfrm>
            <a:off x="3449638" y="3109913"/>
            <a:ext cx="17462" cy="15875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45" name="Freeform 45"/>
          <p:cNvSpPr>
            <a:spLocks/>
          </p:cNvSpPr>
          <p:nvPr/>
        </p:nvSpPr>
        <p:spPr bwMode="auto">
          <a:xfrm>
            <a:off x="3449638" y="3208338"/>
            <a:ext cx="17462" cy="15875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46" name="Freeform 46"/>
          <p:cNvSpPr>
            <a:spLocks/>
          </p:cNvSpPr>
          <p:nvPr/>
        </p:nvSpPr>
        <p:spPr bwMode="auto">
          <a:xfrm>
            <a:off x="3449638" y="3322638"/>
            <a:ext cx="17462" cy="174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47" name="Freeform 47"/>
          <p:cNvSpPr>
            <a:spLocks/>
          </p:cNvSpPr>
          <p:nvPr/>
        </p:nvSpPr>
        <p:spPr bwMode="auto">
          <a:xfrm>
            <a:off x="3449638" y="4044950"/>
            <a:ext cx="17462" cy="174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48" name="Freeform 48"/>
          <p:cNvSpPr>
            <a:spLocks/>
          </p:cNvSpPr>
          <p:nvPr/>
        </p:nvSpPr>
        <p:spPr bwMode="auto">
          <a:xfrm>
            <a:off x="3449638" y="4143375"/>
            <a:ext cx="17462" cy="174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49" name="Freeform 49"/>
          <p:cNvSpPr>
            <a:spLocks/>
          </p:cNvSpPr>
          <p:nvPr/>
        </p:nvSpPr>
        <p:spPr bwMode="auto">
          <a:xfrm>
            <a:off x="3449638" y="4259263"/>
            <a:ext cx="17462" cy="15875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0" name="Freeform 50"/>
          <p:cNvSpPr>
            <a:spLocks/>
          </p:cNvSpPr>
          <p:nvPr/>
        </p:nvSpPr>
        <p:spPr bwMode="auto">
          <a:xfrm>
            <a:off x="3449638" y="5013325"/>
            <a:ext cx="17462" cy="174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1" name="Freeform 51"/>
          <p:cNvSpPr>
            <a:spLocks/>
          </p:cNvSpPr>
          <p:nvPr/>
        </p:nvSpPr>
        <p:spPr bwMode="auto">
          <a:xfrm>
            <a:off x="3449638" y="5111750"/>
            <a:ext cx="17462" cy="174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2" name="Freeform 52"/>
          <p:cNvSpPr>
            <a:spLocks/>
          </p:cNvSpPr>
          <p:nvPr/>
        </p:nvSpPr>
        <p:spPr bwMode="auto">
          <a:xfrm>
            <a:off x="3449638" y="5227638"/>
            <a:ext cx="17462" cy="15875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3" name="Freeform 53"/>
          <p:cNvSpPr>
            <a:spLocks/>
          </p:cNvSpPr>
          <p:nvPr/>
        </p:nvSpPr>
        <p:spPr bwMode="auto">
          <a:xfrm>
            <a:off x="4500563" y="2027238"/>
            <a:ext cx="98425" cy="442912"/>
          </a:xfrm>
          <a:custGeom>
            <a:avLst/>
            <a:gdLst>
              <a:gd name="T0" fmla="*/ 0 w 6"/>
              <a:gd name="T1" fmla="*/ 0 h 27"/>
              <a:gd name="T2" fmla="*/ 2 w 6"/>
              <a:gd name="T3" fmla="*/ 1 h 27"/>
              <a:gd name="T4" fmla="*/ 3 w 6"/>
              <a:gd name="T5" fmla="*/ 1 h 27"/>
              <a:gd name="T6" fmla="*/ 3 w 6"/>
              <a:gd name="T7" fmla="*/ 2 h 27"/>
              <a:gd name="T8" fmla="*/ 3 w 6"/>
              <a:gd name="T9" fmla="*/ 2 h 27"/>
              <a:gd name="T10" fmla="*/ 3 w 6"/>
              <a:gd name="T11" fmla="*/ 3 h 27"/>
              <a:gd name="T12" fmla="*/ 3 w 6"/>
              <a:gd name="T13" fmla="*/ 7 h 27"/>
              <a:gd name="T14" fmla="*/ 3 w 6"/>
              <a:gd name="T15" fmla="*/ 12 h 27"/>
              <a:gd name="T16" fmla="*/ 3 w 6"/>
              <a:gd name="T17" fmla="*/ 17 h 27"/>
              <a:gd name="T18" fmla="*/ 3 w 6"/>
              <a:gd name="T19" fmla="*/ 22 h 27"/>
              <a:gd name="T20" fmla="*/ 3 w 6"/>
              <a:gd name="T21" fmla="*/ 23 h 27"/>
              <a:gd name="T22" fmla="*/ 3 w 6"/>
              <a:gd name="T23" fmla="*/ 25 h 27"/>
              <a:gd name="T24" fmla="*/ 3 w 6"/>
              <a:gd name="T25" fmla="*/ 25 h 27"/>
              <a:gd name="T26" fmla="*/ 4 w 6"/>
              <a:gd name="T27" fmla="*/ 26 h 27"/>
              <a:gd name="T28" fmla="*/ 6 w 6"/>
              <a:gd name="T29" fmla="*/ 27 h 2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6"/>
              <a:gd name="T46" fmla="*/ 0 h 27"/>
              <a:gd name="T47" fmla="*/ 6 w 6"/>
              <a:gd name="T48" fmla="*/ 27 h 27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6" h="27">
                <a:moveTo>
                  <a:pt x="0" y="0"/>
                </a:moveTo>
                <a:lnTo>
                  <a:pt x="2" y="1"/>
                </a:lnTo>
                <a:lnTo>
                  <a:pt x="3" y="1"/>
                </a:lnTo>
                <a:lnTo>
                  <a:pt x="3" y="2"/>
                </a:lnTo>
                <a:lnTo>
                  <a:pt x="3" y="3"/>
                </a:lnTo>
                <a:lnTo>
                  <a:pt x="3" y="7"/>
                </a:lnTo>
                <a:lnTo>
                  <a:pt x="3" y="12"/>
                </a:lnTo>
                <a:lnTo>
                  <a:pt x="3" y="17"/>
                </a:lnTo>
                <a:lnTo>
                  <a:pt x="3" y="22"/>
                </a:lnTo>
                <a:lnTo>
                  <a:pt x="3" y="23"/>
                </a:lnTo>
                <a:lnTo>
                  <a:pt x="3" y="25"/>
                </a:lnTo>
                <a:lnTo>
                  <a:pt x="4" y="26"/>
                </a:lnTo>
                <a:lnTo>
                  <a:pt x="6" y="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4" name="Freeform 54"/>
          <p:cNvSpPr>
            <a:spLocks/>
          </p:cNvSpPr>
          <p:nvPr/>
        </p:nvSpPr>
        <p:spPr bwMode="auto">
          <a:xfrm>
            <a:off x="4500563" y="2470150"/>
            <a:ext cx="98425" cy="442913"/>
          </a:xfrm>
          <a:custGeom>
            <a:avLst/>
            <a:gdLst>
              <a:gd name="T0" fmla="*/ 0 w 6"/>
              <a:gd name="T1" fmla="*/ 27 h 27"/>
              <a:gd name="T2" fmla="*/ 2 w 6"/>
              <a:gd name="T3" fmla="*/ 26 h 27"/>
              <a:gd name="T4" fmla="*/ 3 w 6"/>
              <a:gd name="T5" fmla="*/ 25 h 27"/>
              <a:gd name="T6" fmla="*/ 3 w 6"/>
              <a:gd name="T7" fmla="*/ 25 h 27"/>
              <a:gd name="T8" fmla="*/ 3 w 6"/>
              <a:gd name="T9" fmla="*/ 24 h 27"/>
              <a:gd name="T10" fmla="*/ 3 w 6"/>
              <a:gd name="T11" fmla="*/ 20 h 27"/>
              <a:gd name="T12" fmla="*/ 3 w 6"/>
              <a:gd name="T13" fmla="*/ 15 h 27"/>
              <a:gd name="T14" fmla="*/ 3 w 6"/>
              <a:gd name="T15" fmla="*/ 9 h 27"/>
              <a:gd name="T16" fmla="*/ 3 w 6"/>
              <a:gd name="T17" fmla="*/ 5 h 27"/>
              <a:gd name="T18" fmla="*/ 3 w 6"/>
              <a:gd name="T19" fmla="*/ 3 h 27"/>
              <a:gd name="T20" fmla="*/ 3 w 6"/>
              <a:gd name="T21" fmla="*/ 2 h 27"/>
              <a:gd name="T22" fmla="*/ 3 w 6"/>
              <a:gd name="T23" fmla="*/ 1 h 27"/>
              <a:gd name="T24" fmla="*/ 4 w 6"/>
              <a:gd name="T25" fmla="*/ 1 h 27"/>
              <a:gd name="T26" fmla="*/ 6 w 6"/>
              <a:gd name="T27" fmla="*/ 0 h 2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"/>
              <a:gd name="T43" fmla="*/ 0 h 27"/>
              <a:gd name="T44" fmla="*/ 6 w 6"/>
              <a:gd name="T45" fmla="*/ 27 h 2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" h="27">
                <a:moveTo>
                  <a:pt x="0" y="27"/>
                </a:moveTo>
                <a:lnTo>
                  <a:pt x="2" y="26"/>
                </a:lnTo>
                <a:lnTo>
                  <a:pt x="3" y="25"/>
                </a:lnTo>
                <a:lnTo>
                  <a:pt x="3" y="24"/>
                </a:lnTo>
                <a:lnTo>
                  <a:pt x="3" y="20"/>
                </a:lnTo>
                <a:lnTo>
                  <a:pt x="3" y="15"/>
                </a:lnTo>
                <a:lnTo>
                  <a:pt x="3" y="9"/>
                </a:lnTo>
                <a:lnTo>
                  <a:pt x="3" y="5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6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5" name="Freeform 55"/>
          <p:cNvSpPr>
            <a:spLocks/>
          </p:cNvSpPr>
          <p:nvPr/>
        </p:nvSpPr>
        <p:spPr bwMode="auto">
          <a:xfrm>
            <a:off x="4500563" y="3668713"/>
            <a:ext cx="114300" cy="49212"/>
          </a:xfrm>
          <a:custGeom>
            <a:avLst/>
            <a:gdLst>
              <a:gd name="T0" fmla="*/ 7 w 7"/>
              <a:gd name="T1" fmla="*/ 0 h 3"/>
              <a:gd name="T2" fmla="*/ 0 w 7"/>
              <a:gd name="T3" fmla="*/ 1 h 3"/>
              <a:gd name="T4" fmla="*/ 7 w 7"/>
              <a:gd name="T5" fmla="*/ 3 h 3"/>
              <a:gd name="T6" fmla="*/ 7 w 7"/>
              <a:gd name="T7" fmla="*/ 1 h 3"/>
              <a:gd name="T8" fmla="*/ 7 w 7"/>
              <a:gd name="T9" fmla="*/ 0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3"/>
              <a:gd name="T17" fmla="*/ 7 w 7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3">
                <a:moveTo>
                  <a:pt x="7" y="0"/>
                </a:moveTo>
                <a:lnTo>
                  <a:pt x="0" y="1"/>
                </a:lnTo>
                <a:lnTo>
                  <a:pt x="7" y="3"/>
                </a:lnTo>
                <a:lnTo>
                  <a:pt x="7" y="1"/>
                </a:lnTo>
                <a:lnTo>
                  <a:pt x="7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6" name="Freeform 56"/>
          <p:cNvSpPr>
            <a:spLocks/>
          </p:cNvSpPr>
          <p:nvPr/>
        </p:nvSpPr>
        <p:spPr bwMode="auto">
          <a:xfrm>
            <a:off x="4500563" y="3668713"/>
            <a:ext cx="114300" cy="49212"/>
          </a:xfrm>
          <a:custGeom>
            <a:avLst/>
            <a:gdLst>
              <a:gd name="T0" fmla="*/ 72 w 72"/>
              <a:gd name="T1" fmla="*/ 0 h 31"/>
              <a:gd name="T2" fmla="*/ 0 w 72"/>
              <a:gd name="T3" fmla="*/ 10 h 31"/>
              <a:gd name="T4" fmla="*/ 72 w 72"/>
              <a:gd name="T5" fmla="*/ 31 h 31"/>
              <a:gd name="T6" fmla="*/ 72 w 72"/>
              <a:gd name="T7" fmla="*/ 10 h 31"/>
              <a:gd name="T8" fmla="*/ 72 w 72"/>
              <a:gd name="T9" fmla="*/ 0 h 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31"/>
              <a:gd name="T17" fmla="*/ 72 w 72"/>
              <a:gd name="T18" fmla="*/ 31 h 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31">
                <a:moveTo>
                  <a:pt x="72" y="0"/>
                </a:moveTo>
                <a:lnTo>
                  <a:pt x="0" y="10"/>
                </a:lnTo>
                <a:lnTo>
                  <a:pt x="72" y="31"/>
                </a:lnTo>
                <a:lnTo>
                  <a:pt x="72" y="10"/>
                </a:lnTo>
                <a:lnTo>
                  <a:pt x="72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7" name="Freeform 57"/>
          <p:cNvSpPr>
            <a:spLocks/>
          </p:cNvSpPr>
          <p:nvPr/>
        </p:nvSpPr>
        <p:spPr bwMode="auto">
          <a:xfrm>
            <a:off x="4614863" y="3684588"/>
            <a:ext cx="279400" cy="885825"/>
          </a:xfrm>
          <a:custGeom>
            <a:avLst/>
            <a:gdLst>
              <a:gd name="T0" fmla="*/ 0 w 17"/>
              <a:gd name="T1" fmla="*/ 0 h 54"/>
              <a:gd name="T2" fmla="*/ 17 w 17"/>
              <a:gd name="T3" fmla="*/ 0 h 54"/>
              <a:gd name="T4" fmla="*/ 17 w 17"/>
              <a:gd name="T5" fmla="*/ 54 h 54"/>
              <a:gd name="T6" fmla="*/ 0 60000 65536"/>
              <a:gd name="T7" fmla="*/ 0 60000 65536"/>
              <a:gd name="T8" fmla="*/ 0 60000 65536"/>
              <a:gd name="T9" fmla="*/ 0 w 17"/>
              <a:gd name="T10" fmla="*/ 0 h 54"/>
              <a:gd name="T11" fmla="*/ 17 w 17"/>
              <a:gd name="T12" fmla="*/ 54 h 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4">
                <a:moveTo>
                  <a:pt x="0" y="0"/>
                </a:moveTo>
                <a:lnTo>
                  <a:pt x="17" y="0"/>
                </a:lnTo>
                <a:lnTo>
                  <a:pt x="17" y="54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8" name="Freeform 58"/>
          <p:cNvSpPr>
            <a:spLocks/>
          </p:cNvSpPr>
          <p:nvPr/>
        </p:nvSpPr>
        <p:spPr bwMode="auto">
          <a:xfrm>
            <a:off x="4500563" y="5554663"/>
            <a:ext cx="114300" cy="33337"/>
          </a:xfrm>
          <a:custGeom>
            <a:avLst/>
            <a:gdLst>
              <a:gd name="T0" fmla="*/ 7 w 7"/>
              <a:gd name="T1" fmla="*/ 0 h 2"/>
              <a:gd name="T2" fmla="*/ 0 w 7"/>
              <a:gd name="T3" fmla="*/ 1 h 2"/>
              <a:gd name="T4" fmla="*/ 7 w 7"/>
              <a:gd name="T5" fmla="*/ 2 h 2"/>
              <a:gd name="T6" fmla="*/ 7 w 7"/>
              <a:gd name="T7" fmla="*/ 1 h 2"/>
              <a:gd name="T8" fmla="*/ 7 w 7"/>
              <a:gd name="T9" fmla="*/ 0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2"/>
              <a:gd name="T17" fmla="*/ 7 w 7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2">
                <a:moveTo>
                  <a:pt x="7" y="0"/>
                </a:moveTo>
                <a:lnTo>
                  <a:pt x="0" y="1"/>
                </a:lnTo>
                <a:lnTo>
                  <a:pt x="7" y="2"/>
                </a:lnTo>
                <a:lnTo>
                  <a:pt x="7" y="1"/>
                </a:lnTo>
                <a:lnTo>
                  <a:pt x="7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9" name="Freeform 59"/>
          <p:cNvSpPr>
            <a:spLocks/>
          </p:cNvSpPr>
          <p:nvPr/>
        </p:nvSpPr>
        <p:spPr bwMode="auto">
          <a:xfrm>
            <a:off x="4500563" y="5554663"/>
            <a:ext cx="114300" cy="33337"/>
          </a:xfrm>
          <a:custGeom>
            <a:avLst/>
            <a:gdLst>
              <a:gd name="T0" fmla="*/ 72 w 72"/>
              <a:gd name="T1" fmla="*/ 0 h 21"/>
              <a:gd name="T2" fmla="*/ 0 w 72"/>
              <a:gd name="T3" fmla="*/ 11 h 21"/>
              <a:gd name="T4" fmla="*/ 72 w 72"/>
              <a:gd name="T5" fmla="*/ 21 h 21"/>
              <a:gd name="T6" fmla="*/ 72 w 72"/>
              <a:gd name="T7" fmla="*/ 11 h 21"/>
              <a:gd name="T8" fmla="*/ 72 w 72"/>
              <a:gd name="T9" fmla="*/ 0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21"/>
              <a:gd name="T17" fmla="*/ 72 w 72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21">
                <a:moveTo>
                  <a:pt x="72" y="0"/>
                </a:moveTo>
                <a:lnTo>
                  <a:pt x="0" y="11"/>
                </a:lnTo>
                <a:lnTo>
                  <a:pt x="72" y="21"/>
                </a:lnTo>
                <a:lnTo>
                  <a:pt x="72" y="11"/>
                </a:lnTo>
                <a:lnTo>
                  <a:pt x="72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60" name="Freeform 60"/>
          <p:cNvSpPr>
            <a:spLocks/>
          </p:cNvSpPr>
          <p:nvPr/>
        </p:nvSpPr>
        <p:spPr bwMode="auto">
          <a:xfrm>
            <a:off x="4614863" y="4702175"/>
            <a:ext cx="279400" cy="869950"/>
          </a:xfrm>
          <a:custGeom>
            <a:avLst/>
            <a:gdLst>
              <a:gd name="T0" fmla="*/ 0 w 17"/>
              <a:gd name="T1" fmla="*/ 53 h 53"/>
              <a:gd name="T2" fmla="*/ 17 w 17"/>
              <a:gd name="T3" fmla="*/ 53 h 53"/>
              <a:gd name="T4" fmla="*/ 17 w 17"/>
              <a:gd name="T5" fmla="*/ 0 h 53"/>
              <a:gd name="T6" fmla="*/ 0 60000 65536"/>
              <a:gd name="T7" fmla="*/ 0 60000 65536"/>
              <a:gd name="T8" fmla="*/ 0 60000 65536"/>
              <a:gd name="T9" fmla="*/ 0 w 17"/>
              <a:gd name="T10" fmla="*/ 0 h 53"/>
              <a:gd name="T11" fmla="*/ 17 w 17"/>
              <a:gd name="T12" fmla="*/ 53 h 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3">
                <a:moveTo>
                  <a:pt x="0" y="53"/>
                </a:moveTo>
                <a:lnTo>
                  <a:pt x="17" y="53"/>
                </a:lnTo>
                <a:lnTo>
                  <a:pt x="17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61" name="Rectangle 61"/>
          <p:cNvSpPr>
            <a:spLocks noChangeArrowheads="1"/>
          </p:cNvSpPr>
          <p:nvPr/>
        </p:nvSpPr>
        <p:spPr bwMode="auto">
          <a:xfrm>
            <a:off x="1765300" y="6515100"/>
            <a:ext cx="2914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Figure 2.8.  A program for</a:t>
            </a:r>
            <a:r>
              <a:rPr lang="en-US" altLang="zh-CN" sz="13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C </a:t>
            </a:r>
            <a:r>
              <a:rPr lang="en-CA" altLang="zh-CN" sz="1200">
                <a:solidFill>
                  <a:srgbClr val="000000"/>
                </a:solidFill>
                <a:latin typeface="Symbol" pitchFamily="18" charset="2"/>
                <a:ea typeface="SimSun" pitchFamily="2" charset="-122"/>
              </a:rPr>
              <a:t>¬</a:t>
            </a:r>
            <a:r>
              <a:rPr lang="en-US" altLang="zh-CN" sz="1200">
                <a:solidFill>
                  <a:srgbClr val="000000"/>
                </a:solidFill>
                <a:latin typeface="Symbol" pitchFamily="18" charset="2"/>
                <a:ea typeface="SimSun" pitchFamily="2" charset="-122"/>
              </a:rPr>
              <a:t> [A] </a:t>
            </a:r>
            <a:r>
              <a:rPr lang="en-CA" altLang="zh-CN" sz="12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+</a:t>
            </a:r>
            <a:r>
              <a:rPr lang="en-US" altLang="zh-CN" sz="1200">
                <a:solidFill>
                  <a:srgbClr val="000000"/>
                </a:solidFill>
                <a:latin typeface="Symbol" pitchFamily="18" charset="2"/>
                <a:ea typeface="SimSun" pitchFamily="2" charset="-122"/>
              </a:rPr>
              <a:t> [B].</a:t>
            </a:r>
            <a:endParaRPr lang="en-CA" altLang="zh-CN" sz="1200">
              <a:solidFill>
                <a:srgbClr val="000000"/>
              </a:solidFill>
              <a:latin typeface="Symbol" pitchFamily="18" charset="2"/>
              <a:ea typeface="SimSun" pitchFamily="2" charset="-122"/>
            </a:endParaRPr>
          </a:p>
        </p:txBody>
      </p:sp>
      <p:sp>
        <p:nvSpPr>
          <p:cNvPr id="51262" name="Text Box 62"/>
          <p:cNvSpPr txBox="1">
            <a:spLocks noChangeArrowheads="1"/>
          </p:cNvSpPr>
          <p:nvPr/>
        </p:nvSpPr>
        <p:spPr bwMode="auto">
          <a:xfrm>
            <a:off x="6019800" y="1828800"/>
            <a:ext cx="301625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SimSun" pitchFamily="2" charset="-122"/>
              </a:rPr>
              <a:t>Assumptions:</a:t>
            </a:r>
          </a:p>
          <a:p>
            <a:r>
              <a:rPr lang="en-US" altLang="zh-CN">
                <a:ea typeface="SimSun" pitchFamily="2" charset="-122"/>
              </a:rPr>
              <a:t>- One memory operand</a:t>
            </a:r>
          </a:p>
          <a:p>
            <a:r>
              <a:rPr lang="en-US" altLang="zh-CN">
                <a:ea typeface="SimSun" pitchFamily="2" charset="-122"/>
              </a:rPr>
              <a:t>  per instruction</a:t>
            </a:r>
          </a:p>
          <a:p>
            <a:r>
              <a:rPr lang="en-US" altLang="zh-CN">
                <a:ea typeface="SimSun" pitchFamily="2" charset="-122"/>
              </a:rPr>
              <a:t>- 32-bit word length</a:t>
            </a:r>
          </a:p>
          <a:p>
            <a:r>
              <a:rPr lang="en-US" altLang="zh-CN">
                <a:ea typeface="SimSun" pitchFamily="2" charset="-122"/>
              </a:rPr>
              <a:t>- Memory is byte</a:t>
            </a:r>
          </a:p>
          <a:p>
            <a:r>
              <a:rPr lang="en-US" altLang="zh-CN">
                <a:ea typeface="SimSun" pitchFamily="2" charset="-122"/>
              </a:rPr>
              <a:t>  addressable</a:t>
            </a:r>
          </a:p>
          <a:p>
            <a:r>
              <a:rPr lang="en-US" altLang="zh-CN">
                <a:ea typeface="SimSun" pitchFamily="2" charset="-122"/>
              </a:rPr>
              <a:t>- Full memory address</a:t>
            </a:r>
          </a:p>
          <a:p>
            <a:r>
              <a:rPr lang="en-US" altLang="zh-CN">
                <a:ea typeface="SimSun" pitchFamily="2" charset="-122"/>
              </a:rPr>
              <a:t>  can be directly specified</a:t>
            </a:r>
          </a:p>
          <a:p>
            <a:r>
              <a:rPr lang="en-US" altLang="zh-CN">
                <a:ea typeface="SimSun" pitchFamily="2" charset="-122"/>
              </a:rPr>
              <a:t>  in a single-word instruction</a:t>
            </a:r>
          </a:p>
        </p:txBody>
      </p:sp>
      <p:sp>
        <p:nvSpPr>
          <p:cNvPr id="51263" name="Text Box 63"/>
          <p:cNvSpPr txBox="1">
            <a:spLocks noChangeArrowheads="1"/>
          </p:cNvSpPr>
          <p:nvPr/>
        </p:nvSpPr>
        <p:spPr bwMode="auto">
          <a:xfrm>
            <a:off x="6080125" y="4684713"/>
            <a:ext cx="2406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ea typeface="SimSun" pitchFamily="2" charset="-122"/>
              </a:rPr>
              <a:t>Two-phase procedure</a:t>
            </a:r>
          </a:p>
          <a:p>
            <a:pPr>
              <a:buFontTx/>
              <a:buChar char="-"/>
            </a:pPr>
            <a:r>
              <a:rPr lang="en-US" altLang="zh-CN">
                <a:ea typeface="SimSun" pitchFamily="2" charset="-122"/>
              </a:rPr>
              <a:t>Instruction fetch</a:t>
            </a:r>
          </a:p>
          <a:p>
            <a:pPr>
              <a:buFontTx/>
              <a:buChar char="-"/>
            </a:pPr>
            <a:r>
              <a:rPr lang="en-US" altLang="zh-CN">
                <a:ea typeface="SimSun" pitchFamily="2" charset="-122"/>
              </a:rPr>
              <a:t>Instruction execute</a:t>
            </a:r>
          </a:p>
        </p:txBody>
      </p:sp>
      <p:sp>
        <p:nvSpPr>
          <p:cNvPr id="51264" name="Text Box 64"/>
          <p:cNvSpPr txBox="1">
            <a:spLocks noChangeArrowheads="1"/>
          </p:cNvSpPr>
          <p:nvPr/>
        </p:nvSpPr>
        <p:spPr bwMode="auto">
          <a:xfrm>
            <a:off x="6172200" y="56388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Page 43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5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  <p:bldP spid="51205" grpId="0"/>
      <p:bldP spid="51206" grpId="0"/>
      <p:bldP spid="51207" grpId="0"/>
      <p:bldP spid="51208" grpId="0"/>
      <p:bldP spid="51209" grpId="0"/>
      <p:bldP spid="51210" grpId="0" animBg="1"/>
      <p:bldP spid="51211" grpId="0"/>
      <p:bldP spid="51212" grpId="0"/>
      <p:bldP spid="51213" grpId="0"/>
      <p:bldP spid="51214" grpId="0" animBg="1"/>
      <p:bldP spid="51215" grpId="0" animBg="1"/>
      <p:bldP spid="51216" grpId="0" animBg="1"/>
      <p:bldP spid="51217" grpId="0"/>
      <p:bldP spid="51218" grpId="0"/>
      <p:bldP spid="51219" grpId="0"/>
      <p:bldP spid="51220" grpId="0"/>
      <p:bldP spid="51221" grpId="0"/>
      <p:bldP spid="51222" grpId="0"/>
      <p:bldP spid="51223" grpId="0"/>
      <p:bldP spid="51224" grpId="0"/>
      <p:bldP spid="51225" grpId="0"/>
      <p:bldP spid="51226" grpId="0"/>
      <p:bldP spid="51227" grpId="0" animBg="1"/>
      <p:bldP spid="51228" grpId="0" animBg="1"/>
      <p:bldP spid="51229" grpId="0" animBg="1"/>
      <p:bldP spid="51230" grpId="0" animBg="1"/>
      <p:bldP spid="51231" grpId="0" animBg="1"/>
      <p:bldP spid="51232" grpId="0" animBg="1"/>
      <p:bldP spid="51233" grpId="0" animBg="1"/>
      <p:bldP spid="51234" grpId="0" animBg="1"/>
      <p:bldP spid="51235" grpId="0" animBg="1"/>
      <p:bldP spid="51236" grpId="0" animBg="1"/>
      <p:bldP spid="51237" grpId="0" animBg="1"/>
      <p:bldP spid="51238" grpId="0" animBg="1"/>
      <p:bldP spid="51239" grpId="0" animBg="1"/>
      <p:bldP spid="51240" grpId="0" animBg="1"/>
      <p:bldP spid="51241" grpId="0"/>
      <p:bldP spid="51242" grpId="0"/>
      <p:bldP spid="51243" grpId="0"/>
      <p:bldP spid="51244" grpId="0" animBg="1"/>
      <p:bldP spid="51245" grpId="0" animBg="1"/>
      <p:bldP spid="51246" grpId="0" animBg="1"/>
      <p:bldP spid="51247" grpId="0" animBg="1"/>
      <p:bldP spid="51248" grpId="0" animBg="1"/>
      <p:bldP spid="51249" grpId="0" animBg="1"/>
      <p:bldP spid="51250" grpId="0" animBg="1"/>
      <p:bldP spid="51251" grpId="0" animBg="1"/>
      <p:bldP spid="51252" grpId="0" animBg="1"/>
      <p:bldP spid="51253" grpId="0" animBg="1"/>
      <p:bldP spid="51254" grpId="0" animBg="1"/>
      <p:bldP spid="51255" grpId="0" animBg="1"/>
      <p:bldP spid="51256" grpId="0" animBg="1"/>
      <p:bldP spid="51257" grpId="0" animBg="1"/>
      <p:bldP spid="51258" grpId="0" animBg="1"/>
      <p:bldP spid="51259" grpId="0" animBg="1"/>
      <p:bldP spid="51260" grpId="0" animBg="1"/>
      <p:bldP spid="51261" grpId="0"/>
      <p:bldP spid="51262" grpId="0"/>
      <p:bldP spid="51263" grpId="0"/>
      <p:bldP spid="5126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Branching</a:t>
            </a:r>
          </a:p>
        </p:txBody>
      </p:sp>
      <p:sp>
        <p:nvSpPr>
          <p:cNvPr id="119811" name="Rectangle 4"/>
          <p:cNvSpPr>
            <a:spLocks noChangeArrowheads="1"/>
          </p:cNvSpPr>
          <p:nvPr/>
        </p:nvSpPr>
        <p:spPr bwMode="auto">
          <a:xfrm>
            <a:off x="3713163" y="5735638"/>
            <a:ext cx="4048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2" name="Rectangle 5"/>
          <p:cNvSpPr>
            <a:spLocks noChangeArrowheads="1"/>
          </p:cNvSpPr>
          <p:nvPr/>
        </p:nvSpPr>
        <p:spPr bwMode="auto">
          <a:xfrm>
            <a:off x="4121150" y="57356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3" name="Rectangle 6"/>
          <p:cNvSpPr>
            <a:spLocks noChangeArrowheads="1"/>
          </p:cNvSpPr>
          <p:nvPr/>
        </p:nvSpPr>
        <p:spPr bwMode="auto">
          <a:xfrm>
            <a:off x="3713163" y="4629150"/>
            <a:ext cx="5032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NUM2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4" name="Rectangle 7"/>
          <p:cNvSpPr>
            <a:spLocks noChangeArrowheads="1"/>
          </p:cNvSpPr>
          <p:nvPr/>
        </p:nvSpPr>
        <p:spPr bwMode="auto">
          <a:xfrm>
            <a:off x="3713163" y="4278313"/>
            <a:ext cx="5032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NUM1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5" name="Rectangle 8"/>
          <p:cNvSpPr>
            <a:spLocks noChangeArrowheads="1"/>
          </p:cNvSpPr>
          <p:nvPr/>
        </p:nvSpPr>
        <p:spPr bwMode="auto">
          <a:xfrm>
            <a:off x="5502275" y="2511425"/>
            <a:ext cx="6715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R0,SUM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6" name="Rectangle 9"/>
          <p:cNvSpPr>
            <a:spLocks noChangeArrowheads="1"/>
          </p:cNvSpPr>
          <p:nvPr/>
        </p:nvSpPr>
        <p:spPr bwMode="auto">
          <a:xfrm>
            <a:off x="5502275" y="2160588"/>
            <a:ext cx="4048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7" name="Rectangle 10"/>
          <p:cNvSpPr>
            <a:spLocks noChangeArrowheads="1"/>
          </p:cNvSpPr>
          <p:nvPr/>
        </p:nvSpPr>
        <p:spPr bwMode="auto">
          <a:xfrm>
            <a:off x="5910263" y="21605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8" name="Rectangle 11"/>
          <p:cNvSpPr>
            <a:spLocks noChangeArrowheads="1"/>
          </p:cNvSpPr>
          <p:nvPr/>
        </p:nvSpPr>
        <p:spPr bwMode="auto">
          <a:xfrm>
            <a:off x="6007100" y="2160588"/>
            <a:ext cx="2762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,R0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19" name="Rectangle 12"/>
          <p:cNvSpPr>
            <a:spLocks noChangeArrowheads="1"/>
          </p:cNvSpPr>
          <p:nvPr/>
        </p:nvSpPr>
        <p:spPr bwMode="auto">
          <a:xfrm>
            <a:off x="5502275" y="1054100"/>
            <a:ext cx="779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NUM3,R0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0" name="Rectangle 13"/>
          <p:cNvSpPr>
            <a:spLocks noChangeArrowheads="1"/>
          </p:cNvSpPr>
          <p:nvPr/>
        </p:nvSpPr>
        <p:spPr bwMode="auto">
          <a:xfrm>
            <a:off x="5502275" y="723900"/>
            <a:ext cx="779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NUM2,R0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1" name="Rectangle 14"/>
          <p:cNvSpPr>
            <a:spLocks noChangeArrowheads="1"/>
          </p:cNvSpPr>
          <p:nvPr/>
        </p:nvSpPr>
        <p:spPr bwMode="auto">
          <a:xfrm>
            <a:off x="5502275" y="374650"/>
            <a:ext cx="779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NUM1,R0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2" name="Rectangle 15"/>
          <p:cNvSpPr>
            <a:spLocks noChangeArrowheads="1"/>
          </p:cNvSpPr>
          <p:nvPr/>
        </p:nvSpPr>
        <p:spPr bwMode="auto">
          <a:xfrm>
            <a:off x="3203575" y="6477000"/>
            <a:ext cx="49593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500">
                <a:solidFill>
                  <a:srgbClr val="000000"/>
                </a:solidFill>
                <a:latin typeface="Nimbus Roman No9 L" charset="0"/>
              </a:rPr>
              <a:t>Figure 2.9.   A straight-line  program for adding</a:t>
            </a:r>
            <a:r>
              <a:rPr lang="en-US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US" altLang="zh-CN" sz="15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n</a:t>
            </a:r>
            <a:r>
              <a:rPr lang="en-US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numbers.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3" name="Rectangle 16"/>
          <p:cNvSpPr>
            <a:spLocks noChangeArrowheads="1"/>
          </p:cNvSpPr>
          <p:nvPr/>
        </p:nvSpPr>
        <p:spPr bwMode="auto">
          <a:xfrm>
            <a:off x="4899025" y="1054100"/>
            <a:ext cx="315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Add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4" name="Rectangle 17"/>
          <p:cNvSpPr>
            <a:spLocks noChangeArrowheads="1"/>
          </p:cNvSpPr>
          <p:nvPr/>
        </p:nvSpPr>
        <p:spPr bwMode="auto">
          <a:xfrm>
            <a:off x="4899025" y="723900"/>
            <a:ext cx="315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Add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5" name="Rectangle 18"/>
          <p:cNvSpPr>
            <a:spLocks noChangeArrowheads="1"/>
          </p:cNvSpPr>
          <p:nvPr/>
        </p:nvSpPr>
        <p:spPr bwMode="auto">
          <a:xfrm>
            <a:off x="4899025" y="374650"/>
            <a:ext cx="4333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Move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6" name="Rectangle 19"/>
          <p:cNvSpPr>
            <a:spLocks noChangeArrowheads="1"/>
          </p:cNvSpPr>
          <p:nvPr/>
        </p:nvSpPr>
        <p:spPr bwMode="auto">
          <a:xfrm>
            <a:off x="3713163" y="3948113"/>
            <a:ext cx="3952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SUM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7" name="Rectangle 20"/>
          <p:cNvSpPr>
            <a:spLocks noChangeArrowheads="1"/>
          </p:cNvSpPr>
          <p:nvPr/>
        </p:nvSpPr>
        <p:spPr bwMode="auto">
          <a:xfrm>
            <a:off x="3713163" y="412750"/>
            <a:ext cx="396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i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28" name="Line 21"/>
          <p:cNvSpPr>
            <a:spLocks noChangeShapeType="1"/>
          </p:cNvSpPr>
          <p:nvPr/>
        </p:nvSpPr>
        <p:spPr bwMode="auto">
          <a:xfrm flipH="1">
            <a:off x="4471988" y="2452688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29" name="Line 22"/>
          <p:cNvSpPr>
            <a:spLocks noChangeShapeType="1"/>
          </p:cNvSpPr>
          <p:nvPr/>
        </p:nvSpPr>
        <p:spPr bwMode="auto">
          <a:xfrm flipH="1">
            <a:off x="4471988" y="6027738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0" name="Line 23"/>
          <p:cNvSpPr>
            <a:spLocks noChangeShapeType="1"/>
          </p:cNvSpPr>
          <p:nvPr/>
        </p:nvSpPr>
        <p:spPr bwMode="auto">
          <a:xfrm flipV="1">
            <a:off x="4471988" y="198438"/>
            <a:ext cx="1587" cy="59451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1" name="Line 24"/>
          <p:cNvSpPr>
            <a:spLocks noChangeShapeType="1"/>
          </p:cNvSpPr>
          <p:nvPr/>
        </p:nvSpPr>
        <p:spPr bwMode="auto">
          <a:xfrm flipV="1">
            <a:off x="6705600" y="198438"/>
            <a:ext cx="1588" cy="59451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2" name="Line 25"/>
          <p:cNvSpPr>
            <a:spLocks noChangeShapeType="1"/>
          </p:cNvSpPr>
          <p:nvPr/>
        </p:nvSpPr>
        <p:spPr bwMode="auto">
          <a:xfrm flipH="1">
            <a:off x="4471988" y="5697538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3" name="Line 26"/>
          <p:cNvSpPr>
            <a:spLocks noChangeShapeType="1"/>
          </p:cNvSpPr>
          <p:nvPr/>
        </p:nvSpPr>
        <p:spPr bwMode="auto">
          <a:xfrm flipH="1">
            <a:off x="4471988" y="4900613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4" name="Line 27"/>
          <p:cNvSpPr>
            <a:spLocks noChangeShapeType="1"/>
          </p:cNvSpPr>
          <p:nvPr/>
        </p:nvSpPr>
        <p:spPr bwMode="auto">
          <a:xfrm flipH="1">
            <a:off x="4471988" y="4570413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5" name="Line 28"/>
          <p:cNvSpPr>
            <a:spLocks noChangeShapeType="1"/>
          </p:cNvSpPr>
          <p:nvPr/>
        </p:nvSpPr>
        <p:spPr bwMode="auto">
          <a:xfrm flipH="1">
            <a:off x="4471988" y="4240213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6" name="Line 29"/>
          <p:cNvSpPr>
            <a:spLocks noChangeShapeType="1"/>
          </p:cNvSpPr>
          <p:nvPr/>
        </p:nvSpPr>
        <p:spPr bwMode="auto">
          <a:xfrm flipH="1">
            <a:off x="4471988" y="3889375"/>
            <a:ext cx="2233612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7" name="Line 30"/>
          <p:cNvSpPr>
            <a:spLocks noChangeShapeType="1"/>
          </p:cNvSpPr>
          <p:nvPr/>
        </p:nvSpPr>
        <p:spPr bwMode="auto">
          <a:xfrm flipH="1">
            <a:off x="4471988" y="3113088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8" name="Line 31"/>
          <p:cNvSpPr>
            <a:spLocks noChangeShapeType="1"/>
          </p:cNvSpPr>
          <p:nvPr/>
        </p:nvSpPr>
        <p:spPr bwMode="auto">
          <a:xfrm flipH="1">
            <a:off x="4471988" y="2782888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9" name="Line 32"/>
          <p:cNvSpPr>
            <a:spLocks noChangeShapeType="1"/>
          </p:cNvSpPr>
          <p:nvPr/>
        </p:nvSpPr>
        <p:spPr bwMode="auto">
          <a:xfrm flipH="1">
            <a:off x="4471988" y="2103438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0" name="Line 33"/>
          <p:cNvSpPr>
            <a:spLocks noChangeShapeType="1"/>
          </p:cNvSpPr>
          <p:nvPr/>
        </p:nvSpPr>
        <p:spPr bwMode="auto">
          <a:xfrm flipH="1">
            <a:off x="4471988" y="1325563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1" name="Line 34"/>
          <p:cNvSpPr>
            <a:spLocks noChangeShapeType="1"/>
          </p:cNvSpPr>
          <p:nvPr/>
        </p:nvSpPr>
        <p:spPr bwMode="auto">
          <a:xfrm flipH="1">
            <a:off x="4471988" y="315913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2" name="Line 35"/>
          <p:cNvSpPr>
            <a:spLocks noChangeShapeType="1"/>
          </p:cNvSpPr>
          <p:nvPr/>
        </p:nvSpPr>
        <p:spPr bwMode="auto">
          <a:xfrm flipH="1">
            <a:off x="4471988" y="665163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3" name="Line 36"/>
          <p:cNvSpPr>
            <a:spLocks noChangeShapeType="1"/>
          </p:cNvSpPr>
          <p:nvPr/>
        </p:nvSpPr>
        <p:spPr bwMode="auto">
          <a:xfrm flipH="1">
            <a:off x="4471988" y="995363"/>
            <a:ext cx="2233612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4" name="Rectangle 37"/>
          <p:cNvSpPr>
            <a:spLocks noChangeArrowheads="1"/>
          </p:cNvSpPr>
          <p:nvPr/>
        </p:nvSpPr>
        <p:spPr bwMode="auto">
          <a:xfrm>
            <a:off x="4899025" y="2511425"/>
            <a:ext cx="4333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Move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45" name="Rectangle 38"/>
          <p:cNvSpPr>
            <a:spLocks noChangeArrowheads="1"/>
          </p:cNvSpPr>
          <p:nvPr/>
        </p:nvSpPr>
        <p:spPr bwMode="auto">
          <a:xfrm>
            <a:off x="4899025" y="2160588"/>
            <a:ext cx="315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Add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46" name="Rectangle 39"/>
          <p:cNvSpPr>
            <a:spLocks noChangeArrowheads="1"/>
          </p:cNvSpPr>
          <p:nvPr/>
        </p:nvSpPr>
        <p:spPr bwMode="auto">
          <a:xfrm>
            <a:off x="3713163" y="2490788"/>
            <a:ext cx="396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i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47" name="Rectangle 40"/>
          <p:cNvSpPr>
            <a:spLocks noChangeArrowheads="1"/>
          </p:cNvSpPr>
          <p:nvPr/>
        </p:nvSpPr>
        <p:spPr bwMode="auto">
          <a:xfrm>
            <a:off x="3967163" y="250031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4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48" name="Rectangle 41"/>
          <p:cNvSpPr>
            <a:spLocks noChangeArrowheads="1"/>
          </p:cNvSpPr>
          <p:nvPr/>
        </p:nvSpPr>
        <p:spPr bwMode="auto">
          <a:xfrm>
            <a:off x="4064000" y="250031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49" name="Rectangle 42"/>
          <p:cNvSpPr>
            <a:spLocks noChangeArrowheads="1"/>
          </p:cNvSpPr>
          <p:nvPr/>
        </p:nvSpPr>
        <p:spPr bwMode="auto">
          <a:xfrm>
            <a:off x="3811588" y="2509838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+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0" name="Rectangle 43"/>
          <p:cNvSpPr>
            <a:spLocks noChangeArrowheads="1"/>
          </p:cNvSpPr>
          <p:nvPr/>
        </p:nvSpPr>
        <p:spPr bwMode="auto">
          <a:xfrm>
            <a:off x="3713163" y="2160588"/>
            <a:ext cx="396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i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1" name="Rectangle 44"/>
          <p:cNvSpPr>
            <a:spLocks noChangeArrowheads="1"/>
          </p:cNvSpPr>
          <p:nvPr/>
        </p:nvSpPr>
        <p:spPr bwMode="auto">
          <a:xfrm>
            <a:off x="3967163" y="217011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4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2" name="Rectangle 45"/>
          <p:cNvSpPr>
            <a:spLocks noChangeArrowheads="1"/>
          </p:cNvSpPr>
          <p:nvPr/>
        </p:nvSpPr>
        <p:spPr bwMode="auto">
          <a:xfrm>
            <a:off x="4064000" y="217011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3" name="Rectangle 46"/>
          <p:cNvSpPr>
            <a:spLocks noChangeArrowheads="1"/>
          </p:cNvSpPr>
          <p:nvPr/>
        </p:nvSpPr>
        <p:spPr bwMode="auto">
          <a:xfrm>
            <a:off x="4316413" y="2170113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4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4" name="Rectangle 47"/>
          <p:cNvSpPr>
            <a:spLocks noChangeArrowheads="1"/>
          </p:cNvSpPr>
          <p:nvPr/>
        </p:nvSpPr>
        <p:spPr bwMode="auto">
          <a:xfrm>
            <a:off x="4179888" y="2170113"/>
            <a:ext cx="5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-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5" name="Rectangle 48"/>
          <p:cNvSpPr>
            <a:spLocks noChangeArrowheads="1"/>
          </p:cNvSpPr>
          <p:nvPr/>
        </p:nvSpPr>
        <p:spPr bwMode="auto">
          <a:xfrm>
            <a:off x="3811588" y="2170113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+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6" name="Rectangle 49"/>
          <p:cNvSpPr>
            <a:spLocks noChangeArrowheads="1"/>
          </p:cNvSpPr>
          <p:nvPr/>
        </p:nvSpPr>
        <p:spPr bwMode="auto">
          <a:xfrm>
            <a:off x="3713163" y="1035050"/>
            <a:ext cx="396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i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7" name="Rectangle 50"/>
          <p:cNvSpPr>
            <a:spLocks noChangeArrowheads="1"/>
          </p:cNvSpPr>
          <p:nvPr/>
        </p:nvSpPr>
        <p:spPr bwMode="auto">
          <a:xfrm>
            <a:off x="3967163" y="10350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8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8" name="Rectangle 51"/>
          <p:cNvSpPr>
            <a:spLocks noChangeArrowheads="1"/>
          </p:cNvSpPr>
          <p:nvPr/>
        </p:nvSpPr>
        <p:spPr bwMode="auto">
          <a:xfrm>
            <a:off x="3811588" y="10350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+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59" name="Rectangle 52"/>
          <p:cNvSpPr>
            <a:spLocks noChangeArrowheads="1"/>
          </p:cNvSpPr>
          <p:nvPr/>
        </p:nvSpPr>
        <p:spPr bwMode="auto">
          <a:xfrm>
            <a:off x="3713163" y="704850"/>
            <a:ext cx="396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i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60" name="Rectangle 53"/>
          <p:cNvSpPr>
            <a:spLocks noChangeArrowheads="1"/>
          </p:cNvSpPr>
          <p:nvPr/>
        </p:nvSpPr>
        <p:spPr bwMode="auto">
          <a:xfrm>
            <a:off x="3967163" y="70485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4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61" name="Rectangle 54"/>
          <p:cNvSpPr>
            <a:spLocks noChangeArrowheads="1"/>
          </p:cNvSpPr>
          <p:nvPr/>
        </p:nvSpPr>
        <p:spPr bwMode="auto">
          <a:xfrm>
            <a:off x="3811588" y="704850"/>
            <a:ext cx="103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+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19862" name="Text Box 55"/>
          <p:cNvSpPr txBox="1">
            <a:spLocks noChangeArrowheads="1"/>
          </p:cNvSpPr>
          <p:nvPr/>
        </p:nvSpPr>
        <p:spPr bwMode="auto">
          <a:xfrm>
            <a:off x="5430838" y="1360488"/>
            <a:ext cx="26670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en-CA" sz="2000">
              <a:latin typeface="Nimbus Roman No9 L" charset="0"/>
            </a:endParaRPr>
          </a:p>
        </p:txBody>
      </p:sp>
      <p:sp>
        <p:nvSpPr>
          <p:cNvPr id="119863" name="Text Box 56"/>
          <p:cNvSpPr txBox="1">
            <a:spLocks noChangeArrowheads="1"/>
          </p:cNvSpPr>
          <p:nvPr/>
        </p:nvSpPr>
        <p:spPr bwMode="auto">
          <a:xfrm>
            <a:off x="5421313" y="3141663"/>
            <a:ext cx="26670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en-CA" sz="2000">
              <a:latin typeface="Nimbus Roman No9 L" charset="0"/>
            </a:endParaRPr>
          </a:p>
        </p:txBody>
      </p:sp>
      <p:sp>
        <p:nvSpPr>
          <p:cNvPr id="119864" name="Text Box 57"/>
          <p:cNvSpPr txBox="1">
            <a:spLocks noChangeArrowheads="1"/>
          </p:cNvSpPr>
          <p:nvPr/>
        </p:nvSpPr>
        <p:spPr bwMode="auto">
          <a:xfrm>
            <a:off x="5440363" y="4941888"/>
            <a:ext cx="26670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en-CA" sz="2000">
              <a:latin typeface="Nimbus Roman No9 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Branching</a:t>
            </a:r>
          </a:p>
        </p:txBody>
      </p:sp>
      <p:sp>
        <p:nvSpPr>
          <p:cNvPr id="121859" name="Rectangle 4"/>
          <p:cNvSpPr>
            <a:spLocks noChangeArrowheads="1"/>
          </p:cNvSpPr>
          <p:nvPr/>
        </p:nvSpPr>
        <p:spPr bwMode="auto">
          <a:xfrm>
            <a:off x="6470650" y="257175"/>
            <a:ext cx="4048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N,R1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0" name="Rectangle 5"/>
          <p:cNvSpPr>
            <a:spLocks noChangeArrowheads="1"/>
          </p:cNvSpPr>
          <p:nvPr/>
        </p:nvSpPr>
        <p:spPr bwMode="auto">
          <a:xfrm>
            <a:off x="5494338" y="257175"/>
            <a:ext cx="4333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Move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1" name="Rectangle 6"/>
          <p:cNvSpPr>
            <a:spLocks noChangeArrowheads="1"/>
          </p:cNvSpPr>
          <p:nvPr/>
        </p:nvSpPr>
        <p:spPr bwMode="auto">
          <a:xfrm>
            <a:off x="4340225" y="6218238"/>
            <a:ext cx="4048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2" name="Rectangle 7"/>
          <p:cNvSpPr>
            <a:spLocks noChangeArrowheads="1"/>
          </p:cNvSpPr>
          <p:nvPr/>
        </p:nvSpPr>
        <p:spPr bwMode="auto">
          <a:xfrm>
            <a:off x="4751388" y="621823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3" name="Rectangle 8"/>
          <p:cNvSpPr>
            <a:spLocks noChangeArrowheads="1"/>
          </p:cNvSpPr>
          <p:nvPr/>
        </p:nvSpPr>
        <p:spPr bwMode="auto">
          <a:xfrm>
            <a:off x="4321175" y="5105400"/>
            <a:ext cx="5032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NUM2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4" name="Rectangle 9"/>
          <p:cNvSpPr>
            <a:spLocks noChangeArrowheads="1"/>
          </p:cNvSpPr>
          <p:nvPr/>
        </p:nvSpPr>
        <p:spPr bwMode="auto">
          <a:xfrm>
            <a:off x="4321175" y="4752975"/>
            <a:ext cx="5032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NUM1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5" name="Rectangle 10"/>
          <p:cNvSpPr>
            <a:spLocks noChangeArrowheads="1"/>
          </p:cNvSpPr>
          <p:nvPr/>
        </p:nvSpPr>
        <p:spPr bwMode="auto">
          <a:xfrm>
            <a:off x="6470650" y="2622550"/>
            <a:ext cx="6715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R0,SUM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6" name="Rectangle 11"/>
          <p:cNvSpPr>
            <a:spLocks noChangeArrowheads="1"/>
          </p:cNvSpPr>
          <p:nvPr/>
        </p:nvSpPr>
        <p:spPr bwMode="auto">
          <a:xfrm>
            <a:off x="6470650" y="1938338"/>
            <a:ext cx="2270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R1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7" name="Rectangle 12"/>
          <p:cNvSpPr>
            <a:spLocks noChangeArrowheads="1"/>
          </p:cNvSpPr>
          <p:nvPr/>
        </p:nvSpPr>
        <p:spPr bwMode="auto">
          <a:xfrm>
            <a:off x="5414963" y="1449388"/>
            <a:ext cx="16144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"Next" number to 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8" name="Rectangle 13"/>
          <p:cNvSpPr>
            <a:spLocks noChangeArrowheads="1"/>
          </p:cNvSpPr>
          <p:nvPr/>
        </p:nvSpPr>
        <p:spPr bwMode="auto">
          <a:xfrm>
            <a:off x="228600" y="5105400"/>
            <a:ext cx="38258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500">
                <a:solidFill>
                  <a:srgbClr val="000000"/>
                </a:solidFill>
                <a:latin typeface="Nimbus Roman No9 L" charset="0"/>
              </a:rPr>
              <a:t>Figure 2.10.   Using a loop to add</a:t>
            </a:r>
            <a:r>
              <a:rPr lang="en-US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</a:t>
            </a:r>
            <a:r>
              <a:rPr lang="en-US" altLang="zh-CN" sz="1500" i="1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n</a:t>
            </a:r>
            <a:r>
              <a:rPr lang="en-US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 numbers.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69" name="Line 14"/>
          <p:cNvSpPr>
            <a:spLocks noChangeShapeType="1"/>
          </p:cNvSpPr>
          <p:nvPr/>
        </p:nvSpPr>
        <p:spPr bwMode="auto">
          <a:xfrm flipH="1">
            <a:off x="5102225" y="6511925"/>
            <a:ext cx="2268538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70" name="Line 15"/>
          <p:cNvSpPr>
            <a:spLocks noChangeShapeType="1"/>
          </p:cNvSpPr>
          <p:nvPr/>
        </p:nvSpPr>
        <p:spPr bwMode="auto">
          <a:xfrm flipH="1">
            <a:off x="5102225" y="217488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71" name="Rectangle 16"/>
          <p:cNvSpPr>
            <a:spLocks noChangeArrowheads="1"/>
          </p:cNvSpPr>
          <p:nvPr/>
        </p:nvSpPr>
        <p:spPr bwMode="auto">
          <a:xfrm>
            <a:off x="6470650" y="2289175"/>
            <a:ext cx="4937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LOOP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72" name="Rectangle 17"/>
          <p:cNvSpPr>
            <a:spLocks noChangeArrowheads="1"/>
          </p:cNvSpPr>
          <p:nvPr/>
        </p:nvSpPr>
        <p:spPr bwMode="auto">
          <a:xfrm>
            <a:off x="5494338" y="1938338"/>
            <a:ext cx="8667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Decrement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73" name="Rectangle 18"/>
          <p:cNvSpPr>
            <a:spLocks noChangeArrowheads="1"/>
          </p:cNvSpPr>
          <p:nvPr/>
        </p:nvSpPr>
        <p:spPr bwMode="auto">
          <a:xfrm>
            <a:off x="5494338" y="2622550"/>
            <a:ext cx="4333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Move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74" name="Rectangle 19"/>
          <p:cNvSpPr>
            <a:spLocks noChangeArrowheads="1"/>
          </p:cNvSpPr>
          <p:nvPr/>
        </p:nvSpPr>
        <p:spPr bwMode="auto">
          <a:xfrm>
            <a:off x="4359275" y="920750"/>
            <a:ext cx="4937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LOOP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75" name="Line 20"/>
          <p:cNvSpPr>
            <a:spLocks noChangeShapeType="1"/>
          </p:cNvSpPr>
          <p:nvPr/>
        </p:nvSpPr>
        <p:spPr bwMode="auto">
          <a:xfrm flipH="1">
            <a:off x="5102225" y="1898650"/>
            <a:ext cx="2268538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76" name="Line 21"/>
          <p:cNvSpPr>
            <a:spLocks noChangeShapeType="1"/>
          </p:cNvSpPr>
          <p:nvPr/>
        </p:nvSpPr>
        <p:spPr bwMode="auto">
          <a:xfrm flipV="1">
            <a:off x="5102225" y="1449388"/>
            <a:ext cx="1588" cy="51800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77" name="Line 22"/>
          <p:cNvSpPr>
            <a:spLocks noChangeShapeType="1"/>
          </p:cNvSpPr>
          <p:nvPr/>
        </p:nvSpPr>
        <p:spPr bwMode="auto">
          <a:xfrm flipV="1">
            <a:off x="5102225" y="100013"/>
            <a:ext cx="1588" cy="1231900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78" name="Line 23"/>
          <p:cNvSpPr>
            <a:spLocks noChangeShapeType="1"/>
          </p:cNvSpPr>
          <p:nvPr/>
        </p:nvSpPr>
        <p:spPr bwMode="auto">
          <a:xfrm flipV="1">
            <a:off x="7370763" y="1449388"/>
            <a:ext cx="1587" cy="5180012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79" name="Line 24"/>
          <p:cNvSpPr>
            <a:spLocks noChangeShapeType="1"/>
          </p:cNvSpPr>
          <p:nvPr/>
        </p:nvSpPr>
        <p:spPr bwMode="auto">
          <a:xfrm flipV="1">
            <a:off x="7370763" y="100013"/>
            <a:ext cx="1587" cy="1231900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0" name="Line 25"/>
          <p:cNvSpPr>
            <a:spLocks noChangeShapeType="1"/>
          </p:cNvSpPr>
          <p:nvPr/>
        </p:nvSpPr>
        <p:spPr bwMode="auto">
          <a:xfrm flipH="1">
            <a:off x="5005388" y="1390650"/>
            <a:ext cx="214312" cy="117475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1" name="Line 26"/>
          <p:cNvSpPr>
            <a:spLocks noChangeShapeType="1"/>
          </p:cNvSpPr>
          <p:nvPr/>
        </p:nvSpPr>
        <p:spPr bwMode="auto">
          <a:xfrm flipH="1">
            <a:off x="5005388" y="1292225"/>
            <a:ext cx="214312" cy="98425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2" name="Line 27"/>
          <p:cNvSpPr>
            <a:spLocks noChangeShapeType="1"/>
          </p:cNvSpPr>
          <p:nvPr/>
        </p:nvSpPr>
        <p:spPr bwMode="auto">
          <a:xfrm flipH="1">
            <a:off x="7253288" y="1390650"/>
            <a:ext cx="214312" cy="117475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3" name="Line 28"/>
          <p:cNvSpPr>
            <a:spLocks noChangeShapeType="1"/>
          </p:cNvSpPr>
          <p:nvPr/>
        </p:nvSpPr>
        <p:spPr bwMode="auto">
          <a:xfrm flipH="1">
            <a:off x="7253288" y="1292225"/>
            <a:ext cx="214312" cy="98425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4" name="Line 29"/>
          <p:cNvSpPr>
            <a:spLocks noChangeShapeType="1"/>
          </p:cNvSpPr>
          <p:nvPr/>
        </p:nvSpPr>
        <p:spPr bwMode="auto">
          <a:xfrm flipH="1">
            <a:off x="5102225" y="550863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5" name="Line 30"/>
          <p:cNvSpPr>
            <a:spLocks noChangeShapeType="1"/>
          </p:cNvSpPr>
          <p:nvPr/>
        </p:nvSpPr>
        <p:spPr bwMode="auto">
          <a:xfrm flipH="1">
            <a:off x="5102225" y="882650"/>
            <a:ext cx="2268538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6" name="Line 31"/>
          <p:cNvSpPr>
            <a:spLocks noChangeShapeType="1"/>
          </p:cNvSpPr>
          <p:nvPr/>
        </p:nvSpPr>
        <p:spPr bwMode="auto">
          <a:xfrm flipH="1">
            <a:off x="5102225" y="2251075"/>
            <a:ext cx="2268538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7" name="Line 32"/>
          <p:cNvSpPr>
            <a:spLocks noChangeShapeType="1"/>
          </p:cNvSpPr>
          <p:nvPr/>
        </p:nvSpPr>
        <p:spPr bwMode="auto">
          <a:xfrm flipH="1">
            <a:off x="5102225" y="2582863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8" name="Line 33"/>
          <p:cNvSpPr>
            <a:spLocks noChangeShapeType="1"/>
          </p:cNvSpPr>
          <p:nvPr/>
        </p:nvSpPr>
        <p:spPr bwMode="auto">
          <a:xfrm flipH="1">
            <a:off x="5102225" y="2916238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89" name="Line 34"/>
          <p:cNvSpPr>
            <a:spLocks noChangeShapeType="1"/>
          </p:cNvSpPr>
          <p:nvPr/>
        </p:nvSpPr>
        <p:spPr bwMode="auto">
          <a:xfrm flipH="1">
            <a:off x="5102225" y="3248025"/>
            <a:ext cx="2268538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90" name="Line 35"/>
          <p:cNvSpPr>
            <a:spLocks noChangeShapeType="1"/>
          </p:cNvSpPr>
          <p:nvPr/>
        </p:nvSpPr>
        <p:spPr bwMode="auto">
          <a:xfrm flipH="1">
            <a:off x="5102225" y="4049713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91" name="Line 36"/>
          <p:cNvSpPr>
            <a:spLocks noChangeShapeType="1"/>
          </p:cNvSpPr>
          <p:nvPr/>
        </p:nvSpPr>
        <p:spPr bwMode="auto">
          <a:xfrm flipH="1">
            <a:off x="5102225" y="4381500"/>
            <a:ext cx="2268538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92" name="Line 37"/>
          <p:cNvSpPr>
            <a:spLocks noChangeShapeType="1"/>
          </p:cNvSpPr>
          <p:nvPr/>
        </p:nvSpPr>
        <p:spPr bwMode="auto">
          <a:xfrm flipH="1">
            <a:off x="5102225" y="4713288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93" name="Line 38"/>
          <p:cNvSpPr>
            <a:spLocks noChangeShapeType="1"/>
          </p:cNvSpPr>
          <p:nvPr/>
        </p:nvSpPr>
        <p:spPr bwMode="auto">
          <a:xfrm flipH="1">
            <a:off x="5102225" y="5065713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94" name="Line 39"/>
          <p:cNvSpPr>
            <a:spLocks noChangeShapeType="1"/>
          </p:cNvSpPr>
          <p:nvPr/>
        </p:nvSpPr>
        <p:spPr bwMode="auto">
          <a:xfrm flipH="1">
            <a:off x="5102225" y="5397500"/>
            <a:ext cx="2268538" cy="15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95" name="Rectangle 40"/>
          <p:cNvSpPr>
            <a:spLocks noChangeArrowheads="1"/>
          </p:cNvSpPr>
          <p:nvPr/>
        </p:nvSpPr>
        <p:spPr bwMode="auto">
          <a:xfrm>
            <a:off x="3578225" y="1684338"/>
            <a:ext cx="3349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loop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96" name="Rectangle 41"/>
          <p:cNvSpPr>
            <a:spLocks noChangeArrowheads="1"/>
          </p:cNvSpPr>
          <p:nvPr/>
        </p:nvSpPr>
        <p:spPr bwMode="auto">
          <a:xfrm>
            <a:off x="3402013" y="1468438"/>
            <a:ext cx="67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Program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97" name="Rectangle 42"/>
          <p:cNvSpPr>
            <a:spLocks noChangeArrowheads="1"/>
          </p:cNvSpPr>
          <p:nvPr/>
        </p:nvSpPr>
        <p:spPr bwMode="auto">
          <a:xfrm>
            <a:off x="5414963" y="1096963"/>
            <a:ext cx="16938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Determine address of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98" name="Rectangle 43"/>
          <p:cNvSpPr>
            <a:spLocks noChangeArrowheads="1"/>
          </p:cNvSpPr>
          <p:nvPr/>
        </p:nvSpPr>
        <p:spPr bwMode="auto">
          <a:xfrm>
            <a:off x="5414963" y="1273175"/>
            <a:ext cx="18303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"Next" number and add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899" name="Rectangle 44"/>
          <p:cNvSpPr>
            <a:spLocks noChangeArrowheads="1"/>
          </p:cNvSpPr>
          <p:nvPr/>
        </p:nvSpPr>
        <p:spPr bwMode="auto">
          <a:xfrm>
            <a:off x="4321175" y="4421188"/>
            <a:ext cx="1285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900" name="Rectangle 45"/>
          <p:cNvSpPr>
            <a:spLocks noChangeArrowheads="1"/>
          </p:cNvSpPr>
          <p:nvPr/>
        </p:nvSpPr>
        <p:spPr bwMode="auto">
          <a:xfrm>
            <a:off x="4321175" y="408781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SUM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901" name="Rectangle 46"/>
          <p:cNvSpPr>
            <a:spLocks noChangeArrowheads="1"/>
          </p:cNvSpPr>
          <p:nvPr/>
        </p:nvSpPr>
        <p:spPr bwMode="auto">
          <a:xfrm>
            <a:off x="6197600" y="4421188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 i="1">
                <a:solidFill>
                  <a:srgbClr val="000000"/>
                </a:solidFill>
                <a:latin typeface="Nimbus Roman No9 L" charset="0"/>
              </a:rPr>
              <a:t>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902" name="Rectangle 47"/>
          <p:cNvSpPr>
            <a:spLocks noChangeArrowheads="1"/>
          </p:cNvSpPr>
          <p:nvPr/>
        </p:nvSpPr>
        <p:spPr bwMode="auto">
          <a:xfrm>
            <a:off x="6470650" y="588963"/>
            <a:ext cx="2270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903" name="Rectangle 48"/>
          <p:cNvSpPr>
            <a:spLocks noChangeArrowheads="1"/>
          </p:cNvSpPr>
          <p:nvPr/>
        </p:nvSpPr>
        <p:spPr bwMode="auto">
          <a:xfrm>
            <a:off x="5494338" y="588963"/>
            <a:ext cx="4238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Clear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904" name="Freeform 49"/>
          <p:cNvSpPr>
            <a:spLocks/>
          </p:cNvSpPr>
          <p:nvPr/>
        </p:nvSpPr>
        <p:spPr bwMode="auto">
          <a:xfrm>
            <a:off x="4125913" y="901700"/>
            <a:ext cx="96837" cy="820738"/>
          </a:xfrm>
          <a:custGeom>
            <a:avLst/>
            <a:gdLst>
              <a:gd name="T0" fmla="*/ 5 w 5"/>
              <a:gd name="T1" fmla="*/ 0 h 42"/>
              <a:gd name="T2" fmla="*/ 4 w 5"/>
              <a:gd name="T3" fmla="*/ 1 h 42"/>
              <a:gd name="T4" fmla="*/ 3 w 5"/>
              <a:gd name="T5" fmla="*/ 1 h 42"/>
              <a:gd name="T6" fmla="*/ 3 w 5"/>
              <a:gd name="T7" fmla="*/ 2 h 42"/>
              <a:gd name="T8" fmla="*/ 2 w 5"/>
              <a:gd name="T9" fmla="*/ 2 h 42"/>
              <a:gd name="T10" fmla="*/ 2 w 5"/>
              <a:gd name="T11" fmla="*/ 3 h 42"/>
              <a:gd name="T12" fmla="*/ 2 w 5"/>
              <a:gd name="T13" fmla="*/ 10 h 42"/>
              <a:gd name="T14" fmla="*/ 2 w 5"/>
              <a:gd name="T15" fmla="*/ 21 h 42"/>
              <a:gd name="T16" fmla="*/ 2 w 5"/>
              <a:gd name="T17" fmla="*/ 31 h 42"/>
              <a:gd name="T18" fmla="*/ 2 w 5"/>
              <a:gd name="T19" fmla="*/ 39 h 42"/>
              <a:gd name="T20" fmla="*/ 2 w 5"/>
              <a:gd name="T21" fmla="*/ 40 h 42"/>
              <a:gd name="T22" fmla="*/ 2 w 5"/>
              <a:gd name="T23" fmla="*/ 40 h 42"/>
              <a:gd name="T24" fmla="*/ 2 w 5"/>
              <a:gd name="T25" fmla="*/ 41 h 42"/>
              <a:gd name="T26" fmla="*/ 1 w 5"/>
              <a:gd name="T27" fmla="*/ 41 h 42"/>
              <a:gd name="T28" fmla="*/ 0 w 5"/>
              <a:gd name="T29" fmla="*/ 42 h 4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"/>
              <a:gd name="T46" fmla="*/ 0 h 42"/>
              <a:gd name="T47" fmla="*/ 5 w 5"/>
              <a:gd name="T48" fmla="*/ 42 h 4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" h="42">
                <a:moveTo>
                  <a:pt x="5" y="0"/>
                </a:moveTo>
                <a:lnTo>
                  <a:pt x="4" y="1"/>
                </a:ln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2" y="10"/>
                </a:lnTo>
                <a:lnTo>
                  <a:pt x="2" y="21"/>
                </a:lnTo>
                <a:lnTo>
                  <a:pt x="2" y="31"/>
                </a:lnTo>
                <a:lnTo>
                  <a:pt x="2" y="39"/>
                </a:lnTo>
                <a:lnTo>
                  <a:pt x="2" y="40"/>
                </a:lnTo>
                <a:lnTo>
                  <a:pt x="2" y="41"/>
                </a:lnTo>
                <a:lnTo>
                  <a:pt x="1" y="41"/>
                </a:lnTo>
                <a:lnTo>
                  <a:pt x="0" y="4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05" name="Freeform 50"/>
          <p:cNvSpPr>
            <a:spLocks/>
          </p:cNvSpPr>
          <p:nvPr/>
        </p:nvSpPr>
        <p:spPr bwMode="auto">
          <a:xfrm>
            <a:off x="4125913" y="1722438"/>
            <a:ext cx="96837" cy="822325"/>
          </a:xfrm>
          <a:custGeom>
            <a:avLst/>
            <a:gdLst>
              <a:gd name="T0" fmla="*/ 5 w 5"/>
              <a:gd name="T1" fmla="*/ 42 h 42"/>
              <a:gd name="T2" fmla="*/ 4 w 5"/>
              <a:gd name="T3" fmla="*/ 41 h 42"/>
              <a:gd name="T4" fmla="*/ 3 w 5"/>
              <a:gd name="T5" fmla="*/ 40 h 42"/>
              <a:gd name="T6" fmla="*/ 2 w 5"/>
              <a:gd name="T7" fmla="*/ 40 h 42"/>
              <a:gd name="T8" fmla="*/ 2 w 5"/>
              <a:gd name="T9" fmla="*/ 39 h 42"/>
              <a:gd name="T10" fmla="*/ 2 w 5"/>
              <a:gd name="T11" fmla="*/ 31 h 42"/>
              <a:gd name="T12" fmla="*/ 2 w 5"/>
              <a:gd name="T13" fmla="*/ 21 h 42"/>
              <a:gd name="T14" fmla="*/ 2 w 5"/>
              <a:gd name="T15" fmla="*/ 10 h 42"/>
              <a:gd name="T16" fmla="*/ 2 w 5"/>
              <a:gd name="T17" fmla="*/ 3 h 42"/>
              <a:gd name="T18" fmla="*/ 2 w 5"/>
              <a:gd name="T19" fmla="*/ 2 h 42"/>
              <a:gd name="T20" fmla="*/ 2 w 5"/>
              <a:gd name="T21" fmla="*/ 2 h 42"/>
              <a:gd name="T22" fmla="*/ 2 w 5"/>
              <a:gd name="T23" fmla="*/ 1 h 42"/>
              <a:gd name="T24" fmla="*/ 1 w 5"/>
              <a:gd name="T25" fmla="*/ 1 h 42"/>
              <a:gd name="T26" fmla="*/ 0 w 5"/>
              <a:gd name="T27" fmla="*/ 0 h 4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"/>
              <a:gd name="T43" fmla="*/ 0 h 42"/>
              <a:gd name="T44" fmla="*/ 5 w 5"/>
              <a:gd name="T45" fmla="*/ 42 h 4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" h="42">
                <a:moveTo>
                  <a:pt x="5" y="42"/>
                </a:moveTo>
                <a:lnTo>
                  <a:pt x="4" y="41"/>
                </a:lnTo>
                <a:lnTo>
                  <a:pt x="3" y="40"/>
                </a:lnTo>
                <a:lnTo>
                  <a:pt x="2" y="40"/>
                </a:lnTo>
                <a:lnTo>
                  <a:pt x="2" y="39"/>
                </a:lnTo>
                <a:lnTo>
                  <a:pt x="2" y="31"/>
                </a:lnTo>
                <a:lnTo>
                  <a:pt x="2" y="21"/>
                </a:lnTo>
                <a:lnTo>
                  <a:pt x="2" y="10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06" name="Freeform 51"/>
          <p:cNvSpPr>
            <a:spLocks/>
          </p:cNvSpPr>
          <p:nvPr/>
        </p:nvSpPr>
        <p:spPr bwMode="auto">
          <a:xfrm>
            <a:off x="6237288" y="3502025"/>
            <a:ext cx="19050" cy="19050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07" name="Freeform 52"/>
          <p:cNvSpPr>
            <a:spLocks/>
          </p:cNvSpPr>
          <p:nvPr/>
        </p:nvSpPr>
        <p:spPr bwMode="auto">
          <a:xfrm>
            <a:off x="6237288" y="3638550"/>
            <a:ext cx="19050" cy="19050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08" name="Freeform 53"/>
          <p:cNvSpPr>
            <a:spLocks/>
          </p:cNvSpPr>
          <p:nvPr/>
        </p:nvSpPr>
        <p:spPr bwMode="auto">
          <a:xfrm>
            <a:off x="6237288" y="3775075"/>
            <a:ext cx="19050" cy="20638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09" name="Freeform 54"/>
          <p:cNvSpPr>
            <a:spLocks/>
          </p:cNvSpPr>
          <p:nvPr/>
        </p:nvSpPr>
        <p:spPr bwMode="auto">
          <a:xfrm>
            <a:off x="6237288" y="5672138"/>
            <a:ext cx="19050" cy="19050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10" name="Freeform 55"/>
          <p:cNvSpPr>
            <a:spLocks/>
          </p:cNvSpPr>
          <p:nvPr/>
        </p:nvSpPr>
        <p:spPr bwMode="auto">
          <a:xfrm>
            <a:off x="6237288" y="5789613"/>
            <a:ext cx="19050" cy="19050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11" name="Freeform 56"/>
          <p:cNvSpPr>
            <a:spLocks/>
          </p:cNvSpPr>
          <p:nvPr/>
        </p:nvSpPr>
        <p:spPr bwMode="auto">
          <a:xfrm>
            <a:off x="6237288" y="5926138"/>
            <a:ext cx="19050" cy="19050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1 h 1"/>
              <a:gd name="T6" fmla="*/ 1 w 1"/>
              <a:gd name="T7" fmla="*/ 0 h 1"/>
              <a:gd name="T8" fmla="*/ 0 w 1"/>
              <a:gd name="T9" fmla="*/ 0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"/>
              <a:gd name="T16" fmla="*/ 0 h 1"/>
              <a:gd name="T17" fmla="*/ 1 w 1"/>
              <a:gd name="T18" fmla="*/ 1 h 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12" name="Rectangle 57"/>
          <p:cNvSpPr>
            <a:spLocks noChangeArrowheads="1"/>
          </p:cNvSpPr>
          <p:nvPr/>
        </p:nvSpPr>
        <p:spPr bwMode="auto">
          <a:xfrm>
            <a:off x="5494338" y="2289175"/>
            <a:ext cx="7635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400">
                <a:solidFill>
                  <a:srgbClr val="000000"/>
                </a:solidFill>
                <a:latin typeface="Nimbus Roman No9 L" charset="0"/>
              </a:rPr>
              <a:t>Branch&gt;0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21913" name="Text Box 58"/>
          <p:cNvSpPr txBox="1">
            <a:spLocks noChangeArrowheads="1"/>
          </p:cNvSpPr>
          <p:nvPr/>
        </p:nvSpPr>
        <p:spPr bwMode="auto">
          <a:xfrm>
            <a:off x="6130925" y="3281363"/>
            <a:ext cx="393700" cy="6762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</a:p>
        </p:txBody>
      </p:sp>
      <p:sp>
        <p:nvSpPr>
          <p:cNvPr id="121914" name="Text Box 59"/>
          <p:cNvSpPr txBox="1">
            <a:spLocks noChangeArrowheads="1"/>
          </p:cNvSpPr>
          <p:nvPr/>
        </p:nvSpPr>
        <p:spPr bwMode="auto">
          <a:xfrm>
            <a:off x="6130925" y="5427663"/>
            <a:ext cx="393700" cy="6762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endParaRPr lang="zh-CN" altLang="en-US" sz="20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  <a:endParaRPr lang="en-US" altLang="zh-CN" sz="1600">
              <a:latin typeface="Nimbus Roman No9 L" charset="0"/>
              <a:ea typeface="SimSun" pitchFamily="2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CA" sz="1600">
                <a:latin typeface="Nimbus Roman No9 L" charset="0"/>
              </a:rPr>
              <a:t>•</a:t>
            </a:r>
          </a:p>
        </p:txBody>
      </p:sp>
      <p:sp>
        <p:nvSpPr>
          <p:cNvPr id="121915" name="Line 60"/>
          <p:cNvSpPr>
            <a:spLocks noChangeShapeType="1"/>
          </p:cNvSpPr>
          <p:nvPr/>
        </p:nvSpPr>
        <p:spPr bwMode="auto">
          <a:xfrm flipH="1">
            <a:off x="5102225" y="6180138"/>
            <a:ext cx="2268538" cy="15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916" name="Text Box 61"/>
          <p:cNvSpPr txBox="1">
            <a:spLocks noChangeArrowheads="1"/>
          </p:cNvSpPr>
          <p:nvPr/>
        </p:nvSpPr>
        <p:spPr bwMode="auto">
          <a:xfrm>
            <a:off x="669925" y="2322513"/>
            <a:ext cx="1555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SimSun" pitchFamily="2" charset="-122"/>
              </a:rPr>
              <a:t>Branch target</a:t>
            </a:r>
          </a:p>
        </p:txBody>
      </p:sp>
      <p:sp>
        <p:nvSpPr>
          <p:cNvPr id="121917" name="Text Box 62"/>
          <p:cNvSpPr txBox="1">
            <a:spLocks noChangeArrowheads="1"/>
          </p:cNvSpPr>
          <p:nvPr/>
        </p:nvSpPr>
        <p:spPr bwMode="auto">
          <a:xfrm>
            <a:off x="685800" y="2971800"/>
            <a:ext cx="208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SimSun" pitchFamily="2" charset="-122"/>
              </a:rPr>
              <a:t>Conditional branch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Condition Codes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Condition code flags</a:t>
            </a:r>
          </a:p>
          <a:p>
            <a:r>
              <a:rPr lang="en-US" altLang="zh-CN">
                <a:ea typeface="SimSun" pitchFamily="2" charset="-122"/>
              </a:rPr>
              <a:t>Condition code register / status register</a:t>
            </a:r>
          </a:p>
          <a:p>
            <a:r>
              <a:rPr lang="en-US" altLang="zh-CN">
                <a:ea typeface="SimSun" pitchFamily="2" charset="-122"/>
              </a:rPr>
              <a:t>N (negative)</a:t>
            </a:r>
          </a:p>
          <a:p>
            <a:r>
              <a:rPr lang="en-US" altLang="zh-CN">
                <a:ea typeface="SimSun" pitchFamily="2" charset="-122"/>
              </a:rPr>
              <a:t>Z (zero)</a:t>
            </a:r>
          </a:p>
          <a:p>
            <a:r>
              <a:rPr lang="en-US" altLang="zh-CN">
                <a:ea typeface="SimSun" pitchFamily="2" charset="-122"/>
              </a:rPr>
              <a:t>V (overflow)</a:t>
            </a:r>
          </a:p>
          <a:p>
            <a:r>
              <a:rPr lang="en-US" altLang="zh-CN">
                <a:ea typeface="SimSun" pitchFamily="2" charset="-122"/>
              </a:rPr>
              <a:t>C (carry)</a:t>
            </a:r>
          </a:p>
          <a:p>
            <a:r>
              <a:rPr lang="en-US" altLang="zh-CN">
                <a:ea typeface="SimSun" pitchFamily="2" charset="-122"/>
              </a:rPr>
              <a:t>Different instructions affect different flags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Conditional Branch Instructions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2217737"/>
          </a:xfrm>
        </p:spPr>
        <p:txBody>
          <a:bodyPr/>
          <a:lstStyle/>
          <a:p>
            <a:r>
              <a:rPr lang="en-US"/>
              <a:t>Example:</a:t>
            </a:r>
          </a:p>
          <a:p>
            <a:pPr lvl="1"/>
            <a:r>
              <a:rPr lang="en-US">
                <a:solidFill>
                  <a:schemeClr val="accent1"/>
                </a:solidFill>
              </a:rPr>
              <a:t>A</a:t>
            </a:r>
            <a:r>
              <a:rPr lang="en-US"/>
              <a:t>:  1 1 1 1 0 0 0 0</a:t>
            </a:r>
          </a:p>
          <a:p>
            <a:pPr lvl="1"/>
            <a:r>
              <a:rPr lang="en-US">
                <a:solidFill>
                  <a:schemeClr val="accent1"/>
                </a:solidFill>
              </a:rPr>
              <a:t>B</a:t>
            </a:r>
            <a:r>
              <a:rPr lang="en-US"/>
              <a:t>:  0 0 0 1 0 1 0 0</a:t>
            </a:r>
          </a:p>
        </p:txBody>
      </p:sp>
      <p:sp>
        <p:nvSpPr>
          <p:cNvPr id="356356" name="Text Box 4"/>
          <p:cNvSpPr txBox="1">
            <a:spLocks noChangeArrowheads="1"/>
          </p:cNvSpPr>
          <p:nvPr/>
        </p:nvSpPr>
        <p:spPr bwMode="auto">
          <a:xfrm>
            <a:off x="4572000" y="1628775"/>
            <a:ext cx="3060700" cy="53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A</a:t>
            </a:r>
            <a:r>
              <a:rPr lang="en-US" sz="2400" b="1">
                <a:cs typeface="Arial" pitchFamily="34" charset="0"/>
              </a:rPr>
              <a:t>:      </a:t>
            </a:r>
            <a:r>
              <a:rPr lang="en-US" sz="2000" b="1">
                <a:cs typeface="Arial" pitchFamily="34" charset="0"/>
              </a:rPr>
              <a:t>   </a:t>
            </a:r>
            <a:r>
              <a:rPr lang="en-US" sz="2400" b="1">
                <a:cs typeface="Arial" pitchFamily="34" charset="0"/>
              </a:rPr>
              <a:t>1 1 1 1 0 0 0 0</a:t>
            </a:r>
          </a:p>
        </p:txBody>
      </p:sp>
      <p:sp>
        <p:nvSpPr>
          <p:cNvPr id="356357" name="Text Box 5"/>
          <p:cNvSpPr txBox="1">
            <a:spLocks noChangeArrowheads="1"/>
          </p:cNvSpPr>
          <p:nvPr/>
        </p:nvSpPr>
        <p:spPr bwMode="auto">
          <a:xfrm>
            <a:off x="4572000" y="2168525"/>
            <a:ext cx="3060700" cy="53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+(</a:t>
            </a:r>
            <a:r>
              <a:rPr lang="en-US" sz="2400" b="1">
                <a:solidFill>
                  <a:schemeClr val="accent2"/>
                </a:solidFill>
                <a:cs typeface="Arial" pitchFamily="34" charset="0"/>
              </a:rPr>
              <a:t>−B</a:t>
            </a:r>
            <a:r>
              <a:rPr lang="en-US" sz="2400" b="1">
                <a:cs typeface="Arial" pitchFamily="34" charset="0"/>
              </a:rPr>
              <a:t>):</a:t>
            </a:r>
            <a:r>
              <a:rPr lang="en-US" sz="2400" b="1">
                <a:solidFill>
                  <a:schemeClr val="accent2"/>
                </a:solidFill>
                <a:cs typeface="Arial" pitchFamily="34" charset="0"/>
              </a:rPr>
              <a:t>  1 1 1 0 1 1 0 0</a:t>
            </a:r>
          </a:p>
        </p:txBody>
      </p:sp>
      <p:sp>
        <p:nvSpPr>
          <p:cNvPr id="356358" name="Line 6"/>
          <p:cNvSpPr>
            <a:spLocks noChangeShapeType="1"/>
          </p:cNvSpPr>
          <p:nvPr/>
        </p:nvSpPr>
        <p:spPr bwMode="auto">
          <a:xfrm>
            <a:off x="4572000" y="2708275"/>
            <a:ext cx="3060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6359" name="Text Box 7"/>
          <p:cNvSpPr txBox="1">
            <a:spLocks noChangeArrowheads="1"/>
          </p:cNvSpPr>
          <p:nvPr/>
        </p:nvSpPr>
        <p:spPr bwMode="auto">
          <a:xfrm>
            <a:off x="4572000" y="2708275"/>
            <a:ext cx="3060700" cy="53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          </a:t>
            </a:r>
            <a:r>
              <a:rPr lang="en-US" sz="2000" b="1">
                <a:cs typeface="Arial" pitchFamily="34" charset="0"/>
              </a:rPr>
              <a:t>   </a:t>
            </a:r>
            <a:r>
              <a:rPr lang="en-US" sz="2400" b="1">
                <a:cs typeface="Arial" pitchFamily="34" charset="0"/>
              </a:rPr>
              <a:t>1 1 0 1 1 1 0 0</a:t>
            </a:r>
          </a:p>
        </p:txBody>
      </p:sp>
      <p:sp>
        <p:nvSpPr>
          <p:cNvPr id="356360" name="Text Box 8"/>
          <p:cNvSpPr txBox="1">
            <a:spLocks noChangeArrowheads="1"/>
          </p:cNvSpPr>
          <p:nvPr/>
        </p:nvSpPr>
        <p:spPr bwMode="auto">
          <a:xfrm>
            <a:off x="4751388" y="3608388"/>
            <a:ext cx="900112" cy="53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C </a:t>
            </a:r>
            <a:r>
              <a:rPr lang="en-US" sz="2400" b="1">
                <a:cs typeface="Arial" pitchFamily="34" charset="0"/>
              </a:rPr>
              <a:t>=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 1</a:t>
            </a:r>
            <a:endParaRPr lang="en-US" sz="2400" b="1">
              <a:cs typeface="Arial" pitchFamily="34" charset="0"/>
            </a:endParaRPr>
          </a:p>
        </p:txBody>
      </p:sp>
      <p:cxnSp>
        <p:nvCxnSpPr>
          <p:cNvPr id="356361" name="AutoShape 9"/>
          <p:cNvCxnSpPr>
            <a:cxnSpLocks noChangeShapeType="1"/>
            <a:endCxn id="356360" idx="0"/>
          </p:cNvCxnSpPr>
          <p:nvPr/>
        </p:nvCxnSpPr>
        <p:spPr bwMode="auto">
          <a:xfrm rot="10800000" flipV="1">
            <a:off x="5202238" y="2798763"/>
            <a:ext cx="449262" cy="809625"/>
          </a:xfrm>
          <a:prstGeom prst="curvedConnector2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56362" name="Text Box 10"/>
          <p:cNvSpPr txBox="1">
            <a:spLocks noChangeArrowheads="1"/>
          </p:cNvSpPr>
          <p:nvPr/>
        </p:nvSpPr>
        <p:spPr bwMode="auto">
          <a:xfrm>
            <a:off x="5292725" y="4149725"/>
            <a:ext cx="900113" cy="53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solidFill>
                  <a:schemeClr val="accent2"/>
                </a:solidFill>
                <a:cs typeface="Arial" pitchFamily="34" charset="0"/>
              </a:rPr>
              <a:t>S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sz="2400" b="1">
                <a:cs typeface="Arial" pitchFamily="34" charset="0"/>
              </a:rPr>
              <a:t>=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sz="2400" b="1">
                <a:solidFill>
                  <a:schemeClr val="accent2"/>
                </a:solidFill>
                <a:cs typeface="Arial" pitchFamily="34" charset="0"/>
              </a:rPr>
              <a:t>1</a:t>
            </a:r>
          </a:p>
        </p:txBody>
      </p:sp>
      <p:sp>
        <p:nvSpPr>
          <p:cNvPr id="356363" name="Line 11"/>
          <p:cNvSpPr>
            <a:spLocks noChangeShapeType="1"/>
          </p:cNvSpPr>
          <p:nvPr/>
        </p:nvSpPr>
        <p:spPr bwMode="auto">
          <a:xfrm>
            <a:off x="5732463" y="3249613"/>
            <a:ext cx="0" cy="9001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6364" name="Text Box 12"/>
          <p:cNvSpPr txBox="1">
            <a:spLocks noChangeArrowheads="1"/>
          </p:cNvSpPr>
          <p:nvPr/>
        </p:nvSpPr>
        <p:spPr bwMode="auto">
          <a:xfrm>
            <a:off x="5292725" y="4689475"/>
            <a:ext cx="900113" cy="53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solidFill>
                  <a:srgbClr val="CC00FF"/>
                </a:solidFill>
                <a:cs typeface="Arial" pitchFamily="34" charset="0"/>
              </a:rPr>
              <a:t>V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sz="2400" b="1">
                <a:cs typeface="Arial" pitchFamily="34" charset="0"/>
              </a:rPr>
              <a:t>=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sz="2400" b="1">
                <a:solidFill>
                  <a:srgbClr val="CC00FF"/>
                </a:solidFill>
                <a:cs typeface="Arial" pitchFamily="34" charset="0"/>
              </a:rPr>
              <a:t>0</a:t>
            </a:r>
          </a:p>
        </p:txBody>
      </p:sp>
      <p:sp>
        <p:nvSpPr>
          <p:cNvPr id="356365" name="Text Box 13"/>
          <p:cNvSpPr txBox="1">
            <a:spLocks noChangeArrowheads="1"/>
          </p:cNvSpPr>
          <p:nvPr/>
        </p:nvSpPr>
        <p:spPr bwMode="auto">
          <a:xfrm>
            <a:off x="6372225" y="3608388"/>
            <a:ext cx="900113" cy="53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solidFill>
                  <a:srgbClr val="996600"/>
                </a:solidFill>
                <a:cs typeface="Arial" pitchFamily="34" charset="0"/>
              </a:rPr>
              <a:t>Z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sz="2400" b="1">
                <a:cs typeface="Arial" pitchFamily="34" charset="0"/>
              </a:rPr>
              <a:t>=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sz="2400" b="1">
                <a:solidFill>
                  <a:srgbClr val="996600"/>
                </a:solidFill>
                <a:cs typeface="Arial" pitchFamily="34" charset="0"/>
              </a:rPr>
              <a:t>0</a:t>
            </a:r>
          </a:p>
        </p:txBody>
      </p:sp>
      <p:sp>
        <p:nvSpPr>
          <p:cNvPr id="356366" name="AutoShape 14"/>
          <p:cNvSpPr>
            <a:spLocks/>
          </p:cNvSpPr>
          <p:nvPr/>
        </p:nvSpPr>
        <p:spPr bwMode="auto">
          <a:xfrm rot="-5400000">
            <a:off x="6446044" y="2507456"/>
            <a:ext cx="401638" cy="1800225"/>
          </a:xfrm>
          <a:prstGeom prst="leftBrace">
            <a:avLst>
              <a:gd name="adj1" fmla="val 37352"/>
              <a:gd name="adj2" fmla="val 50000"/>
            </a:avLst>
          </a:prstGeom>
          <a:noFill/>
          <a:ln w="28575">
            <a:solidFill>
              <a:srgbClr val="99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6367" name="Line 15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5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6" grpId="0"/>
      <p:bldP spid="356357" grpId="0"/>
      <p:bldP spid="356358" grpId="0" animBg="1"/>
      <p:bldP spid="356359" grpId="0"/>
      <p:bldP spid="356360" grpId="0"/>
      <p:bldP spid="356362" grpId="0"/>
      <p:bldP spid="356363" grpId="0" animBg="1"/>
      <p:bldP spid="356364" grpId="0"/>
      <p:bldP spid="356365" grpId="0"/>
      <p:bldP spid="356366" grpId="0" animBg="1"/>
      <p:bldP spid="35636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Status Bits</a:t>
            </a:r>
          </a:p>
        </p:txBody>
      </p:sp>
      <p:grpSp>
        <p:nvGrpSpPr>
          <p:cNvPr id="126979" name="Group 3"/>
          <p:cNvGrpSpPr>
            <a:grpSpLocks/>
          </p:cNvGrpSpPr>
          <p:nvPr/>
        </p:nvGrpSpPr>
        <p:grpSpPr bwMode="auto">
          <a:xfrm>
            <a:off x="4932363" y="2079625"/>
            <a:ext cx="3421062" cy="1530350"/>
            <a:chOff x="2880" y="2387"/>
            <a:chExt cx="2155" cy="1020"/>
          </a:xfrm>
        </p:grpSpPr>
        <p:sp>
          <p:nvSpPr>
            <p:cNvPr id="126980" name="Freeform 4"/>
            <p:cNvSpPr>
              <a:spLocks/>
            </p:cNvSpPr>
            <p:nvPr/>
          </p:nvSpPr>
          <p:spPr bwMode="auto">
            <a:xfrm>
              <a:off x="2880" y="2500"/>
              <a:ext cx="2041" cy="907"/>
            </a:xfrm>
            <a:custGeom>
              <a:avLst/>
              <a:gdLst>
                <a:gd name="T0" fmla="*/ 0 w 2041"/>
                <a:gd name="T1" fmla="*/ 0 h 907"/>
                <a:gd name="T2" fmla="*/ 794 w 2041"/>
                <a:gd name="T3" fmla="*/ 0 h 907"/>
                <a:gd name="T4" fmla="*/ 1021 w 2041"/>
                <a:gd name="T5" fmla="*/ 227 h 907"/>
                <a:gd name="T6" fmla="*/ 1247 w 2041"/>
                <a:gd name="T7" fmla="*/ 0 h 907"/>
                <a:gd name="T8" fmla="*/ 2041 w 2041"/>
                <a:gd name="T9" fmla="*/ 0 h 907"/>
                <a:gd name="T10" fmla="*/ 1361 w 2041"/>
                <a:gd name="T11" fmla="*/ 907 h 907"/>
                <a:gd name="T12" fmla="*/ 680 w 2041"/>
                <a:gd name="T13" fmla="*/ 907 h 907"/>
                <a:gd name="T14" fmla="*/ 0 w 2041"/>
                <a:gd name="T15" fmla="*/ 0 h 9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41"/>
                <a:gd name="T25" fmla="*/ 0 h 907"/>
                <a:gd name="T26" fmla="*/ 2041 w 2041"/>
                <a:gd name="T27" fmla="*/ 907 h 90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41" h="907">
                  <a:moveTo>
                    <a:pt x="0" y="0"/>
                  </a:moveTo>
                  <a:lnTo>
                    <a:pt x="794" y="0"/>
                  </a:lnTo>
                  <a:lnTo>
                    <a:pt x="1021" y="227"/>
                  </a:lnTo>
                  <a:lnTo>
                    <a:pt x="1247" y="0"/>
                  </a:lnTo>
                  <a:lnTo>
                    <a:pt x="2041" y="0"/>
                  </a:lnTo>
                  <a:lnTo>
                    <a:pt x="1361" y="907"/>
                  </a:lnTo>
                  <a:lnTo>
                    <a:pt x="680" y="9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6981" name="Freeform 5"/>
            <p:cNvSpPr>
              <a:spLocks/>
            </p:cNvSpPr>
            <p:nvPr/>
          </p:nvSpPr>
          <p:spPr bwMode="auto">
            <a:xfrm>
              <a:off x="2880" y="2387"/>
              <a:ext cx="907" cy="113"/>
            </a:xfrm>
            <a:custGeom>
              <a:avLst/>
              <a:gdLst>
                <a:gd name="T0" fmla="*/ 0 w 907"/>
                <a:gd name="T1" fmla="*/ 113 h 113"/>
                <a:gd name="T2" fmla="*/ 113 w 907"/>
                <a:gd name="T3" fmla="*/ 0 h 113"/>
                <a:gd name="T4" fmla="*/ 907 w 907"/>
                <a:gd name="T5" fmla="*/ 0 h 113"/>
                <a:gd name="T6" fmla="*/ 794 w 907"/>
                <a:gd name="T7" fmla="*/ 113 h 113"/>
                <a:gd name="T8" fmla="*/ 0 w 907"/>
                <a:gd name="T9" fmla="*/ 113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7"/>
                <a:gd name="T16" fmla="*/ 0 h 113"/>
                <a:gd name="T17" fmla="*/ 907 w 907"/>
                <a:gd name="T18" fmla="*/ 113 h 1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7" h="113">
                  <a:moveTo>
                    <a:pt x="0" y="113"/>
                  </a:moveTo>
                  <a:lnTo>
                    <a:pt x="113" y="0"/>
                  </a:lnTo>
                  <a:lnTo>
                    <a:pt x="907" y="0"/>
                  </a:lnTo>
                  <a:lnTo>
                    <a:pt x="794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6982" name="Freeform 6"/>
            <p:cNvSpPr>
              <a:spLocks/>
            </p:cNvSpPr>
            <p:nvPr/>
          </p:nvSpPr>
          <p:spPr bwMode="auto">
            <a:xfrm>
              <a:off x="4127" y="2387"/>
              <a:ext cx="908" cy="113"/>
            </a:xfrm>
            <a:custGeom>
              <a:avLst/>
              <a:gdLst>
                <a:gd name="T0" fmla="*/ 0 w 908"/>
                <a:gd name="T1" fmla="*/ 113 h 113"/>
                <a:gd name="T2" fmla="*/ 114 w 908"/>
                <a:gd name="T3" fmla="*/ 0 h 113"/>
                <a:gd name="T4" fmla="*/ 908 w 908"/>
                <a:gd name="T5" fmla="*/ 0 h 113"/>
                <a:gd name="T6" fmla="*/ 794 w 908"/>
                <a:gd name="T7" fmla="*/ 113 h 113"/>
                <a:gd name="T8" fmla="*/ 0 w 908"/>
                <a:gd name="T9" fmla="*/ 113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8"/>
                <a:gd name="T16" fmla="*/ 0 h 113"/>
                <a:gd name="T17" fmla="*/ 908 w 908"/>
                <a:gd name="T18" fmla="*/ 113 h 1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8" h="113">
                  <a:moveTo>
                    <a:pt x="0" y="113"/>
                  </a:moveTo>
                  <a:lnTo>
                    <a:pt x="114" y="0"/>
                  </a:lnTo>
                  <a:lnTo>
                    <a:pt x="908" y="0"/>
                  </a:lnTo>
                  <a:lnTo>
                    <a:pt x="794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6983" name="Freeform 7"/>
            <p:cNvSpPr>
              <a:spLocks/>
            </p:cNvSpPr>
            <p:nvPr/>
          </p:nvSpPr>
          <p:spPr bwMode="auto">
            <a:xfrm>
              <a:off x="3674" y="2387"/>
              <a:ext cx="340" cy="340"/>
            </a:xfrm>
            <a:custGeom>
              <a:avLst/>
              <a:gdLst>
                <a:gd name="T0" fmla="*/ 0 w 340"/>
                <a:gd name="T1" fmla="*/ 113 h 340"/>
                <a:gd name="T2" fmla="*/ 113 w 340"/>
                <a:gd name="T3" fmla="*/ 0 h 340"/>
                <a:gd name="T4" fmla="*/ 340 w 340"/>
                <a:gd name="T5" fmla="*/ 227 h 340"/>
                <a:gd name="T6" fmla="*/ 227 w 340"/>
                <a:gd name="T7" fmla="*/ 340 h 340"/>
                <a:gd name="T8" fmla="*/ 0 w 340"/>
                <a:gd name="T9" fmla="*/ 113 h 3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0"/>
                <a:gd name="T16" fmla="*/ 0 h 340"/>
                <a:gd name="T17" fmla="*/ 340 w 340"/>
                <a:gd name="T18" fmla="*/ 340 h 3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0" h="340">
                  <a:moveTo>
                    <a:pt x="0" y="113"/>
                  </a:moveTo>
                  <a:lnTo>
                    <a:pt x="113" y="0"/>
                  </a:lnTo>
                  <a:lnTo>
                    <a:pt x="340" y="227"/>
                  </a:lnTo>
                  <a:lnTo>
                    <a:pt x="227" y="340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6984" name="Text Box 8"/>
            <p:cNvSpPr txBox="1">
              <a:spLocks noChangeArrowheads="1"/>
            </p:cNvSpPr>
            <p:nvPr/>
          </p:nvSpPr>
          <p:spPr bwMode="auto">
            <a:xfrm>
              <a:off x="3560" y="2840"/>
              <a:ext cx="681" cy="2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3200" b="1">
                  <a:solidFill>
                    <a:schemeClr val="accent1"/>
                  </a:solidFill>
                  <a:cs typeface="Arial" pitchFamily="34" charset="0"/>
                </a:rPr>
                <a:t>ALU</a:t>
              </a:r>
            </a:p>
          </p:txBody>
        </p:sp>
      </p:grpSp>
      <p:sp>
        <p:nvSpPr>
          <p:cNvPr id="126985" name="AutoShape 9"/>
          <p:cNvSpPr>
            <a:spLocks noChangeArrowheads="1"/>
          </p:cNvSpPr>
          <p:nvPr/>
        </p:nvSpPr>
        <p:spPr bwMode="auto">
          <a:xfrm>
            <a:off x="5472113" y="1268413"/>
            <a:ext cx="360362" cy="900112"/>
          </a:xfrm>
          <a:prstGeom prst="downArrow">
            <a:avLst>
              <a:gd name="adj1" fmla="val 50000"/>
              <a:gd name="adj2" fmla="val 62445"/>
            </a:avLst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6986" name="AutoShape 10"/>
          <p:cNvSpPr>
            <a:spLocks noChangeArrowheads="1"/>
          </p:cNvSpPr>
          <p:nvPr/>
        </p:nvSpPr>
        <p:spPr bwMode="auto">
          <a:xfrm>
            <a:off x="7272338" y="1268413"/>
            <a:ext cx="360362" cy="900112"/>
          </a:xfrm>
          <a:prstGeom prst="downArrow">
            <a:avLst>
              <a:gd name="adj1" fmla="val 50000"/>
              <a:gd name="adj2" fmla="val 62445"/>
            </a:avLst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126987" name="Object 2"/>
          <p:cNvGraphicFramePr>
            <a:graphicFrameLocks noChangeAspect="1"/>
          </p:cNvGraphicFramePr>
          <p:nvPr/>
        </p:nvGraphicFramePr>
        <p:xfrm>
          <a:off x="2000250" y="2270125"/>
          <a:ext cx="1620838" cy="884238"/>
        </p:xfrm>
        <a:graphic>
          <a:graphicData uri="http://schemas.openxmlformats.org/presentationml/2006/ole">
            <p:oleObj spid="_x0000_s126987" name="Visio" r:id="rId3" imgW="475732" imgH="259933" progId="">
              <p:embed/>
            </p:oleObj>
          </a:graphicData>
        </a:graphic>
      </p:graphicFrame>
      <p:sp>
        <p:nvSpPr>
          <p:cNvPr id="126988" name="Line 12"/>
          <p:cNvSpPr>
            <a:spLocks noChangeShapeType="1"/>
          </p:cNvSpPr>
          <p:nvPr/>
        </p:nvSpPr>
        <p:spPr bwMode="auto">
          <a:xfrm flipH="1">
            <a:off x="3492500" y="2889250"/>
            <a:ext cx="188912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6989" name="Line 13"/>
          <p:cNvSpPr>
            <a:spLocks noChangeShapeType="1"/>
          </p:cNvSpPr>
          <p:nvPr/>
        </p:nvSpPr>
        <p:spPr bwMode="auto">
          <a:xfrm flipH="1">
            <a:off x="3492500" y="2528888"/>
            <a:ext cx="161925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6990" name="AutoShape 14"/>
          <p:cNvSpPr>
            <a:spLocks noChangeArrowheads="1"/>
          </p:cNvSpPr>
          <p:nvPr/>
        </p:nvSpPr>
        <p:spPr bwMode="auto">
          <a:xfrm>
            <a:off x="1692275" y="3429000"/>
            <a:ext cx="2339975" cy="720725"/>
          </a:xfrm>
          <a:prstGeom prst="cube">
            <a:avLst>
              <a:gd name="adj" fmla="val 22685"/>
            </a:avLst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sz="2400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26991" name="Text Box 15"/>
          <p:cNvSpPr txBox="1">
            <a:spLocks noChangeArrowheads="1"/>
          </p:cNvSpPr>
          <p:nvPr/>
        </p:nvSpPr>
        <p:spPr bwMode="auto">
          <a:xfrm>
            <a:off x="1692275" y="3608388"/>
            <a:ext cx="539750" cy="541337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V</a:t>
            </a:r>
          </a:p>
        </p:txBody>
      </p:sp>
      <p:sp>
        <p:nvSpPr>
          <p:cNvPr id="126992" name="Text Box 16"/>
          <p:cNvSpPr txBox="1">
            <a:spLocks noChangeArrowheads="1"/>
          </p:cNvSpPr>
          <p:nvPr/>
        </p:nvSpPr>
        <p:spPr bwMode="auto">
          <a:xfrm>
            <a:off x="2233613" y="3608388"/>
            <a:ext cx="539750" cy="541337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Z</a:t>
            </a:r>
          </a:p>
        </p:txBody>
      </p:sp>
      <p:sp>
        <p:nvSpPr>
          <p:cNvPr id="126993" name="Text Box 17"/>
          <p:cNvSpPr txBox="1">
            <a:spLocks noChangeArrowheads="1"/>
          </p:cNvSpPr>
          <p:nvPr/>
        </p:nvSpPr>
        <p:spPr bwMode="auto">
          <a:xfrm>
            <a:off x="2773363" y="3608388"/>
            <a:ext cx="539750" cy="541337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S</a:t>
            </a:r>
          </a:p>
        </p:txBody>
      </p:sp>
      <p:sp>
        <p:nvSpPr>
          <p:cNvPr id="126994" name="Text Box 18"/>
          <p:cNvSpPr txBox="1">
            <a:spLocks noChangeArrowheads="1"/>
          </p:cNvSpPr>
          <p:nvPr/>
        </p:nvSpPr>
        <p:spPr bwMode="auto">
          <a:xfrm>
            <a:off x="3313113" y="3608388"/>
            <a:ext cx="539750" cy="541337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C</a:t>
            </a:r>
          </a:p>
        </p:txBody>
      </p:sp>
      <p:sp>
        <p:nvSpPr>
          <p:cNvPr id="126995" name="Line 19"/>
          <p:cNvSpPr>
            <a:spLocks noChangeShapeType="1"/>
          </p:cNvSpPr>
          <p:nvPr/>
        </p:nvSpPr>
        <p:spPr bwMode="auto">
          <a:xfrm>
            <a:off x="2051050" y="2708275"/>
            <a:ext cx="0" cy="7207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6996" name="Line 20"/>
          <p:cNvSpPr>
            <a:spLocks noChangeShapeType="1"/>
          </p:cNvSpPr>
          <p:nvPr/>
        </p:nvSpPr>
        <p:spPr bwMode="auto">
          <a:xfrm>
            <a:off x="3671888" y="2889250"/>
            <a:ext cx="0" cy="5397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6997" name="Line 21"/>
          <p:cNvSpPr>
            <a:spLocks noChangeShapeType="1"/>
          </p:cNvSpPr>
          <p:nvPr/>
        </p:nvSpPr>
        <p:spPr bwMode="auto">
          <a:xfrm flipV="1">
            <a:off x="3055938" y="4149725"/>
            <a:ext cx="0" cy="3587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6998" name="Line 22"/>
          <p:cNvSpPr>
            <a:spLocks noChangeShapeType="1"/>
          </p:cNvSpPr>
          <p:nvPr/>
        </p:nvSpPr>
        <p:spPr bwMode="auto">
          <a:xfrm flipH="1">
            <a:off x="3055938" y="4508500"/>
            <a:ext cx="341947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6999" name="AutoShape 23"/>
          <p:cNvSpPr>
            <a:spLocks noChangeArrowheads="1"/>
          </p:cNvSpPr>
          <p:nvPr/>
        </p:nvSpPr>
        <p:spPr bwMode="auto">
          <a:xfrm>
            <a:off x="2951163" y="4868863"/>
            <a:ext cx="2160587" cy="720725"/>
          </a:xfrm>
          <a:prstGeom prst="cube">
            <a:avLst>
              <a:gd name="adj" fmla="val 22685"/>
            </a:avLst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solidFill>
                  <a:schemeClr val="accent2"/>
                </a:solidFill>
                <a:cs typeface="Arial" pitchFamily="34" charset="0"/>
              </a:rPr>
              <a:t>Zero Check</a:t>
            </a:r>
          </a:p>
        </p:txBody>
      </p:sp>
      <p:sp>
        <p:nvSpPr>
          <p:cNvPr id="127000" name="AutoShape 24"/>
          <p:cNvSpPr>
            <a:spLocks noChangeArrowheads="1"/>
          </p:cNvSpPr>
          <p:nvPr/>
        </p:nvSpPr>
        <p:spPr bwMode="auto">
          <a:xfrm rot="5400000">
            <a:off x="5651501" y="4510087"/>
            <a:ext cx="360362" cy="1439863"/>
          </a:xfrm>
          <a:prstGeom prst="downArrow">
            <a:avLst>
              <a:gd name="adj1" fmla="val 50000"/>
              <a:gd name="adj2" fmla="val 99890"/>
            </a:avLst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7001" name="AutoShape 25"/>
          <p:cNvSpPr>
            <a:spLocks noChangeArrowheads="1"/>
          </p:cNvSpPr>
          <p:nvPr/>
        </p:nvSpPr>
        <p:spPr bwMode="auto">
          <a:xfrm>
            <a:off x="6372225" y="3609975"/>
            <a:ext cx="360363" cy="2339975"/>
          </a:xfrm>
          <a:prstGeom prst="downArrow">
            <a:avLst>
              <a:gd name="adj1" fmla="val 49778"/>
              <a:gd name="adj2" fmla="val 85917"/>
            </a:avLst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7002" name="Line 26"/>
          <p:cNvSpPr>
            <a:spLocks noChangeShapeType="1"/>
          </p:cNvSpPr>
          <p:nvPr/>
        </p:nvSpPr>
        <p:spPr bwMode="auto">
          <a:xfrm flipV="1">
            <a:off x="2528888" y="4149725"/>
            <a:ext cx="0" cy="10795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7003" name="Line 27"/>
          <p:cNvSpPr>
            <a:spLocks noChangeShapeType="1"/>
          </p:cNvSpPr>
          <p:nvPr/>
        </p:nvSpPr>
        <p:spPr bwMode="auto">
          <a:xfrm flipH="1">
            <a:off x="2528888" y="5229225"/>
            <a:ext cx="42227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27004" name="Text Box 28"/>
          <p:cNvSpPr txBox="1">
            <a:spLocks noChangeArrowheads="1"/>
          </p:cNvSpPr>
          <p:nvPr/>
        </p:nvSpPr>
        <p:spPr bwMode="auto">
          <a:xfrm>
            <a:off x="4032250" y="2889250"/>
            <a:ext cx="7207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cs typeface="Arial" pitchFamily="34" charset="0"/>
              </a:rPr>
              <a:t>C</a:t>
            </a:r>
            <a:r>
              <a:rPr lang="en-US" sz="2000" b="1" baseline="-25000">
                <a:cs typeface="Arial" pitchFamily="34" charset="0"/>
              </a:rPr>
              <a:t>n</a:t>
            </a:r>
          </a:p>
        </p:txBody>
      </p:sp>
      <p:sp>
        <p:nvSpPr>
          <p:cNvPr id="127005" name="Text Box 29"/>
          <p:cNvSpPr txBox="1">
            <a:spLocks noChangeArrowheads="1"/>
          </p:cNvSpPr>
          <p:nvPr/>
        </p:nvSpPr>
        <p:spPr bwMode="auto">
          <a:xfrm>
            <a:off x="4032250" y="2168525"/>
            <a:ext cx="7207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cs typeface="Arial" pitchFamily="34" charset="0"/>
              </a:rPr>
              <a:t>C</a:t>
            </a:r>
            <a:r>
              <a:rPr lang="en-US" sz="2000" b="1" baseline="-25000">
                <a:cs typeface="Arial" pitchFamily="34" charset="0"/>
              </a:rPr>
              <a:t>n-1</a:t>
            </a:r>
          </a:p>
        </p:txBody>
      </p:sp>
      <p:sp>
        <p:nvSpPr>
          <p:cNvPr id="127006" name="Text Box 30"/>
          <p:cNvSpPr txBox="1">
            <a:spLocks noChangeArrowheads="1"/>
          </p:cNvSpPr>
          <p:nvPr/>
        </p:nvSpPr>
        <p:spPr bwMode="auto">
          <a:xfrm>
            <a:off x="4572000" y="4149725"/>
            <a:ext cx="7207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cs typeface="Arial" pitchFamily="34" charset="0"/>
              </a:rPr>
              <a:t>F</a:t>
            </a:r>
            <a:r>
              <a:rPr lang="en-US" sz="2000" b="1" baseline="-25000">
                <a:cs typeface="Arial" pitchFamily="34" charset="0"/>
              </a:rPr>
              <a:t>n-1</a:t>
            </a:r>
          </a:p>
        </p:txBody>
      </p:sp>
      <p:sp>
        <p:nvSpPr>
          <p:cNvPr id="127007" name="Text Box 31"/>
          <p:cNvSpPr txBox="1">
            <a:spLocks noChangeArrowheads="1"/>
          </p:cNvSpPr>
          <p:nvPr/>
        </p:nvSpPr>
        <p:spPr bwMode="auto">
          <a:xfrm>
            <a:off x="5472113" y="2349500"/>
            <a:ext cx="360362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cs typeface="Arial" pitchFamily="34" charset="0"/>
              </a:rPr>
              <a:t>A</a:t>
            </a:r>
          </a:p>
        </p:txBody>
      </p:sp>
      <p:sp>
        <p:nvSpPr>
          <p:cNvPr id="127008" name="Text Box 32"/>
          <p:cNvSpPr txBox="1">
            <a:spLocks noChangeArrowheads="1"/>
          </p:cNvSpPr>
          <p:nvPr/>
        </p:nvSpPr>
        <p:spPr bwMode="auto">
          <a:xfrm>
            <a:off x="7272338" y="2349500"/>
            <a:ext cx="360362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cs typeface="Arial" pitchFamily="34" charset="0"/>
              </a:rPr>
              <a:t>B</a:t>
            </a:r>
          </a:p>
        </p:txBody>
      </p:sp>
      <p:sp>
        <p:nvSpPr>
          <p:cNvPr id="127009" name="Text Box 33"/>
          <p:cNvSpPr txBox="1">
            <a:spLocks noChangeArrowheads="1"/>
          </p:cNvSpPr>
          <p:nvPr/>
        </p:nvSpPr>
        <p:spPr bwMode="auto">
          <a:xfrm>
            <a:off x="6372225" y="3290888"/>
            <a:ext cx="360363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cs typeface="Arial" pitchFamily="34" charset="0"/>
              </a:rPr>
              <a:t>F</a:t>
            </a:r>
          </a:p>
        </p:txBody>
      </p:sp>
      <p:sp>
        <p:nvSpPr>
          <p:cNvPr id="354338" name="Line 3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3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6100">
                <a:ea typeface="SimSun" pitchFamily="2" charset="-122"/>
              </a:rPr>
              <a:t>Addressing Modes</a:t>
            </a:r>
          </a:p>
        </p:txBody>
      </p:sp>
      <p:sp>
        <p:nvSpPr>
          <p:cNvPr id="128003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Generating Memory Addresses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How to specify the address of branch target?</a:t>
            </a:r>
          </a:p>
          <a:p>
            <a:r>
              <a:rPr lang="en-US" altLang="zh-CN">
                <a:ea typeface="SimSun" pitchFamily="2" charset="-122"/>
              </a:rPr>
              <a:t>Can we give the memory operand address directly in a single Add instruction in the loop?</a:t>
            </a:r>
          </a:p>
          <a:p>
            <a:r>
              <a:rPr lang="en-US" altLang="zh-CN">
                <a:ea typeface="SimSun" pitchFamily="2" charset="-122"/>
              </a:rPr>
              <a:t>Use a register to hold the address of NUM1; then increment by 4 on each pass through the loop.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/>
              <a:t>Addressing Modes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1089025"/>
            <a:ext cx="8280400" cy="4957763"/>
          </a:xfrm>
        </p:spPr>
        <p:txBody>
          <a:bodyPr/>
          <a:lstStyle/>
          <a:p>
            <a:endParaRPr lang="en-US"/>
          </a:p>
          <a:p>
            <a:r>
              <a:rPr lang="en-US"/>
              <a:t>Implied</a:t>
            </a:r>
          </a:p>
          <a:p>
            <a:pPr lvl="1"/>
            <a:r>
              <a:rPr lang="en-US"/>
              <a:t>AC is implied in “ADD   M[AR]” in “One-Address” instr.</a:t>
            </a:r>
          </a:p>
          <a:p>
            <a:pPr lvl="1"/>
            <a:r>
              <a:rPr lang="en-US"/>
              <a:t>TOS is implied in “ADD” in “Zero-Address” instr.</a:t>
            </a:r>
          </a:p>
          <a:p>
            <a:r>
              <a:rPr lang="en-US"/>
              <a:t>Immediate</a:t>
            </a:r>
          </a:p>
          <a:p>
            <a:pPr lvl="1"/>
            <a:r>
              <a:rPr lang="en-US"/>
              <a:t>The use of a constant in “MOV   R1, 5”, i.e. R1 ← 5</a:t>
            </a:r>
          </a:p>
          <a:p>
            <a:r>
              <a:rPr lang="en-US"/>
              <a:t>Register</a:t>
            </a:r>
          </a:p>
          <a:p>
            <a:pPr lvl="1"/>
            <a:r>
              <a:rPr lang="en-US"/>
              <a:t>Indicate which register holds the operand</a:t>
            </a:r>
          </a:p>
        </p:txBody>
      </p:sp>
      <p:sp>
        <p:nvSpPr>
          <p:cNvPr id="132100" name="AutoShape 4"/>
          <p:cNvSpPr>
            <a:spLocks noChangeArrowheads="1"/>
          </p:cNvSpPr>
          <p:nvPr/>
        </p:nvSpPr>
        <p:spPr bwMode="auto">
          <a:xfrm>
            <a:off x="2771775" y="1325563"/>
            <a:ext cx="4262438" cy="663575"/>
          </a:xfrm>
          <a:prstGeom prst="cube">
            <a:avLst>
              <a:gd name="adj" fmla="val 45694"/>
            </a:avLst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sz="2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101" name="WordArt 5"/>
          <p:cNvSpPr>
            <a:spLocks noChangeArrowheads="1" noChangeShapeType="1" noTextEdit="1"/>
          </p:cNvSpPr>
          <p:nvPr/>
        </p:nvSpPr>
        <p:spPr bwMode="auto">
          <a:xfrm>
            <a:off x="2952750" y="1363663"/>
            <a:ext cx="3806825" cy="212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167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Instruction</a:t>
            </a:r>
          </a:p>
        </p:txBody>
      </p:sp>
      <p:sp>
        <p:nvSpPr>
          <p:cNvPr id="132102" name="Text Box 6"/>
          <p:cNvSpPr txBox="1">
            <a:spLocks noChangeArrowheads="1"/>
          </p:cNvSpPr>
          <p:nvPr/>
        </p:nvSpPr>
        <p:spPr bwMode="auto">
          <a:xfrm>
            <a:off x="2771775" y="1628775"/>
            <a:ext cx="900113" cy="36036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Opcode</a:t>
            </a:r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3671888" y="1628775"/>
            <a:ext cx="720725" cy="36036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Mode</a:t>
            </a:r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4392613" y="1628775"/>
            <a:ext cx="2339975" cy="36036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...</a:t>
            </a:r>
          </a:p>
        </p:txBody>
      </p:sp>
      <p:sp>
        <p:nvSpPr>
          <p:cNvPr id="339977" name="Line 9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9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9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9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Addressing Modes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280400" cy="4316413"/>
          </a:xfrm>
        </p:spPr>
        <p:txBody>
          <a:bodyPr/>
          <a:lstStyle/>
          <a:p>
            <a:r>
              <a:rPr lang="en-US"/>
              <a:t>Register Indirect</a:t>
            </a:r>
          </a:p>
          <a:p>
            <a:pPr lvl="1"/>
            <a:r>
              <a:rPr lang="en-US"/>
              <a:t>Indicate the register that holds the number of the register that holds the operand</a:t>
            </a:r>
          </a:p>
          <a:p>
            <a:pPr lvl="2">
              <a:buFont typeface="Wingdings" pitchFamily="2" charset="2"/>
              <a:buNone/>
            </a:pPr>
            <a:r>
              <a:rPr lang="en-US" sz="2800"/>
              <a:t>MOV	  R1, (R2)</a:t>
            </a:r>
          </a:p>
          <a:p>
            <a:r>
              <a:rPr lang="en-US"/>
              <a:t>Autoincrement / Autodecrement</a:t>
            </a:r>
          </a:p>
          <a:p>
            <a:pPr lvl="1"/>
            <a:r>
              <a:rPr lang="en-US"/>
              <a:t>Access &amp; update in 1 instr.</a:t>
            </a:r>
          </a:p>
          <a:p>
            <a:r>
              <a:rPr lang="en-US"/>
              <a:t>Direct Address</a:t>
            </a:r>
          </a:p>
          <a:p>
            <a:pPr lvl="1"/>
            <a:r>
              <a:rPr lang="en-US"/>
              <a:t>Use the given address to access a memory location</a:t>
            </a:r>
          </a:p>
        </p:txBody>
      </p:sp>
      <p:sp>
        <p:nvSpPr>
          <p:cNvPr id="340996" name="Text Box 4"/>
          <p:cNvSpPr txBox="1">
            <a:spLocks noChangeArrowheads="1"/>
          </p:cNvSpPr>
          <p:nvPr/>
        </p:nvSpPr>
        <p:spPr bwMode="auto">
          <a:xfrm>
            <a:off x="6732588" y="2528888"/>
            <a:ext cx="1439862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R1</a:t>
            </a:r>
          </a:p>
        </p:txBody>
      </p:sp>
      <p:sp>
        <p:nvSpPr>
          <p:cNvPr id="340997" name="Text Box 5"/>
          <p:cNvSpPr txBox="1">
            <a:spLocks noChangeArrowheads="1"/>
          </p:cNvSpPr>
          <p:nvPr/>
        </p:nvSpPr>
        <p:spPr bwMode="auto">
          <a:xfrm>
            <a:off x="6732588" y="3249613"/>
            <a:ext cx="1439862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R2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40998" name="Text Box 6"/>
          <p:cNvSpPr txBox="1">
            <a:spLocks noChangeArrowheads="1"/>
          </p:cNvSpPr>
          <p:nvPr/>
        </p:nvSpPr>
        <p:spPr bwMode="auto">
          <a:xfrm>
            <a:off x="6732588" y="3968750"/>
            <a:ext cx="1439862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R3 = </a:t>
            </a:r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cxnSp>
        <p:nvCxnSpPr>
          <p:cNvPr id="340999" name="AutoShape 7"/>
          <p:cNvCxnSpPr>
            <a:cxnSpLocks noChangeShapeType="1"/>
            <a:stCxn id="340997" idx="3"/>
            <a:endCxn id="340998" idx="1"/>
          </p:cNvCxnSpPr>
          <p:nvPr/>
        </p:nvCxnSpPr>
        <p:spPr bwMode="auto">
          <a:xfrm flipH="1">
            <a:off x="6718300" y="3429000"/>
            <a:ext cx="1468438" cy="719138"/>
          </a:xfrm>
          <a:prstGeom prst="curvedConnector5">
            <a:avLst>
              <a:gd name="adj1" fmla="val -14486"/>
              <a:gd name="adj2" fmla="val 49889"/>
              <a:gd name="adj3" fmla="val 114593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cxnSp>
        <p:nvCxnSpPr>
          <p:cNvPr id="341000" name="AutoShape 8"/>
          <p:cNvCxnSpPr>
            <a:cxnSpLocks noChangeShapeType="1"/>
            <a:stCxn id="340998" idx="3"/>
            <a:endCxn id="340996" idx="3"/>
          </p:cNvCxnSpPr>
          <p:nvPr/>
        </p:nvCxnSpPr>
        <p:spPr bwMode="auto">
          <a:xfrm flipV="1">
            <a:off x="8186738" y="2708275"/>
            <a:ext cx="1587" cy="1439863"/>
          </a:xfrm>
          <a:prstGeom prst="curvedConnector3">
            <a:avLst>
              <a:gd name="adj1" fmla="val 32000009"/>
            </a:avLst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</p:spPr>
      </p:cxnSp>
      <p:sp>
        <p:nvSpPr>
          <p:cNvPr id="341001" name="Line 9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6" grpId="0" animBg="1"/>
      <p:bldP spid="340997" grpId="0" animBg="1"/>
      <p:bldP spid="340998" grpId="0" animBg="1"/>
      <p:bldP spid="34100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/>
              <a:t>Addressing Modes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90600"/>
            <a:ext cx="8229600" cy="1960563"/>
          </a:xfrm>
        </p:spPr>
        <p:txBody>
          <a:bodyPr/>
          <a:lstStyle/>
          <a:p>
            <a:r>
              <a:rPr lang="en-US"/>
              <a:t>Indirect Address</a:t>
            </a:r>
          </a:p>
          <a:p>
            <a:pPr lvl="1"/>
            <a:r>
              <a:rPr lang="en-US"/>
              <a:t>Indicate the memory location that holds the address of the memory location that holds the data</a:t>
            </a:r>
          </a:p>
        </p:txBody>
      </p:sp>
      <p:sp>
        <p:nvSpPr>
          <p:cNvPr id="342020" name="Text Box 4"/>
          <p:cNvSpPr txBox="1">
            <a:spLocks noChangeArrowheads="1"/>
          </p:cNvSpPr>
          <p:nvPr/>
        </p:nvSpPr>
        <p:spPr bwMode="auto">
          <a:xfrm>
            <a:off x="3851275" y="2889250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AR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101</a:t>
            </a:r>
          </a:p>
        </p:txBody>
      </p:sp>
      <p:cxnSp>
        <p:nvCxnSpPr>
          <p:cNvPr id="342021" name="AutoShape 5"/>
          <p:cNvCxnSpPr>
            <a:cxnSpLocks noChangeShapeType="1"/>
            <a:stCxn id="342020" idx="3"/>
            <a:endCxn id="134153" idx="1"/>
          </p:cNvCxnSpPr>
          <p:nvPr/>
        </p:nvCxnSpPr>
        <p:spPr bwMode="auto">
          <a:xfrm>
            <a:off x="5305425" y="3068638"/>
            <a:ext cx="708025" cy="1262062"/>
          </a:xfrm>
          <a:prstGeom prst="curvedConnector3">
            <a:avLst>
              <a:gd name="adj1" fmla="val 4888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011863" y="2528888"/>
            <a:ext cx="2341562" cy="3779837"/>
            <a:chOff x="3787" y="1593"/>
            <a:chExt cx="1475" cy="2381"/>
          </a:xfrm>
        </p:grpSpPr>
        <p:sp>
          <p:nvSpPr>
            <p:cNvPr id="134151" name="AutoShape 7"/>
            <p:cNvSpPr>
              <a:spLocks noChangeArrowheads="1"/>
            </p:cNvSpPr>
            <p:nvPr/>
          </p:nvSpPr>
          <p:spPr bwMode="auto">
            <a:xfrm>
              <a:off x="4127" y="1818"/>
              <a:ext cx="1135" cy="2156"/>
            </a:xfrm>
            <a:prstGeom prst="cube">
              <a:avLst>
                <a:gd name="adj" fmla="val 9514"/>
              </a:avLst>
            </a:prstGeom>
            <a:solidFill>
              <a:srgbClr val="E6E6E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34152" name="Text Box 8"/>
            <p:cNvSpPr txBox="1">
              <a:spLocks noChangeArrowheads="1"/>
            </p:cNvSpPr>
            <p:nvPr/>
          </p:nvSpPr>
          <p:spPr bwMode="auto">
            <a:xfrm>
              <a:off x="3787" y="2387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4153" name="Text Box 9"/>
            <p:cNvSpPr txBox="1">
              <a:spLocks noChangeArrowheads="1"/>
            </p:cNvSpPr>
            <p:nvPr/>
          </p:nvSpPr>
          <p:spPr bwMode="auto">
            <a:xfrm>
              <a:off x="3788" y="2614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4154" name="Text Box 10"/>
            <p:cNvSpPr txBox="1">
              <a:spLocks noChangeArrowheads="1"/>
            </p:cNvSpPr>
            <p:nvPr/>
          </p:nvSpPr>
          <p:spPr bwMode="auto">
            <a:xfrm>
              <a:off x="3789" y="284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4155" name="Text Box 11"/>
            <p:cNvSpPr txBox="1">
              <a:spLocks noChangeArrowheads="1"/>
            </p:cNvSpPr>
            <p:nvPr/>
          </p:nvSpPr>
          <p:spPr bwMode="auto">
            <a:xfrm>
              <a:off x="3790" y="3068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103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4156" name="Text Box 12"/>
            <p:cNvSpPr txBox="1">
              <a:spLocks noChangeArrowheads="1"/>
            </p:cNvSpPr>
            <p:nvPr/>
          </p:nvSpPr>
          <p:spPr bwMode="auto">
            <a:xfrm>
              <a:off x="3791" y="329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104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4157" name="Line 13"/>
            <p:cNvSpPr>
              <a:spLocks noChangeShapeType="1"/>
            </p:cNvSpPr>
            <p:nvPr/>
          </p:nvSpPr>
          <p:spPr bwMode="auto">
            <a:xfrm>
              <a:off x="4127" y="238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4158" name="Line 14"/>
            <p:cNvSpPr>
              <a:spLocks noChangeShapeType="1"/>
            </p:cNvSpPr>
            <p:nvPr/>
          </p:nvSpPr>
          <p:spPr bwMode="auto">
            <a:xfrm>
              <a:off x="4127" y="2611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4159" name="Line 15"/>
            <p:cNvSpPr>
              <a:spLocks noChangeShapeType="1"/>
            </p:cNvSpPr>
            <p:nvPr/>
          </p:nvSpPr>
          <p:spPr bwMode="auto">
            <a:xfrm>
              <a:off x="4127" y="2837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4160" name="Line 16"/>
            <p:cNvSpPr>
              <a:spLocks noChangeShapeType="1"/>
            </p:cNvSpPr>
            <p:nvPr/>
          </p:nvSpPr>
          <p:spPr bwMode="auto">
            <a:xfrm>
              <a:off x="4127" y="3063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4161" name="Line 17"/>
            <p:cNvSpPr>
              <a:spLocks noChangeShapeType="1"/>
            </p:cNvSpPr>
            <p:nvPr/>
          </p:nvSpPr>
          <p:spPr bwMode="auto">
            <a:xfrm>
              <a:off x="4127" y="3289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4162" name="Line 18"/>
            <p:cNvSpPr>
              <a:spLocks noChangeShapeType="1"/>
            </p:cNvSpPr>
            <p:nvPr/>
          </p:nvSpPr>
          <p:spPr bwMode="auto">
            <a:xfrm>
              <a:off x="4127" y="351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4163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4127" y="1593"/>
              <a:ext cx="1134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4093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808080">
                        <a:alpha val="79999"/>
                      </a:srgbClr>
                    </a:outerShdw>
                  </a:effectLst>
                  <a:latin typeface="Arial Black"/>
                </a:rPr>
                <a:t>Memory</a:t>
              </a:r>
            </a:p>
          </p:txBody>
        </p:sp>
      </p:grpSp>
      <p:sp>
        <p:nvSpPr>
          <p:cNvPr id="342036" name="Text Box 20"/>
          <p:cNvSpPr txBox="1">
            <a:spLocks noChangeArrowheads="1"/>
          </p:cNvSpPr>
          <p:nvPr/>
        </p:nvSpPr>
        <p:spPr bwMode="auto">
          <a:xfrm>
            <a:off x="6551613" y="4149725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1"/>
                </a:solidFill>
                <a:cs typeface="Arial" pitchFamily="34" charset="0"/>
              </a:rPr>
              <a:t>0  1  0  4</a:t>
            </a:r>
          </a:p>
        </p:txBody>
      </p:sp>
      <p:cxnSp>
        <p:nvCxnSpPr>
          <p:cNvPr id="342037" name="AutoShape 21"/>
          <p:cNvCxnSpPr>
            <a:cxnSpLocks noChangeShapeType="1"/>
            <a:stCxn id="342036" idx="3"/>
            <a:endCxn id="134156" idx="1"/>
          </p:cNvCxnSpPr>
          <p:nvPr/>
        </p:nvCxnSpPr>
        <p:spPr bwMode="auto">
          <a:xfrm flipH="1">
            <a:off x="6018213" y="4330700"/>
            <a:ext cx="2154237" cy="1081088"/>
          </a:xfrm>
          <a:prstGeom prst="curvedConnector5">
            <a:avLst>
              <a:gd name="adj1" fmla="val -21519"/>
              <a:gd name="adj2" fmla="val 43903"/>
              <a:gd name="adj3" fmla="val 120116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2038" name="Text Box 22"/>
          <p:cNvSpPr txBox="1">
            <a:spLocks noChangeArrowheads="1"/>
          </p:cNvSpPr>
          <p:nvPr/>
        </p:nvSpPr>
        <p:spPr bwMode="auto">
          <a:xfrm>
            <a:off x="6551613" y="5229225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1  1  0  A</a:t>
            </a:r>
          </a:p>
        </p:txBody>
      </p:sp>
      <p:cxnSp>
        <p:nvCxnSpPr>
          <p:cNvPr id="342039" name="AutoShape 23"/>
          <p:cNvCxnSpPr>
            <a:cxnSpLocks noChangeShapeType="1"/>
          </p:cNvCxnSpPr>
          <p:nvPr/>
        </p:nvCxnSpPr>
        <p:spPr bwMode="auto">
          <a:xfrm rot="5400000">
            <a:off x="6902451" y="6038850"/>
            <a:ext cx="900112" cy="1587"/>
          </a:xfrm>
          <a:prstGeom prst="curvedConnector3">
            <a:avLst>
              <a:gd name="adj1" fmla="val 49912"/>
            </a:avLst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</p:spPr>
      </p:cxnSp>
      <p:sp>
        <p:nvSpPr>
          <p:cNvPr id="342040" name="Line 2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 animBg="1"/>
      <p:bldP spid="342036" grpId="0"/>
      <p:bldP spid="342038" grpId="0"/>
      <p:bldP spid="34204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011863" y="1268413"/>
            <a:ext cx="2341562" cy="5040312"/>
            <a:chOff x="3787" y="799"/>
            <a:chExt cx="1475" cy="3175"/>
          </a:xfrm>
        </p:grpSpPr>
        <p:sp>
          <p:nvSpPr>
            <p:cNvPr id="135171" name="AutoShape 3"/>
            <p:cNvSpPr>
              <a:spLocks noChangeArrowheads="1"/>
            </p:cNvSpPr>
            <p:nvPr/>
          </p:nvSpPr>
          <p:spPr bwMode="auto">
            <a:xfrm>
              <a:off x="4127" y="1026"/>
              <a:ext cx="1135" cy="2948"/>
            </a:xfrm>
            <a:prstGeom prst="cube">
              <a:avLst>
                <a:gd name="adj" fmla="val 11102"/>
              </a:avLst>
            </a:prstGeom>
            <a:solidFill>
              <a:srgbClr val="E6E6E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35172" name="Text Box 4"/>
            <p:cNvSpPr txBox="1">
              <a:spLocks noChangeArrowheads="1"/>
            </p:cNvSpPr>
            <p:nvPr/>
          </p:nvSpPr>
          <p:spPr bwMode="auto">
            <a:xfrm>
              <a:off x="3787" y="2387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5173" name="Text Box 5"/>
            <p:cNvSpPr txBox="1">
              <a:spLocks noChangeArrowheads="1"/>
            </p:cNvSpPr>
            <p:nvPr/>
          </p:nvSpPr>
          <p:spPr bwMode="auto">
            <a:xfrm>
              <a:off x="3788" y="2614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5174" name="Text Box 6"/>
            <p:cNvSpPr txBox="1">
              <a:spLocks noChangeArrowheads="1"/>
            </p:cNvSpPr>
            <p:nvPr/>
          </p:nvSpPr>
          <p:spPr bwMode="auto">
            <a:xfrm>
              <a:off x="3789" y="284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>
              <a:off x="3790" y="3068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103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>
              <a:off x="3791" y="329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104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5177" name="Line 9"/>
            <p:cNvSpPr>
              <a:spLocks noChangeShapeType="1"/>
            </p:cNvSpPr>
            <p:nvPr/>
          </p:nvSpPr>
          <p:spPr bwMode="auto">
            <a:xfrm>
              <a:off x="4127" y="238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78" name="Line 10"/>
            <p:cNvSpPr>
              <a:spLocks noChangeShapeType="1"/>
            </p:cNvSpPr>
            <p:nvPr/>
          </p:nvSpPr>
          <p:spPr bwMode="auto">
            <a:xfrm>
              <a:off x="4127" y="2611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79" name="Line 11"/>
            <p:cNvSpPr>
              <a:spLocks noChangeShapeType="1"/>
            </p:cNvSpPr>
            <p:nvPr/>
          </p:nvSpPr>
          <p:spPr bwMode="auto">
            <a:xfrm>
              <a:off x="4127" y="2837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80" name="Line 12"/>
            <p:cNvSpPr>
              <a:spLocks noChangeShapeType="1"/>
            </p:cNvSpPr>
            <p:nvPr/>
          </p:nvSpPr>
          <p:spPr bwMode="auto">
            <a:xfrm>
              <a:off x="4127" y="3063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4127" y="3289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82" name="Line 14"/>
            <p:cNvSpPr>
              <a:spLocks noChangeShapeType="1"/>
            </p:cNvSpPr>
            <p:nvPr/>
          </p:nvSpPr>
          <p:spPr bwMode="auto">
            <a:xfrm>
              <a:off x="4127" y="351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83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4127" y="799"/>
              <a:ext cx="1134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4093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808080">
                        <a:alpha val="79999"/>
                      </a:srgbClr>
                    </a:outerShdw>
                  </a:effectLst>
                  <a:latin typeface="Arial Black"/>
                </a:rPr>
                <a:t>Memory</a:t>
              </a:r>
            </a:p>
          </p:txBody>
        </p:sp>
        <p:sp>
          <p:nvSpPr>
            <p:cNvPr id="135184" name="Line 16"/>
            <p:cNvSpPr>
              <a:spLocks noChangeShapeType="1"/>
            </p:cNvSpPr>
            <p:nvPr/>
          </p:nvSpPr>
          <p:spPr bwMode="auto">
            <a:xfrm>
              <a:off x="4127" y="1366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85" name="Line 17"/>
            <p:cNvSpPr>
              <a:spLocks noChangeShapeType="1"/>
            </p:cNvSpPr>
            <p:nvPr/>
          </p:nvSpPr>
          <p:spPr bwMode="auto">
            <a:xfrm>
              <a:off x="4127" y="1593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86" name="Line 18"/>
            <p:cNvSpPr>
              <a:spLocks noChangeShapeType="1"/>
            </p:cNvSpPr>
            <p:nvPr/>
          </p:nvSpPr>
          <p:spPr bwMode="auto">
            <a:xfrm>
              <a:off x="4127" y="1820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5187" name="Text Box 19"/>
            <p:cNvSpPr txBox="1">
              <a:spLocks noChangeArrowheads="1"/>
            </p:cNvSpPr>
            <p:nvPr/>
          </p:nvSpPr>
          <p:spPr bwMode="auto">
            <a:xfrm>
              <a:off x="3787" y="1139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5188" name="Text Box 20"/>
            <p:cNvSpPr txBox="1">
              <a:spLocks noChangeArrowheads="1"/>
            </p:cNvSpPr>
            <p:nvPr/>
          </p:nvSpPr>
          <p:spPr bwMode="auto">
            <a:xfrm>
              <a:off x="3787" y="1366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5189" name="Text Box 21"/>
            <p:cNvSpPr txBox="1">
              <a:spLocks noChangeArrowheads="1"/>
            </p:cNvSpPr>
            <p:nvPr/>
          </p:nvSpPr>
          <p:spPr bwMode="auto">
            <a:xfrm>
              <a:off x="3787" y="1593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135190" name="Rectangle 2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Addressing Modes</a:t>
            </a:r>
          </a:p>
        </p:txBody>
      </p:sp>
      <p:sp>
        <p:nvSpPr>
          <p:cNvPr id="343063" name="Rectangle 2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1446213"/>
          </a:xfrm>
        </p:spPr>
        <p:txBody>
          <a:bodyPr/>
          <a:lstStyle/>
          <a:p>
            <a:r>
              <a:rPr lang="en-US"/>
              <a:t>Relative Address</a:t>
            </a:r>
          </a:p>
          <a:p>
            <a:pPr lvl="1"/>
            <a:r>
              <a:rPr lang="en-US" i="1"/>
              <a:t>EA</a:t>
            </a:r>
            <a:r>
              <a:rPr lang="en-US"/>
              <a:t> = PC + Relative Addr</a:t>
            </a:r>
          </a:p>
        </p:txBody>
      </p:sp>
      <p:sp>
        <p:nvSpPr>
          <p:cNvPr id="343064" name="Text Box 24"/>
          <p:cNvSpPr txBox="1">
            <a:spLocks noChangeArrowheads="1"/>
          </p:cNvSpPr>
          <p:nvPr/>
        </p:nvSpPr>
        <p:spPr bwMode="auto">
          <a:xfrm>
            <a:off x="3851275" y="3968750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AR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100</a:t>
            </a:r>
          </a:p>
        </p:txBody>
      </p:sp>
      <p:cxnSp>
        <p:nvCxnSpPr>
          <p:cNvPr id="343065" name="AutoShape 25"/>
          <p:cNvCxnSpPr>
            <a:cxnSpLocks noChangeShapeType="1"/>
            <a:stCxn id="343064" idx="0"/>
            <a:endCxn id="343070" idx="4"/>
          </p:cNvCxnSpPr>
          <p:nvPr/>
        </p:nvCxnSpPr>
        <p:spPr bwMode="auto">
          <a:xfrm rot="-5400000">
            <a:off x="4406106" y="3788569"/>
            <a:ext cx="331788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3066" name="Text Box 26"/>
          <p:cNvSpPr txBox="1">
            <a:spLocks noChangeArrowheads="1"/>
          </p:cNvSpPr>
          <p:nvPr/>
        </p:nvSpPr>
        <p:spPr bwMode="auto">
          <a:xfrm>
            <a:off x="6551613" y="4508500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1  1  0  A</a:t>
            </a:r>
          </a:p>
        </p:txBody>
      </p:sp>
      <p:cxnSp>
        <p:nvCxnSpPr>
          <p:cNvPr id="343067" name="AutoShape 27"/>
          <p:cNvCxnSpPr>
            <a:cxnSpLocks noChangeShapeType="1"/>
          </p:cNvCxnSpPr>
          <p:nvPr/>
        </p:nvCxnSpPr>
        <p:spPr bwMode="auto">
          <a:xfrm rot="5400000">
            <a:off x="6461919" y="5679282"/>
            <a:ext cx="1620837" cy="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</p:spPr>
      </p:cxnSp>
      <p:sp>
        <p:nvSpPr>
          <p:cNvPr id="343068" name="Text Box 28"/>
          <p:cNvSpPr txBox="1">
            <a:spLocks noChangeArrowheads="1"/>
          </p:cNvSpPr>
          <p:nvPr/>
        </p:nvSpPr>
        <p:spPr bwMode="auto">
          <a:xfrm>
            <a:off x="3851275" y="2528888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PC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343069" name="AutoShape 29"/>
          <p:cNvCxnSpPr>
            <a:cxnSpLocks noChangeShapeType="1"/>
            <a:stCxn id="343068" idx="3"/>
            <a:endCxn id="135189" idx="1"/>
          </p:cNvCxnSpPr>
          <p:nvPr/>
        </p:nvCxnSpPr>
        <p:spPr bwMode="auto">
          <a:xfrm>
            <a:off x="5305425" y="2708275"/>
            <a:ext cx="706438" cy="1588"/>
          </a:xfrm>
          <a:prstGeom prst="curvedConnector3">
            <a:avLst>
              <a:gd name="adj1" fmla="val 48764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3070" name="Oval 30"/>
          <p:cNvSpPr>
            <a:spLocks noChangeArrowheads="1"/>
          </p:cNvSpPr>
          <p:nvPr/>
        </p:nvSpPr>
        <p:spPr bwMode="auto">
          <a:xfrm>
            <a:off x="4392613" y="3248025"/>
            <a:ext cx="358775" cy="360363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+</a:t>
            </a:r>
          </a:p>
        </p:txBody>
      </p:sp>
      <p:cxnSp>
        <p:nvCxnSpPr>
          <p:cNvPr id="343071" name="AutoShape 31"/>
          <p:cNvCxnSpPr>
            <a:cxnSpLocks noChangeShapeType="1"/>
            <a:stCxn id="343068" idx="2"/>
            <a:endCxn id="343070" idx="0"/>
          </p:cNvCxnSpPr>
          <p:nvPr/>
        </p:nvCxnSpPr>
        <p:spPr bwMode="auto">
          <a:xfrm rot="5400000">
            <a:off x="4406106" y="3067844"/>
            <a:ext cx="331788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cxnSp>
        <p:nvCxnSpPr>
          <p:cNvPr id="343072" name="AutoShape 32"/>
          <p:cNvCxnSpPr>
            <a:cxnSpLocks noChangeShapeType="1"/>
            <a:stCxn id="343070" idx="6"/>
            <a:endCxn id="135174" idx="1"/>
          </p:cNvCxnSpPr>
          <p:nvPr/>
        </p:nvCxnSpPr>
        <p:spPr bwMode="auto">
          <a:xfrm>
            <a:off x="4765675" y="3429000"/>
            <a:ext cx="1249363" cy="1262063"/>
          </a:xfrm>
          <a:prstGeom prst="curvedConnector3">
            <a:avLst>
              <a:gd name="adj1" fmla="val 69505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3073" name="WordArt 33"/>
          <p:cNvSpPr>
            <a:spLocks noChangeArrowheads="1" noChangeShapeType="1" noTextEdit="1"/>
          </p:cNvSpPr>
          <p:nvPr/>
        </p:nvSpPr>
        <p:spPr bwMode="auto">
          <a:xfrm rot="-1832824">
            <a:off x="6577013" y="2168525"/>
            <a:ext cx="1620837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FF00"/>
                </a:solidFill>
                <a:latin typeface="Arial Black"/>
              </a:rPr>
              <a:t>Program</a:t>
            </a:r>
          </a:p>
        </p:txBody>
      </p:sp>
      <p:sp>
        <p:nvSpPr>
          <p:cNvPr id="343074" name="WordArt 34"/>
          <p:cNvSpPr>
            <a:spLocks noChangeArrowheads="1" noChangeShapeType="1" noTextEdit="1"/>
          </p:cNvSpPr>
          <p:nvPr/>
        </p:nvSpPr>
        <p:spPr bwMode="auto">
          <a:xfrm rot="-1832824">
            <a:off x="6770688" y="3917950"/>
            <a:ext cx="862012" cy="368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66FF"/>
                </a:solidFill>
                <a:latin typeface="Arial Black"/>
              </a:rPr>
              <a:t>Data</a:t>
            </a:r>
          </a:p>
        </p:txBody>
      </p:sp>
      <p:sp>
        <p:nvSpPr>
          <p:cNvPr id="343075" name="AutoShape 35"/>
          <p:cNvSpPr>
            <a:spLocks noChangeArrowheads="1"/>
          </p:cNvSpPr>
          <p:nvPr/>
        </p:nvSpPr>
        <p:spPr bwMode="auto">
          <a:xfrm>
            <a:off x="3132138" y="4868863"/>
            <a:ext cx="2339975" cy="900112"/>
          </a:xfrm>
          <a:prstGeom prst="wedgeRoundRectCallout">
            <a:avLst>
              <a:gd name="adj1" fmla="val 23542"/>
              <a:gd name="adj2" fmla="val -112259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Could be Positive or Negative</a:t>
            </a:r>
            <a:br>
              <a:rPr lang="en-US" b="1">
                <a:cs typeface="Arial" pitchFamily="34" charset="0"/>
              </a:rPr>
            </a:br>
            <a:r>
              <a:rPr lang="en-US" b="1">
                <a:cs typeface="Arial" pitchFamily="34" charset="0"/>
              </a:rPr>
              <a:t>(2’s Complement)</a:t>
            </a:r>
          </a:p>
        </p:txBody>
      </p:sp>
      <p:sp>
        <p:nvSpPr>
          <p:cNvPr id="343076" name="Line 36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3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3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4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4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64" grpId="0" animBg="1"/>
      <p:bldP spid="343066" grpId="0"/>
      <p:bldP spid="343068" grpId="0" animBg="1"/>
      <p:bldP spid="343070" grpId="0" animBg="1"/>
      <p:bldP spid="343073" grpId="0" animBg="1"/>
      <p:bldP spid="343074" grpId="0" animBg="1"/>
      <p:bldP spid="343075" grpId="0" animBg="1"/>
      <p:bldP spid="34307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en-US" sz="3500"/>
              <a:t>Addressing Modes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8229600" cy="1446213"/>
          </a:xfrm>
        </p:spPr>
        <p:txBody>
          <a:bodyPr/>
          <a:lstStyle/>
          <a:p>
            <a:r>
              <a:rPr lang="en-US"/>
              <a:t>Indexed</a:t>
            </a:r>
          </a:p>
          <a:p>
            <a:pPr lvl="1"/>
            <a:r>
              <a:rPr lang="en-US" i="1"/>
              <a:t>EA</a:t>
            </a:r>
            <a:r>
              <a:rPr lang="en-US"/>
              <a:t> = Index Register + Relative Addr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011863" y="1268413"/>
            <a:ext cx="2341562" cy="5040312"/>
            <a:chOff x="3787" y="799"/>
            <a:chExt cx="1475" cy="3175"/>
          </a:xfrm>
        </p:grpSpPr>
        <p:sp>
          <p:nvSpPr>
            <p:cNvPr id="136197" name="AutoShape 5"/>
            <p:cNvSpPr>
              <a:spLocks noChangeArrowheads="1"/>
            </p:cNvSpPr>
            <p:nvPr/>
          </p:nvSpPr>
          <p:spPr bwMode="auto">
            <a:xfrm>
              <a:off x="4127" y="1026"/>
              <a:ext cx="1135" cy="2948"/>
            </a:xfrm>
            <a:prstGeom prst="cube">
              <a:avLst>
                <a:gd name="adj" fmla="val 11102"/>
              </a:avLst>
            </a:prstGeom>
            <a:solidFill>
              <a:srgbClr val="E6E6E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36198" name="Text Box 6"/>
            <p:cNvSpPr txBox="1">
              <a:spLocks noChangeArrowheads="1"/>
            </p:cNvSpPr>
            <p:nvPr/>
          </p:nvSpPr>
          <p:spPr bwMode="auto">
            <a:xfrm>
              <a:off x="3787" y="2387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6199" name="Text Box 7"/>
            <p:cNvSpPr txBox="1">
              <a:spLocks noChangeArrowheads="1"/>
            </p:cNvSpPr>
            <p:nvPr/>
          </p:nvSpPr>
          <p:spPr bwMode="auto">
            <a:xfrm>
              <a:off x="3788" y="2614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6200" name="Text Box 8"/>
            <p:cNvSpPr txBox="1">
              <a:spLocks noChangeArrowheads="1"/>
            </p:cNvSpPr>
            <p:nvPr/>
          </p:nvSpPr>
          <p:spPr bwMode="auto">
            <a:xfrm>
              <a:off x="3789" y="284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6201" name="Text Box 9"/>
            <p:cNvSpPr txBox="1">
              <a:spLocks noChangeArrowheads="1"/>
            </p:cNvSpPr>
            <p:nvPr/>
          </p:nvSpPr>
          <p:spPr bwMode="auto">
            <a:xfrm>
              <a:off x="3790" y="3068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103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6202" name="Text Box 10"/>
            <p:cNvSpPr txBox="1">
              <a:spLocks noChangeArrowheads="1"/>
            </p:cNvSpPr>
            <p:nvPr/>
          </p:nvSpPr>
          <p:spPr bwMode="auto">
            <a:xfrm>
              <a:off x="3791" y="329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104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6203" name="Line 11"/>
            <p:cNvSpPr>
              <a:spLocks noChangeShapeType="1"/>
            </p:cNvSpPr>
            <p:nvPr/>
          </p:nvSpPr>
          <p:spPr bwMode="auto">
            <a:xfrm>
              <a:off x="4127" y="238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04" name="Line 12"/>
            <p:cNvSpPr>
              <a:spLocks noChangeShapeType="1"/>
            </p:cNvSpPr>
            <p:nvPr/>
          </p:nvSpPr>
          <p:spPr bwMode="auto">
            <a:xfrm>
              <a:off x="4127" y="2611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05" name="Line 13"/>
            <p:cNvSpPr>
              <a:spLocks noChangeShapeType="1"/>
            </p:cNvSpPr>
            <p:nvPr/>
          </p:nvSpPr>
          <p:spPr bwMode="auto">
            <a:xfrm>
              <a:off x="4127" y="2837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06" name="Line 14"/>
            <p:cNvSpPr>
              <a:spLocks noChangeShapeType="1"/>
            </p:cNvSpPr>
            <p:nvPr/>
          </p:nvSpPr>
          <p:spPr bwMode="auto">
            <a:xfrm>
              <a:off x="4127" y="3063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07" name="Line 15"/>
            <p:cNvSpPr>
              <a:spLocks noChangeShapeType="1"/>
            </p:cNvSpPr>
            <p:nvPr/>
          </p:nvSpPr>
          <p:spPr bwMode="auto">
            <a:xfrm>
              <a:off x="4127" y="3289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08" name="Line 16"/>
            <p:cNvSpPr>
              <a:spLocks noChangeShapeType="1"/>
            </p:cNvSpPr>
            <p:nvPr/>
          </p:nvSpPr>
          <p:spPr bwMode="auto">
            <a:xfrm>
              <a:off x="4127" y="351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09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4127" y="799"/>
              <a:ext cx="1134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4093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808080">
                        <a:alpha val="79999"/>
                      </a:srgbClr>
                    </a:outerShdw>
                  </a:effectLst>
                  <a:latin typeface="Arial Black"/>
                </a:rPr>
                <a:t>Memory</a:t>
              </a:r>
            </a:p>
          </p:txBody>
        </p:sp>
        <p:sp>
          <p:nvSpPr>
            <p:cNvPr id="136210" name="Line 18"/>
            <p:cNvSpPr>
              <a:spLocks noChangeShapeType="1"/>
            </p:cNvSpPr>
            <p:nvPr/>
          </p:nvSpPr>
          <p:spPr bwMode="auto">
            <a:xfrm>
              <a:off x="4127" y="1366"/>
              <a:ext cx="1021" cy="0"/>
            </a:xfrm>
            <a:prstGeom prst="line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11" name="Line 19"/>
            <p:cNvSpPr>
              <a:spLocks noChangeShapeType="1"/>
            </p:cNvSpPr>
            <p:nvPr/>
          </p:nvSpPr>
          <p:spPr bwMode="auto">
            <a:xfrm>
              <a:off x="4127" y="1593"/>
              <a:ext cx="1021" cy="0"/>
            </a:xfrm>
            <a:prstGeom prst="line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12" name="Line 20"/>
            <p:cNvSpPr>
              <a:spLocks noChangeShapeType="1"/>
            </p:cNvSpPr>
            <p:nvPr/>
          </p:nvSpPr>
          <p:spPr bwMode="auto">
            <a:xfrm>
              <a:off x="4127" y="1820"/>
              <a:ext cx="1021" cy="0"/>
            </a:xfrm>
            <a:prstGeom prst="line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6213" name="Text Box 21"/>
            <p:cNvSpPr txBox="1">
              <a:spLocks noChangeArrowheads="1"/>
            </p:cNvSpPr>
            <p:nvPr/>
          </p:nvSpPr>
          <p:spPr bwMode="auto">
            <a:xfrm>
              <a:off x="3787" y="1139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6214" name="Text Box 22"/>
            <p:cNvSpPr txBox="1">
              <a:spLocks noChangeArrowheads="1"/>
            </p:cNvSpPr>
            <p:nvPr/>
          </p:nvSpPr>
          <p:spPr bwMode="auto">
            <a:xfrm>
              <a:off x="3787" y="1366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6215" name="Text Box 23"/>
            <p:cNvSpPr txBox="1">
              <a:spLocks noChangeArrowheads="1"/>
            </p:cNvSpPr>
            <p:nvPr/>
          </p:nvSpPr>
          <p:spPr bwMode="auto">
            <a:xfrm>
              <a:off x="3787" y="1593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344088" name="Text Box 24"/>
          <p:cNvSpPr txBox="1">
            <a:spLocks noChangeArrowheads="1"/>
          </p:cNvSpPr>
          <p:nvPr/>
        </p:nvSpPr>
        <p:spPr bwMode="auto">
          <a:xfrm>
            <a:off x="3851275" y="3968750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AR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100</a:t>
            </a:r>
          </a:p>
        </p:txBody>
      </p:sp>
      <p:cxnSp>
        <p:nvCxnSpPr>
          <p:cNvPr id="344089" name="AutoShape 25"/>
          <p:cNvCxnSpPr>
            <a:cxnSpLocks noChangeShapeType="1"/>
            <a:stCxn id="344088" idx="0"/>
            <a:endCxn id="344093" idx="4"/>
          </p:cNvCxnSpPr>
          <p:nvPr/>
        </p:nvCxnSpPr>
        <p:spPr bwMode="auto">
          <a:xfrm rot="-5400000">
            <a:off x="4406106" y="3788569"/>
            <a:ext cx="331788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4090" name="Text Box 26"/>
          <p:cNvSpPr txBox="1">
            <a:spLocks noChangeArrowheads="1"/>
          </p:cNvSpPr>
          <p:nvPr/>
        </p:nvSpPr>
        <p:spPr bwMode="auto">
          <a:xfrm>
            <a:off x="6551613" y="4508500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1  1  0  A</a:t>
            </a:r>
          </a:p>
        </p:txBody>
      </p:sp>
      <p:cxnSp>
        <p:nvCxnSpPr>
          <p:cNvPr id="344091" name="AutoShape 27"/>
          <p:cNvCxnSpPr>
            <a:cxnSpLocks noChangeShapeType="1"/>
          </p:cNvCxnSpPr>
          <p:nvPr/>
        </p:nvCxnSpPr>
        <p:spPr bwMode="auto">
          <a:xfrm rot="5400000">
            <a:off x="6461919" y="5679282"/>
            <a:ext cx="1620837" cy="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</p:spPr>
      </p:cxnSp>
      <p:sp>
        <p:nvSpPr>
          <p:cNvPr id="344092" name="Text Box 28"/>
          <p:cNvSpPr txBox="1">
            <a:spLocks noChangeArrowheads="1"/>
          </p:cNvSpPr>
          <p:nvPr/>
        </p:nvSpPr>
        <p:spPr bwMode="auto">
          <a:xfrm>
            <a:off x="3851275" y="2528888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XR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44093" name="Oval 29"/>
          <p:cNvSpPr>
            <a:spLocks noChangeArrowheads="1"/>
          </p:cNvSpPr>
          <p:nvPr/>
        </p:nvSpPr>
        <p:spPr bwMode="auto">
          <a:xfrm>
            <a:off x="4392613" y="3248025"/>
            <a:ext cx="358775" cy="360363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+</a:t>
            </a:r>
          </a:p>
        </p:txBody>
      </p:sp>
      <p:cxnSp>
        <p:nvCxnSpPr>
          <p:cNvPr id="344094" name="AutoShape 30"/>
          <p:cNvCxnSpPr>
            <a:cxnSpLocks noChangeShapeType="1"/>
            <a:stCxn id="344092" idx="2"/>
            <a:endCxn id="344093" idx="0"/>
          </p:cNvCxnSpPr>
          <p:nvPr/>
        </p:nvCxnSpPr>
        <p:spPr bwMode="auto">
          <a:xfrm rot="5400000">
            <a:off x="4406106" y="3067844"/>
            <a:ext cx="331788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cxnSp>
        <p:nvCxnSpPr>
          <p:cNvPr id="344095" name="AutoShape 31"/>
          <p:cNvCxnSpPr>
            <a:cxnSpLocks noChangeShapeType="1"/>
            <a:stCxn id="344093" idx="6"/>
            <a:endCxn id="136200" idx="1"/>
          </p:cNvCxnSpPr>
          <p:nvPr/>
        </p:nvCxnSpPr>
        <p:spPr bwMode="auto">
          <a:xfrm>
            <a:off x="4765675" y="3429000"/>
            <a:ext cx="1249363" cy="1262063"/>
          </a:xfrm>
          <a:prstGeom prst="curvedConnector3">
            <a:avLst>
              <a:gd name="adj1" fmla="val 70648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4096" name="AutoShape 32"/>
          <p:cNvSpPr>
            <a:spLocks noChangeArrowheads="1"/>
          </p:cNvSpPr>
          <p:nvPr/>
        </p:nvSpPr>
        <p:spPr bwMode="auto">
          <a:xfrm>
            <a:off x="971550" y="4329113"/>
            <a:ext cx="2339975" cy="900112"/>
          </a:xfrm>
          <a:prstGeom prst="wedgeRoundRectCallout">
            <a:avLst>
              <a:gd name="adj1" fmla="val 82972"/>
              <a:gd name="adj2" fmla="val -194444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Could be Positive or Negative</a:t>
            </a:r>
            <a:br>
              <a:rPr lang="en-US" b="1">
                <a:cs typeface="Arial" pitchFamily="34" charset="0"/>
              </a:rPr>
            </a:br>
            <a:r>
              <a:rPr lang="en-US" b="1">
                <a:cs typeface="Arial" pitchFamily="34" charset="0"/>
              </a:rPr>
              <a:t>(2’s Complement)</a:t>
            </a:r>
          </a:p>
        </p:txBody>
      </p:sp>
      <p:sp>
        <p:nvSpPr>
          <p:cNvPr id="344097" name="AutoShape 33"/>
          <p:cNvSpPr>
            <a:spLocks noChangeArrowheads="1"/>
          </p:cNvSpPr>
          <p:nvPr/>
        </p:nvSpPr>
        <p:spPr bwMode="auto">
          <a:xfrm>
            <a:off x="971550" y="2528888"/>
            <a:ext cx="2339975" cy="900112"/>
          </a:xfrm>
          <a:prstGeom prst="wedgeRoundRectCallout">
            <a:avLst>
              <a:gd name="adj1" fmla="val 67912"/>
              <a:gd name="adj2" fmla="val -27778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Useful with “Autoincrement” or “Autodecrement”</a:t>
            </a:r>
          </a:p>
        </p:txBody>
      </p:sp>
      <p:sp>
        <p:nvSpPr>
          <p:cNvPr id="344098" name="Line 3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4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4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88" grpId="0" animBg="1"/>
      <p:bldP spid="344090" grpId="0"/>
      <p:bldP spid="344092" grpId="0" animBg="1"/>
      <p:bldP spid="344093" grpId="0" animBg="1"/>
      <p:bldP spid="344096" grpId="0" animBg="1"/>
      <p:bldP spid="344097" grpId="0" animBg="1"/>
      <p:bldP spid="34409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Addressing Modes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8229600" cy="1446213"/>
          </a:xfrm>
        </p:spPr>
        <p:txBody>
          <a:bodyPr/>
          <a:lstStyle/>
          <a:p>
            <a:r>
              <a:rPr lang="en-US"/>
              <a:t>Base Register</a:t>
            </a:r>
          </a:p>
          <a:p>
            <a:pPr lvl="1"/>
            <a:r>
              <a:rPr lang="en-US" i="1"/>
              <a:t>EA</a:t>
            </a:r>
            <a:r>
              <a:rPr lang="en-US"/>
              <a:t> = Base Register + Relative Addr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011863" y="1268413"/>
            <a:ext cx="2341562" cy="5040312"/>
            <a:chOff x="3787" y="799"/>
            <a:chExt cx="1475" cy="3175"/>
          </a:xfrm>
        </p:grpSpPr>
        <p:sp>
          <p:nvSpPr>
            <p:cNvPr id="137221" name="AutoShape 5"/>
            <p:cNvSpPr>
              <a:spLocks noChangeArrowheads="1"/>
            </p:cNvSpPr>
            <p:nvPr/>
          </p:nvSpPr>
          <p:spPr bwMode="auto">
            <a:xfrm>
              <a:off x="4127" y="1026"/>
              <a:ext cx="1135" cy="2948"/>
            </a:xfrm>
            <a:prstGeom prst="cube">
              <a:avLst>
                <a:gd name="adj" fmla="val 11102"/>
              </a:avLst>
            </a:prstGeom>
            <a:solidFill>
              <a:srgbClr val="E6E6E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37222" name="Text Box 6"/>
            <p:cNvSpPr txBox="1">
              <a:spLocks noChangeArrowheads="1"/>
            </p:cNvSpPr>
            <p:nvPr/>
          </p:nvSpPr>
          <p:spPr bwMode="auto">
            <a:xfrm>
              <a:off x="3787" y="2387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7223" name="Text Box 7"/>
            <p:cNvSpPr txBox="1">
              <a:spLocks noChangeArrowheads="1"/>
            </p:cNvSpPr>
            <p:nvPr/>
          </p:nvSpPr>
          <p:spPr bwMode="auto">
            <a:xfrm>
              <a:off x="3788" y="2614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7224" name="Text Box 8"/>
            <p:cNvSpPr txBox="1">
              <a:spLocks noChangeArrowheads="1"/>
            </p:cNvSpPr>
            <p:nvPr/>
          </p:nvSpPr>
          <p:spPr bwMode="auto">
            <a:xfrm>
              <a:off x="3789" y="284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7225" name="Text Box 9"/>
            <p:cNvSpPr txBox="1">
              <a:spLocks noChangeArrowheads="1"/>
            </p:cNvSpPr>
            <p:nvPr/>
          </p:nvSpPr>
          <p:spPr bwMode="auto">
            <a:xfrm>
              <a:off x="3790" y="3068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103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7226" name="Text Box 10"/>
            <p:cNvSpPr txBox="1">
              <a:spLocks noChangeArrowheads="1"/>
            </p:cNvSpPr>
            <p:nvPr/>
          </p:nvSpPr>
          <p:spPr bwMode="auto">
            <a:xfrm>
              <a:off x="3791" y="329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104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7227" name="Line 11"/>
            <p:cNvSpPr>
              <a:spLocks noChangeShapeType="1"/>
            </p:cNvSpPr>
            <p:nvPr/>
          </p:nvSpPr>
          <p:spPr bwMode="auto">
            <a:xfrm>
              <a:off x="4127" y="238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28" name="Line 12"/>
            <p:cNvSpPr>
              <a:spLocks noChangeShapeType="1"/>
            </p:cNvSpPr>
            <p:nvPr/>
          </p:nvSpPr>
          <p:spPr bwMode="auto">
            <a:xfrm>
              <a:off x="4127" y="2611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29" name="Line 13"/>
            <p:cNvSpPr>
              <a:spLocks noChangeShapeType="1"/>
            </p:cNvSpPr>
            <p:nvPr/>
          </p:nvSpPr>
          <p:spPr bwMode="auto">
            <a:xfrm>
              <a:off x="4127" y="2837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30" name="Line 14"/>
            <p:cNvSpPr>
              <a:spLocks noChangeShapeType="1"/>
            </p:cNvSpPr>
            <p:nvPr/>
          </p:nvSpPr>
          <p:spPr bwMode="auto">
            <a:xfrm>
              <a:off x="4127" y="3063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31" name="Line 15"/>
            <p:cNvSpPr>
              <a:spLocks noChangeShapeType="1"/>
            </p:cNvSpPr>
            <p:nvPr/>
          </p:nvSpPr>
          <p:spPr bwMode="auto">
            <a:xfrm>
              <a:off x="4127" y="3289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32" name="Line 16"/>
            <p:cNvSpPr>
              <a:spLocks noChangeShapeType="1"/>
            </p:cNvSpPr>
            <p:nvPr/>
          </p:nvSpPr>
          <p:spPr bwMode="auto">
            <a:xfrm>
              <a:off x="4127" y="3515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33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4127" y="799"/>
              <a:ext cx="1134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4093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808080">
                        <a:alpha val="79999"/>
                      </a:srgbClr>
                    </a:outerShdw>
                  </a:effectLst>
                  <a:latin typeface="Arial Black"/>
                </a:rPr>
                <a:t>Memory</a:t>
              </a:r>
            </a:p>
          </p:txBody>
        </p:sp>
        <p:sp>
          <p:nvSpPr>
            <p:cNvPr id="137234" name="Line 18"/>
            <p:cNvSpPr>
              <a:spLocks noChangeShapeType="1"/>
            </p:cNvSpPr>
            <p:nvPr/>
          </p:nvSpPr>
          <p:spPr bwMode="auto">
            <a:xfrm>
              <a:off x="4127" y="1366"/>
              <a:ext cx="1021" cy="0"/>
            </a:xfrm>
            <a:prstGeom prst="line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35" name="Line 19"/>
            <p:cNvSpPr>
              <a:spLocks noChangeShapeType="1"/>
            </p:cNvSpPr>
            <p:nvPr/>
          </p:nvSpPr>
          <p:spPr bwMode="auto">
            <a:xfrm>
              <a:off x="4127" y="1593"/>
              <a:ext cx="1021" cy="0"/>
            </a:xfrm>
            <a:prstGeom prst="line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36" name="Line 20"/>
            <p:cNvSpPr>
              <a:spLocks noChangeShapeType="1"/>
            </p:cNvSpPr>
            <p:nvPr/>
          </p:nvSpPr>
          <p:spPr bwMode="auto">
            <a:xfrm>
              <a:off x="4127" y="1820"/>
              <a:ext cx="1021" cy="0"/>
            </a:xfrm>
            <a:prstGeom prst="line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7237" name="Text Box 21"/>
            <p:cNvSpPr txBox="1">
              <a:spLocks noChangeArrowheads="1"/>
            </p:cNvSpPr>
            <p:nvPr/>
          </p:nvSpPr>
          <p:spPr bwMode="auto">
            <a:xfrm>
              <a:off x="3787" y="1139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7238" name="Text Box 22"/>
            <p:cNvSpPr txBox="1">
              <a:spLocks noChangeArrowheads="1"/>
            </p:cNvSpPr>
            <p:nvPr/>
          </p:nvSpPr>
          <p:spPr bwMode="auto">
            <a:xfrm>
              <a:off x="3787" y="1366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7239" name="Text Box 23"/>
            <p:cNvSpPr txBox="1">
              <a:spLocks noChangeArrowheads="1"/>
            </p:cNvSpPr>
            <p:nvPr/>
          </p:nvSpPr>
          <p:spPr bwMode="auto">
            <a:xfrm>
              <a:off x="3787" y="1593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345112" name="Text Box 24"/>
          <p:cNvSpPr txBox="1">
            <a:spLocks noChangeArrowheads="1"/>
          </p:cNvSpPr>
          <p:nvPr/>
        </p:nvSpPr>
        <p:spPr bwMode="auto">
          <a:xfrm>
            <a:off x="3851275" y="3968750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BR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100</a:t>
            </a:r>
          </a:p>
        </p:txBody>
      </p:sp>
      <p:cxnSp>
        <p:nvCxnSpPr>
          <p:cNvPr id="345113" name="AutoShape 25"/>
          <p:cNvCxnSpPr>
            <a:cxnSpLocks noChangeShapeType="1"/>
            <a:stCxn id="345112" idx="0"/>
            <a:endCxn id="345117" idx="4"/>
          </p:cNvCxnSpPr>
          <p:nvPr/>
        </p:nvCxnSpPr>
        <p:spPr bwMode="auto">
          <a:xfrm rot="-5400000">
            <a:off x="4406106" y="3788569"/>
            <a:ext cx="331788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5114" name="Text Box 26"/>
          <p:cNvSpPr txBox="1">
            <a:spLocks noChangeArrowheads="1"/>
          </p:cNvSpPr>
          <p:nvPr/>
        </p:nvSpPr>
        <p:spPr bwMode="auto">
          <a:xfrm>
            <a:off x="6551613" y="4508500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0  A</a:t>
            </a:r>
          </a:p>
        </p:txBody>
      </p:sp>
      <p:cxnSp>
        <p:nvCxnSpPr>
          <p:cNvPr id="345115" name="AutoShape 27"/>
          <p:cNvCxnSpPr>
            <a:cxnSpLocks noChangeShapeType="1"/>
          </p:cNvCxnSpPr>
          <p:nvPr/>
        </p:nvCxnSpPr>
        <p:spPr bwMode="auto">
          <a:xfrm rot="5400000">
            <a:off x="6519069" y="5679282"/>
            <a:ext cx="1620837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5116" name="Text Box 28"/>
          <p:cNvSpPr txBox="1">
            <a:spLocks noChangeArrowheads="1"/>
          </p:cNvSpPr>
          <p:nvPr/>
        </p:nvSpPr>
        <p:spPr bwMode="auto">
          <a:xfrm>
            <a:off x="3851275" y="2528888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AR = </a:t>
            </a: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45117" name="Oval 29"/>
          <p:cNvSpPr>
            <a:spLocks noChangeArrowheads="1"/>
          </p:cNvSpPr>
          <p:nvPr/>
        </p:nvSpPr>
        <p:spPr bwMode="auto">
          <a:xfrm>
            <a:off x="4392613" y="3248025"/>
            <a:ext cx="358775" cy="360363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+</a:t>
            </a:r>
          </a:p>
        </p:txBody>
      </p:sp>
      <p:cxnSp>
        <p:nvCxnSpPr>
          <p:cNvPr id="345118" name="AutoShape 30"/>
          <p:cNvCxnSpPr>
            <a:cxnSpLocks noChangeShapeType="1"/>
            <a:stCxn id="345116" idx="2"/>
            <a:endCxn id="345117" idx="0"/>
          </p:cNvCxnSpPr>
          <p:nvPr/>
        </p:nvCxnSpPr>
        <p:spPr bwMode="auto">
          <a:xfrm rot="5400000">
            <a:off x="4406106" y="3067844"/>
            <a:ext cx="331788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cxnSp>
        <p:nvCxnSpPr>
          <p:cNvPr id="345119" name="AutoShape 31"/>
          <p:cNvCxnSpPr>
            <a:cxnSpLocks noChangeShapeType="1"/>
            <a:stCxn id="345117" idx="6"/>
            <a:endCxn id="137224" idx="1"/>
          </p:cNvCxnSpPr>
          <p:nvPr/>
        </p:nvCxnSpPr>
        <p:spPr bwMode="auto">
          <a:xfrm>
            <a:off x="4765675" y="3429000"/>
            <a:ext cx="1249363" cy="1262063"/>
          </a:xfrm>
          <a:prstGeom prst="curvedConnector3">
            <a:avLst>
              <a:gd name="adj1" fmla="val 6963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</p:cxnSp>
      <p:sp>
        <p:nvSpPr>
          <p:cNvPr id="345120" name="AutoShape 32"/>
          <p:cNvSpPr>
            <a:spLocks noChangeArrowheads="1"/>
          </p:cNvSpPr>
          <p:nvPr/>
        </p:nvSpPr>
        <p:spPr bwMode="auto">
          <a:xfrm>
            <a:off x="971550" y="2528888"/>
            <a:ext cx="2339975" cy="900112"/>
          </a:xfrm>
          <a:prstGeom prst="wedgeRoundRectCallout">
            <a:avLst>
              <a:gd name="adj1" fmla="val 66417"/>
              <a:gd name="adj2" fmla="val -19667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Could be Positive or Negative</a:t>
            </a:r>
            <a:br>
              <a:rPr lang="en-US" b="1">
                <a:cs typeface="Arial" pitchFamily="34" charset="0"/>
              </a:rPr>
            </a:br>
            <a:r>
              <a:rPr lang="en-US" b="1">
                <a:cs typeface="Arial" pitchFamily="34" charset="0"/>
              </a:rPr>
              <a:t>(2’s Complement)</a:t>
            </a:r>
          </a:p>
        </p:txBody>
      </p:sp>
      <p:cxnSp>
        <p:nvCxnSpPr>
          <p:cNvPr id="345121" name="AutoShape 33"/>
          <p:cNvCxnSpPr>
            <a:cxnSpLocks noChangeShapeType="1"/>
            <a:stCxn id="345112" idx="3"/>
            <a:endCxn id="137222" idx="1"/>
          </p:cNvCxnSpPr>
          <p:nvPr/>
        </p:nvCxnSpPr>
        <p:spPr bwMode="auto">
          <a:xfrm flipV="1">
            <a:off x="5305425" y="3970338"/>
            <a:ext cx="706438" cy="177800"/>
          </a:xfrm>
          <a:prstGeom prst="straightConnector1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lg" len="lg"/>
          </a:ln>
        </p:spPr>
      </p:cxnSp>
      <p:sp>
        <p:nvSpPr>
          <p:cNvPr id="345122" name="AutoShape 34"/>
          <p:cNvSpPr>
            <a:spLocks noChangeArrowheads="1"/>
          </p:cNvSpPr>
          <p:nvPr/>
        </p:nvSpPr>
        <p:spPr bwMode="auto">
          <a:xfrm>
            <a:off x="2051050" y="4868863"/>
            <a:ext cx="1981200" cy="900112"/>
          </a:xfrm>
          <a:prstGeom prst="wedgeRoundRectCallout">
            <a:avLst>
              <a:gd name="adj1" fmla="val 45755"/>
              <a:gd name="adj2" fmla="val -102380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Usually points to the beginning of an array</a:t>
            </a:r>
          </a:p>
        </p:txBody>
      </p:sp>
      <p:sp>
        <p:nvSpPr>
          <p:cNvPr id="345123" name="Text Box 35"/>
          <p:cNvSpPr txBox="1">
            <a:spLocks noChangeArrowheads="1"/>
          </p:cNvSpPr>
          <p:nvPr/>
        </p:nvSpPr>
        <p:spPr bwMode="auto">
          <a:xfrm>
            <a:off x="6551613" y="37893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0  0  0  5</a:t>
            </a:r>
          </a:p>
        </p:txBody>
      </p:sp>
      <p:sp>
        <p:nvSpPr>
          <p:cNvPr id="345124" name="Text Box 36"/>
          <p:cNvSpPr txBox="1">
            <a:spLocks noChangeArrowheads="1"/>
          </p:cNvSpPr>
          <p:nvPr/>
        </p:nvSpPr>
        <p:spPr bwMode="auto">
          <a:xfrm>
            <a:off x="6551613" y="4148138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0  0  1  2</a:t>
            </a:r>
          </a:p>
        </p:txBody>
      </p:sp>
      <p:sp>
        <p:nvSpPr>
          <p:cNvPr id="345125" name="Text Box 37"/>
          <p:cNvSpPr txBox="1">
            <a:spLocks noChangeArrowheads="1"/>
          </p:cNvSpPr>
          <p:nvPr/>
        </p:nvSpPr>
        <p:spPr bwMode="auto">
          <a:xfrm>
            <a:off x="6551613" y="48688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0  1  0  7</a:t>
            </a:r>
          </a:p>
        </p:txBody>
      </p:sp>
      <p:sp>
        <p:nvSpPr>
          <p:cNvPr id="345126" name="Text Box 38"/>
          <p:cNvSpPr txBox="1">
            <a:spLocks noChangeArrowheads="1"/>
          </p:cNvSpPr>
          <p:nvPr/>
        </p:nvSpPr>
        <p:spPr bwMode="auto">
          <a:xfrm>
            <a:off x="6551613" y="5229225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0  0  5  9</a:t>
            </a:r>
          </a:p>
        </p:txBody>
      </p:sp>
      <p:sp>
        <p:nvSpPr>
          <p:cNvPr id="345127" name="Line 39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4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4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1000" fill="hold"/>
                                        <p:tgtEl>
                                          <p:spTgt spid="345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4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4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112" grpId="0" animBg="1"/>
      <p:bldP spid="345114" grpId="0"/>
      <p:bldP spid="345114" grpId="1"/>
      <p:bldP spid="345116" grpId="0" animBg="1"/>
      <p:bldP spid="345117" grpId="0" animBg="1"/>
      <p:bldP spid="345120" grpId="0" animBg="1"/>
      <p:bldP spid="345122" grpId="0" animBg="1"/>
      <p:bldP spid="345123" grpId="0"/>
      <p:bldP spid="345124" grpId="0"/>
      <p:bldP spid="345125" grpId="0"/>
      <p:bldP spid="345126" grpId="0"/>
      <p:bldP spid="34512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Addressing Modes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19263"/>
            <a:ext cx="2057400" cy="27765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1900">
                <a:ea typeface="SimSun" pitchFamily="2" charset="-122"/>
              </a:rPr>
              <a:t>The different ways in which the location of an operand is specified in an instruction are referred to as addressing modes.</a:t>
            </a:r>
          </a:p>
        </p:txBody>
      </p:sp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2268538" y="1392238"/>
            <a:ext cx="5654675" cy="1587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2268538" y="1511300"/>
            <a:ext cx="5207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Name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3886200" y="1511300"/>
            <a:ext cx="6270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Assem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4495800" y="1511300"/>
            <a:ext cx="349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bler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4972050" y="1511300"/>
            <a:ext cx="328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syn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5286375" y="1511300"/>
            <a:ext cx="2762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tax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5899150" y="1511300"/>
            <a:ext cx="10477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Addressing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1" name="Rectangle 11"/>
          <p:cNvSpPr>
            <a:spLocks noChangeArrowheads="1"/>
          </p:cNvSpPr>
          <p:nvPr/>
        </p:nvSpPr>
        <p:spPr bwMode="auto">
          <a:xfrm>
            <a:off x="6946900" y="1511300"/>
            <a:ext cx="7493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function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2" name="Rectangle 12"/>
          <p:cNvSpPr>
            <a:spLocks noChangeArrowheads="1"/>
          </p:cNvSpPr>
          <p:nvPr/>
        </p:nvSpPr>
        <p:spPr bwMode="auto">
          <a:xfrm>
            <a:off x="2268538" y="1939925"/>
            <a:ext cx="5654675" cy="15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8253" name="Rectangle 13"/>
          <p:cNvSpPr>
            <a:spLocks noChangeArrowheads="1"/>
          </p:cNvSpPr>
          <p:nvPr/>
        </p:nvSpPr>
        <p:spPr bwMode="auto">
          <a:xfrm>
            <a:off x="2268538" y="2019300"/>
            <a:ext cx="8905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Immediate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4" name="Rectangle 14"/>
          <p:cNvSpPr>
            <a:spLocks noChangeArrowheads="1"/>
          </p:cNvSpPr>
          <p:nvPr/>
        </p:nvSpPr>
        <p:spPr bwMode="auto">
          <a:xfrm>
            <a:off x="3990975" y="2019300"/>
            <a:ext cx="233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#V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5" name="Rectangle 15"/>
          <p:cNvSpPr>
            <a:spLocks noChangeArrowheads="1"/>
          </p:cNvSpPr>
          <p:nvPr/>
        </p:nvSpPr>
        <p:spPr bwMode="auto">
          <a:xfrm>
            <a:off x="4217988" y="2019300"/>
            <a:ext cx="361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alue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6" name="Rectangle 16"/>
          <p:cNvSpPr>
            <a:spLocks noChangeArrowheads="1"/>
          </p:cNvSpPr>
          <p:nvPr/>
        </p:nvSpPr>
        <p:spPr bwMode="auto">
          <a:xfrm>
            <a:off x="5937250" y="2019300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Op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7" name="Rectangle 17"/>
          <p:cNvSpPr>
            <a:spLocks noChangeArrowheads="1"/>
          </p:cNvSpPr>
          <p:nvPr/>
        </p:nvSpPr>
        <p:spPr bwMode="auto">
          <a:xfrm>
            <a:off x="6216650" y="2019300"/>
            <a:ext cx="488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erand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8" name="Rectangle 18"/>
          <p:cNvSpPr>
            <a:spLocks noChangeArrowheads="1"/>
          </p:cNvSpPr>
          <p:nvPr/>
        </p:nvSpPr>
        <p:spPr bwMode="auto">
          <a:xfrm>
            <a:off x="6746875" y="2028825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59" name="Rectangle 19"/>
          <p:cNvSpPr>
            <a:spLocks noChangeArrowheads="1"/>
          </p:cNvSpPr>
          <p:nvPr/>
        </p:nvSpPr>
        <p:spPr bwMode="auto">
          <a:xfrm>
            <a:off x="6911975" y="2028825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V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0" name="Rectangle 20"/>
          <p:cNvSpPr>
            <a:spLocks noChangeArrowheads="1"/>
          </p:cNvSpPr>
          <p:nvPr/>
        </p:nvSpPr>
        <p:spPr bwMode="auto">
          <a:xfrm>
            <a:off x="7029450" y="2028825"/>
            <a:ext cx="361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alue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1" name="Rectangle 21"/>
          <p:cNvSpPr>
            <a:spLocks noChangeArrowheads="1"/>
          </p:cNvSpPr>
          <p:nvPr/>
        </p:nvSpPr>
        <p:spPr bwMode="auto">
          <a:xfrm>
            <a:off x="2268538" y="2390775"/>
            <a:ext cx="711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Register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2" name="Rectangle 22"/>
          <p:cNvSpPr>
            <a:spLocks noChangeArrowheads="1"/>
          </p:cNvSpPr>
          <p:nvPr/>
        </p:nvSpPr>
        <p:spPr bwMode="auto">
          <a:xfrm>
            <a:off x="3990975" y="2390775"/>
            <a:ext cx="138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3" name="Rectangle 23"/>
          <p:cNvSpPr>
            <a:spLocks noChangeArrowheads="1"/>
          </p:cNvSpPr>
          <p:nvPr/>
        </p:nvSpPr>
        <p:spPr bwMode="auto">
          <a:xfrm>
            <a:off x="4146550" y="2390775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4" name="Rectangle 24"/>
          <p:cNvSpPr>
            <a:spLocks noChangeArrowheads="1"/>
          </p:cNvSpPr>
          <p:nvPr/>
        </p:nvSpPr>
        <p:spPr bwMode="auto">
          <a:xfrm>
            <a:off x="5946775" y="2390775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5" name="Rectangle 25"/>
          <p:cNvSpPr>
            <a:spLocks noChangeArrowheads="1"/>
          </p:cNvSpPr>
          <p:nvPr/>
        </p:nvSpPr>
        <p:spPr bwMode="auto">
          <a:xfrm>
            <a:off x="6261100" y="2390775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6" name="Rectangle 26"/>
          <p:cNvSpPr>
            <a:spLocks noChangeArrowheads="1"/>
          </p:cNvSpPr>
          <p:nvPr/>
        </p:nvSpPr>
        <p:spPr bwMode="auto">
          <a:xfrm>
            <a:off x="6477000" y="2390775"/>
            <a:ext cx="138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7" name="Rectangle 27"/>
          <p:cNvSpPr>
            <a:spLocks noChangeArrowheads="1"/>
          </p:cNvSpPr>
          <p:nvPr/>
        </p:nvSpPr>
        <p:spPr bwMode="auto">
          <a:xfrm>
            <a:off x="6613525" y="2390775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8" name="Rectangle 28"/>
          <p:cNvSpPr>
            <a:spLocks noChangeArrowheads="1"/>
          </p:cNvSpPr>
          <p:nvPr/>
        </p:nvSpPr>
        <p:spPr bwMode="auto">
          <a:xfrm>
            <a:off x="2268538" y="2782888"/>
            <a:ext cx="742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Absolute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69" name="Rectangle 29"/>
          <p:cNvSpPr>
            <a:spLocks noChangeArrowheads="1"/>
          </p:cNvSpPr>
          <p:nvPr/>
        </p:nvSpPr>
        <p:spPr bwMode="auto">
          <a:xfrm>
            <a:off x="3033713" y="2782888"/>
            <a:ext cx="6254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(Direct)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0" name="Rectangle 30"/>
          <p:cNvSpPr>
            <a:spLocks noChangeArrowheads="1"/>
          </p:cNvSpPr>
          <p:nvPr/>
        </p:nvSpPr>
        <p:spPr bwMode="auto">
          <a:xfrm>
            <a:off x="3990975" y="2782888"/>
            <a:ext cx="392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LOC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1" name="Rectangle 31"/>
          <p:cNvSpPr>
            <a:spLocks noChangeArrowheads="1"/>
          </p:cNvSpPr>
          <p:nvPr/>
        </p:nvSpPr>
        <p:spPr bwMode="auto">
          <a:xfrm>
            <a:off x="5946775" y="2782888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2" name="Rectangle 32"/>
          <p:cNvSpPr>
            <a:spLocks noChangeArrowheads="1"/>
          </p:cNvSpPr>
          <p:nvPr/>
        </p:nvSpPr>
        <p:spPr bwMode="auto">
          <a:xfrm>
            <a:off x="6261100" y="2782888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3" name="Rectangle 33"/>
          <p:cNvSpPr>
            <a:spLocks noChangeArrowheads="1"/>
          </p:cNvSpPr>
          <p:nvPr/>
        </p:nvSpPr>
        <p:spPr bwMode="auto">
          <a:xfrm>
            <a:off x="6477000" y="2782888"/>
            <a:ext cx="392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LOC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4" name="Rectangle 34"/>
          <p:cNvSpPr>
            <a:spLocks noChangeArrowheads="1"/>
          </p:cNvSpPr>
          <p:nvPr/>
        </p:nvSpPr>
        <p:spPr bwMode="auto">
          <a:xfrm>
            <a:off x="2268538" y="3173413"/>
            <a:ext cx="6254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Indirect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5" name="Rectangle 35"/>
          <p:cNvSpPr>
            <a:spLocks noChangeArrowheads="1"/>
          </p:cNvSpPr>
          <p:nvPr/>
        </p:nvSpPr>
        <p:spPr bwMode="auto">
          <a:xfrm>
            <a:off x="3990975" y="3173413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(R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6" name="Rectangle 36"/>
          <p:cNvSpPr>
            <a:spLocks noChangeArrowheads="1"/>
          </p:cNvSpPr>
          <p:nvPr/>
        </p:nvSpPr>
        <p:spPr bwMode="auto">
          <a:xfrm>
            <a:off x="4205288" y="3173413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7" name="Rectangle 37"/>
          <p:cNvSpPr>
            <a:spLocks noChangeArrowheads="1"/>
          </p:cNvSpPr>
          <p:nvPr/>
        </p:nvSpPr>
        <p:spPr bwMode="auto">
          <a:xfrm>
            <a:off x="4284663" y="3173413"/>
            <a:ext cx="63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8" name="Rectangle 38"/>
          <p:cNvSpPr>
            <a:spLocks noChangeArrowheads="1"/>
          </p:cNvSpPr>
          <p:nvPr/>
        </p:nvSpPr>
        <p:spPr bwMode="auto">
          <a:xfrm>
            <a:off x="5946775" y="3173413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79" name="Rectangle 39"/>
          <p:cNvSpPr>
            <a:spLocks noChangeArrowheads="1"/>
          </p:cNvSpPr>
          <p:nvPr/>
        </p:nvSpPr>
        <p:spPr bwMode="auto">
          <a:xfrm>
            <a:off x="6261100" y="3173413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0" name="Rectangle 40"/>
          <p:cNvSpPr>
            <a:spLocks noChangeArrowheads="1"/>
          </p:cNvSpPr>
          <p:nvPr/>
        </p:nvSpPr>
        <p:spPr bwMode="auto">
          <a:xfrm>
            <a:off x="6477000" y="3173413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1" name="Rectangle 41"/>
          <p:cNvSpPr>
            <a:spLocks noChangeArrowheads="1"/>
          </p:cNvSpPr>
          <p:nvPr/>
        </p:nvSpPr>
        <p:spPr bwMode="auto">
          <a:xfrm>
            <a:off x="6672263" y="3173413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2" name="Rectangle 42"/>
          <p:cNvSpPr>
            <a:spLocks noChangeArrowheads="1"/>
          </p:cNvSpPr>
          <p:nvPr/>
        </p:nvSpPr>
        <p:spPr bwMode="auto">
          <a:xfrm>
            <a:off x="6750050" y="3173413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3" name="Rectangle 43"/>
          <p:cNvSpPr>
            <a:spLocks noChangeArrowheads="1"/>
          </p:cNvSpPr>
          <p:nvPr/>
        </p:nvSpPr>
        <p:spPr bwMode="auto">
          <a:xfrm>
            <a:off x="3990975" y="3408363"/>
            <a:ext cx="519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(LOC)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4" name="Rectangle 44"/>
          <p:cNvSpPr>
            <a:spLocks noChangeArrowheads="1"/>
          </p:cNvSpPr>
          <p:nvPr/>
        </p:nvSpPr>
        <p:spPr bwMode="auto">
          <a:xfrm>
            <a:off x="5946775" y="3408363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5" name="Rectangle 45"/>
          <p:cNvSpPr>
            <a:spLocks noChangeArrowheads="1"/>
          </p:cNvSpPr>
          <p:nvPr/>
        </p:nvSpPr>
        <p:spPr bwMode="auto">
          <a:xfrm>
            <a:off x="6261100" y="3408363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6" name="Rectangle 46"/>
          <p:cNvSpPr>
            <a:spLocks noChangeArrowheads="1"/>
          </p:cNvSpPr>
          <p:nvPr/>
        </p:nvSpPr>
        <p:spPr bwMode="auto">
          <a:xfrm>
            <a:off x="6477000" y="3408363"/>
            <a:ext cx="4968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[LOC]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7" name="Rectangle 47"/>
          <p:cNvSpPr>
            <a:spLocks noChangeArrowheads="1"/>
          </p:cNvSpPr>
          <p:nvPr/>
        </p:nvSpPr>
        <p:spPr bwMode="auto">
          <a:xfrm>
            <a:off x="2268538" y="3779838"/>
            <a:ext cx="466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Index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8" name="Rectangle 48"/>
          <p:cNvSpPr>
            <a:spLocks noChangeArrowheads="1"/>
          </p:cNvSpPr>
          <p:nvPr/>
        </p:nvSpPr>
        <p:spPr bwMode="auto">
          <a:xfrm>
            <a:off x="3990975" y="3779838"/>
            <a:ext cx="328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X(R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89" name="Rectangle 49"/>
          <p:cNvSpPr>
            <a:spLocks noChangeArrowheads="1"/>
          </p:cNvSpPr>
          <p:nvPr/>
        </p:nvSpPr>
        <p:spPr bwMode="auto">
          <a:xfrm>
            <a:off x="4343400" y="3779838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0" name="Rectangle 50"/>
          <p:cNvSpPr>
            <a:spLocks noChangeArrowheads="1"/>
          </p:cNvSpPr>
          <p:nvPr/>
        </p:nvSpPr>
        <p:spPr bwMode="auto">
          <a:xfrm>
            <a:off x="4402138" y="3779838"/>
            <a:ext cx="63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1" name="Rectangle 51"/>
          <p:cNvSpPr>
            <a:spLocks noChangeArrowheads="1"/>
          </p:cNvSpPr>
          <p:nvPr/>
        </p:nvSpPr>
        <p:spPr bwMode="auto">
          <a:xfrm>
            <a:off x="5946775" y="3779838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2" name="Rectangle 52"/>
          <p:cNvSpPr>
            <a:spLocks noChangeArrowheads="1"/>
          </p:cNvSpPr>
          <p:nvPr/>
        </p:nvSpPr>
        <p:spPr bwMode="auto">
          <a:xfrm>
            <a:off x="6261100" y="3779838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3" name="Rectangle 53"/>
          <p:cNvSpPr>
            <a:spLocks noChangeArrowheads="1"/>
          </p:cNvSpPr>
          <p:nvPr/>
        </p:nvSpPr>
        <p:spPr bwMode="auto">
          <a:xfrm>
            <a:off x="6477000" y="3779838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4" name="Rectangle 54"/>
          <p:cNvSpPr>
            <a:spLocks noChangeArrowheads="1"/>
          </p:cNvSpPr>
          <p:nvPr/>
        </p:nvSpPr>
        <p:spPr bwMode="auto">
          <a:xfrm>
            <a:off x="6672263" y="3779838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5" name="Rectangle 55"/>
          <p:cNvSpPr>
            <a:spLocks noChangeArrowheads="1"/>
          </p:cNvSpPr>
          <p:nvPr/>
        </p:nvSpPr>
        <p:spPr bwMode="auto">
          <a:xfrm>
            <a:off x="6750050" y="3779838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6" name="Rectangle 56"/>
          <p:cNvSpPr>
            <a:spLocks noChangeArrowheads="1"/>
          </p:cNvSpPr>
          <p:nvPr/>
        </p:nvSpPr>
        <p:spPr bwMode="auto">
          <a:xfrm>
            <a:off x="6867525" y="3779838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+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7" name="Rectangle 57"/>
          <p:cNvSpPr>
            <a:spLocks noChangeArrowheads="1"/>
          </p:cNvSpPr>
          <p:nvPr/>
        </p:nvSpPr>
        <p:spPr bwMode="auto">
          <a:xfrm>
            <a:off x="7054850" y="3779838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X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8" name="Rectangle 58"/>
          <p:cNvSpPr>
            <a:spLocks noChangeArrowheads="1"/>
          </p:cNvSpPr>
          <p:nvPr/>
        </p:nvSpPr>
        <p:spPr bwMode="auto">
          <a:xfrm>
            <a:off x="2268538" y="4171950"/>
            <a:ext cx="434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Base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299" name="Rectangle 59"/>
          <p:cNvSpPr>
            <a:spLocks noChangeArrowheads="1"/>
          </p:cNvSpPr>
          <p:nvPr/>
        </p:nvSpPr>
        <p:spPr bwMode="auto">
          <a:xfrm>
            <a:off x="2717800" y="4171950"/>
            <a:ext cx="339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with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0" name="Rectangle 60"/>
          <p:cNvSpPr>
            <a:spLocks noChangeArrowheads="1"/>
          </p:cNvSpPr>
          <p:nvPr/>
        </p:nvSpPr>
        <p:spPr bwMode="auto">
          <a:xfrm>
            <a:off x="3130550" y="4171950"/>
            <a:ext cx="45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index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1" name="Rectangle 61"/>
          <p:cNvSpPr>
            <a:spLocks noChangeArrowheads="1"/>
          </p:cNvSpPr>
          <p:nvPr/>
        </p:nvSpPr>
        <p:spPr bwMode="auto">
          <a:xfrm>
            <a:off x="3990975" y="4171950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(R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2" name="Rectangle 62"/>
          <p:cNvSpPr>
            <a:spLocks noChangeArrowheads="1"/>
          </p:cNvSpPr>
          <p:nvPr/>
        </p:nvSpPr>
        <p:spPr bwMode="auto">
          <a:xfrm>
            <a:off x="4205288" y="4171950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3" name="Rectangle 63"/>
          <p:cNvSpPr>
            <a:spLocks noChangeArrowheads="1"/>
          </p:cNvSpPr>
          <p:nvPr/>
        </p:nvSpPr>
        <p:spPr bwMode="auto">
          <a:xfrm>
            <a:off x="4284663" y="4171950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,R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4" name="Rectangle 64"/>
          <p:cNvSpPr>
            <a:spLocks noChangeArrowheads="1"/>
          </p:cNvSpPr>
          <p:nvPr/>
        </p:nvSpPr>
        <p:spPr bwMode="auto">
          <a:xfrm>
            <a:off x="4479925" y="4171950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j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5" name="Rectangle 65"/>
          <p:cNvSpPr>
            <a:spLocks noChangeArrowheads="1"/>
          </p:cNvSpPr>
          <p:nvPr/>
        </p:nvSpPr>
        <p:spPr bwMode="auto">
          <a:xfrm>
            <a:off x="4576763" y="4171950"/>
            <a:ext cx="63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6" name="Rectangle 66"/>
          <p:cNvSpPr>
            <a:spLocks noChangeArrowheads="1"/>
          </p:cNvSpPr>
          <p:nvPr/>
        </p:nvSpPr>
        <p:spPr bwMode="auto">
          <a:xfrm>
            <a:off x="5946775" y="4171950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7" name="Rectangle 67"/>
          <p:cNvSpPr>
            <a:spLocks noChangeArrowheads="1"/>
          </p:cNvSpPr>
          <p:nvPr/>
        </p:nvSpPr>
        <p:spPr bwMode="auto">
          <a:xfrm>
            <a:off x="6261100" y="4171950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8" name="Rectangle 68"/>
          <p:cNvSpPr>
            <a:spLocks noChangeArrowheads="1"/>
          </p:cNvSpPr>
          <p:nvPr/>
        </p:nvSpPr>
        <p:spPr bwMode="auto">
          <a:xfrm>
            <a:off x="6477000" y="4171950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09" name="Rectangle 69"/>
          <p:cNvSpPr>
            <a:spLocks noChangeArrowheads="1"/>
          </p:cNvSpPr>
          <p:nvPr/>
        </p:nvSpPr>
        <p:spPr bwMode="auto">
          <a:xfrm>
            <a:off x="6672263" y="4171950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0" name="Rectangle 70"/>
          <p:cNvSpPr>
            <a:spLocks noChangeArrowheads="1"/>
          </p:cNvSpPr>
          <p:nvPr/>
        </p:nvSpPr>
        <p:spPr bwMode="auto">
          <a:xfrm>
            <a:off x="6750050" y="4171950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1" name="Rectangle 71"/>
          <p:cNvSpPr>
            <a:spLocks noChangeArrowheads="1"/>
          </p:cNvSpPr>
          <p:nvPr/>
        </p:nvSpPr>
        <p:spPr bwMode="auto">
          <a:xfrm>
            <a:off x="6867525" y="4171950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+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2" name="Rectangle 72"/>
          <p:cNvSpPr>
            <a:spLocks noChangeArrowheads="1"/>
          </p:cNvSpPr>
          <p:nvPr/>
        </p:nvSpPr>
        <p:spPr bwMode="auto">
          <a:xfrm>
            <a:off x="7054850" y="4171950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3" name="Rectangle 73"/>
          <p:cNvSpPr>
            <a:spLocks noChangeArrowheads="1"/>
          </p:cNvSpPr>
          <p:nvPr/>
        </p:nvSpPr>
        <p:spPr bwMode="auto">
          <a:xfrm>
            <a:off x="7250113" y="4171950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j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4" name="Rectangle 74"/>
          <p:cNvSpPr>
            <a:spLocks noChangeArrowheads="1"/>
          </p:cNvSpPr>
          <p:nvPr/>
        </p:nvSpPr>
        <p:spPr bwMode="auto">
          <a:xfrm>
            <a:off x="7327900" y="4171950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5" name="Rectangle 75"/>
          <p:cNvSpPr>
            <a:spLocks noChangeArrowheads="1"/>
          </p:cNvSpPr>
          <p:nvPr/>
        </p:nvSpPr>
        <p:spPr bwMode="auto">
          <a:xfrm>
            <a:off x="2268538" y="4543425"/>
            <a:ext cx="434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Base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6" name="Rectangle 76"/>
          <p:cNvSpPr>
            <a:spLocks noChangeArrowheads="1"/>
          </p:cNvSpPr>
          <p:nvPr/>
        </p:nvSpPr>
        <p:spPr bwMode="auto">
          <a:xfrm>
            <a:off x="2717800" y="4543425"/>
            <a:ext cx="339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with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7" name="Rectangle 77"/>
          <p:cNvSpPr>
            <a:spLocks noChangeArrowheads="1"/>
          </p:cNvSpPr>
          <p:nvPr/>
        </p:nvSpPr>
        <p:spPr bwMode="auto">
          <a:xfrm>
            <a:off x="3130550" y="4543425"/>
            <a:ext cx="45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index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8" name="Rectangle 78"/>
          <p:cNvSpPr>
            <a:spLocks noChangeArrowheads="1"/>
          </p:cNvSpPr>
          <p:nvPr/>
        </p:nvSpPr>
        <p:spPr bwMode="auto">
          <a:xfrm>
            <a:off x="3990975" y="4543425"/>
            <a:ext cx="328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X(R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19" name="Rectangle 79"/>
          <p:cNvSpPr>
            <a:spLocks noChangeArrowheads="1"/>
          </p:cNvSpPr>
          <p:nvPr/>
        </p:nvSpPr>
        <p:spPr bwMode="auto">
          <a:xfrm>
            <a:off x="4343400" y="4543425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0" name="Rectangle 80"/>
          <p:cNvSpPr>
            <a:spLocks noChangeArrowheads="1"/>
          </p:cNvSpPr>
          <p:nvPr/>
        </p:nvSpPr>
        <p:spPr bwMode="auto">
          <a:xfrm>
            <a:off x="4402138" y="4543425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,R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1" name="Rectangle 81"/>
          <p:cNvSpPr>
            <a:spLocks noChangeArrowheads="1"/>
          </p:cNvSpPr>
          <p:nvPr/>
        </p:nvSpPr>
        <p:spPr bwMode="auto">
          <a:xfrm>
            <a:off x="4597400" y="4543425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j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2" name="Rectangle 82"/>
          <p:cNvSpPr>
            <a:spLocks noChangeArrowheads="1"/>
          </p:cNvSpPr>
          <p:nvPr/>
        </p:nvSpPr>
        <p:spPr bwMode="auto">
          <a:xfrm>
            <a:off x="4695825" y="4543425"/>
            <a:ext cx="63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3" name="Rectangle 83"/>
          <p:cNvSpPr>
            <a:spLocks noChangeArrowheads="1"/>
          </p:cNvSpPr>
          <p:nvPr/>
        </p:nvSpPr>
        <p:spPr bwMode="auto">
          <a:xfrm>
            <a:off x="5946775" y="4543425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4" name="Rectangle 84"/>
          <p:cNvSpPr>
            <a:spLocks noChangeArrowheads="1"/>
          </p:cNvSpPr>
          <p:nvPr/>
        </p:nvSpPr>
        <p:spPr bwMode="auto">
          <a:xfrm>
            <a:off x="6261100" y="4543425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5" name="Rectangle 85"/>
          <p:cNvSpPr>
            <a:spLocks noChangeArrowheads="1"/>
          </p:cNvSpPr>
          <p:nvPr/>
        </p:nvSpPr>
        <p:spPr bwMode="auto">
          <a:xfrm>
            <a:off x="6477000" y="4543425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6" name="Rectangle 86"/>
          <p:cNvSpPr>
            <a:spLocks noChangeArrowheads="1"/>
          </p:cNvSpPr>
          <p:nvPr/>
        </p:nvSpPr>
        <p:spPr bwMode="auto">
          <a:xfrm>
            <a:off x="6672263" y="4543425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7" name="Rectangle 87"/>
          <p:cNvSpPr>
            <a:spLocks noChangeArrowheads="1"/>
          </p:cNvSpPr>
          <p:nvPr/>
        </p:nvSpPr>
        <p:spPr bwMode="auto">
          <a:xfrm>
            <a:off x="6750050" y="4543425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8" name="Rectangle 88"/>
          <p:cNvSpPr>
            <a:spLocks noChangeArrowheads="1"/>
          </p:cNvSpPr>
          <p:nvPr/>
        </p:nvSpPr>
        <p:spPr bwMode="auto">
          <a:xfrm>
            <a:off x="6867525" y="4543425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+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29" name="Rectangle 89"/>
          <p:cNvSpPr>
            <a:spLocks noChangeArrowheads="1"/>
          </p:cNvSpPr>
          <p:nvPr/>
        </p:nvSpPr>
        <p:spPr bwMode="auto">
          <a:xfrm>
            <a:off x="7054850" y="4543425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0" name="Rectangle 90"/>
          <p:cNvSpPr>
            <a:spLocks noChangeArrowheads="1"/>
          </p:cNvSpPr>
          <p:nvPr/>
        </p:nvSpPr>
        <p:spPr bwMode="auto">
          <a:xfrm>
            <a:off x="7250113" y="4543425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j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1" name="Rectangle 91"/>
          <p:cNvSpPr>
            <a:spLocks noChangeArrowheads="1"/>
          </p:cNvSpPr>
          <p:nvPr/>
        </p:nvSpPr>
        <p:spPr bwMode="auto">
          <a:xfrm>
            <a:off x="7327900" y="4543425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2" name="Rectangle 92"/>
          <p:cNvSpPr>
            <a:spLocks noChangeArrowheads="1"/>
          </p:cNvSpPr>
          <p:nvPr/>
        </p:nvSpPr>
        <p:spPr bwMode="auto">
          <a:xfrm>
            <a:off x="7464425" y="4543425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+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3" name="Rectangle 93"/>
          <p:cNvSpPr>
            <a:spLocks noChangeArrowheads="1"/>
          </p:cNvSpPr>
          <p:nvPr/>
        </p:nvSpPr>
        <p:spPr bwMode="auto">
          <a:xfrm>
            <a:off x="7680325" y="4543425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X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4" name="Rectangle 94"/>
          <p:cNvSpPr>
            <a:spLocks noChangeArrowheads="1"/>
          </p:cNvSpPr>
          <p:nvPr/>
        </p:nvSpPr>
        <p:spPr bwMode="auto">
          <a:xfrm>
            <a:off x="2386013" y="4778375"/>
            <a:ext cx="3190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and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5" name="Rectangle 95"/>
          <p:cNvSpPr>
            <a:spLocks noChangeArrowheads="1"/>
          </p:cNvSpPr>
          <p:nvPr/>
        </p:nvSpPr>
        <p:spPr bwMode="auto">
          <a:xfrm>
            <a:off x="2738438" y="4778375"/>
            <a:ext cx="46513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offset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6" name="Rectangle 96"/>
          <p:cNvSpPr>
            <a:spLocks noChangeArrowheads="1"/>
          </p:cNvSpPr>
          <p:nvPr/>
        </p:nvSpPr>
        <p:spPr bwMode="auto">
          <a:xfrm>
            <a:off x="2268538" y="5168900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Relative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7" name="Rectangle 97"/>
          <p:cNvSpPr>
            <a:spLocks noChangeArrowheads="1"/>
          </p:cNvSpPr>
          <p:nvPr/>
        </p:nvSpPr>
        <p:spPr bwMode="auto">
          <a:xfrm>
            <a:off x="3990975" y="5168900"/>
            <a:ext cx="519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X(PC)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8" name="Rectangle 98"/>
          <p:cNvSpPr>
            <a:spLocks noChangeArrowheads="1"/>
          </p:cNvSpPr>
          <p:nvPr/>
        </p:nvSpPr>
        <p:spPr bwMode="auto">
          <a:xfrm>
            <a:off x="5946775" y="5168900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39" name="Rectangle 99"/>
          <p:cNvSpPr>
            <a:spLocks noChangeArrowheads="1"/>
          </p:cNvSpPr>
          <p:nvPr/>
        </p:nvSpPr>
        <p:spPr bwMode="auto">
          <a:xfrm>
            <a:off x="6261100" y="5168900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0" name="Rectangle 100"/>
          <p:cNvSpPr>
            <a:spLocks noChangeArrowheads="1"/>
          </p:cNvSpPr>
          <p:nvPr/>
        </p:nvSpPr>
        <p:spPr bwMode="auto">
          <a:xfrm>
            <a:off x="6477000" y="5168900"/>
            <a:ext cx="3698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[PC]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1" name="Rectangle 101"/>
          <p:cNvSpPr>
            <a:spLocks noChangeArrowheads="1"/>
          </p:cNvSpPr>
          <p:nvPr/>
        </p:nvSpPr>
        <p:spPr bwMode="auto">
          <a:xfrm>
            <a:off x="6926263" y="5168900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+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2" name="Rectangle 102"/>
          <p:cNvSpPr>
            <a:spLocks noChangeArrowheads="1"/>
          </p:cNvSpPr>
          <p:nvPr/>
        </p:nvSpPr>
        <p:spPr bwMode="auto">
          <a:xfrm>
            <a:off x="7113588" y="5168900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X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3" name="Rectangle 103"/>
          <p:cNvSpPr>
            <a:spLocks noChangeArrowheads="1"/>
          </p:cNvSpPr>
          <p:nvPr/>
        </p:nvSpPr>
        <p:spPr bwMode="auto">
          <a:xfrm>
            <a:off x="2209800" y="5561013"/>
            <a:ext cx="1177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Autoincremen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4" name="Rectangle 104"/>
          <p:cNvSpPr>
            <a:spLocks noChangeArrowheads="1"/>
          </p:cNvSpPr>
          <p:nvPr/>
        </p:nvSpPr>
        <p:spPr bwMode="auto">
          <a:xfrm>
            <a:off x="3376613" y="5561013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t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5" name="Rectangle 105"/>
          <p:cNvSpPr>
            <a:spLocks noChangeArrowheads="1"/>
          </p:cNvSpPr>
          <p:nvPr/>
        </p:nvSpPr>
        <p:spPr bwMode="auto">
          <a:xfrm>
            <a:off x="3990975" y="5561013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(R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6" name="Rectangle 106"/>
          <p:cNvSpPr>
            <a:spLocks noChangeArrowheads="1"/>
          </p:cNvSpPr>
          <p:nvPr/>
        </p:nvSpPr>
        <p:spPr bwMode="auto">
          <a:xfrm>
            <a:off x="4205288" y="5561013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7" name="Rectangle 107"/>
          <p:cNvSpPr>
            <a:spLocks noChangeArrowheads="1"/>
          </p:cNvSpPr>
          <p:nvPr/>
        </p:nvSpPr>
        <p:spPr bwMode="auto">
          <a:xfrm>
            <a:off x="4284663" y="5561013"/>
            <a:ext cx="1746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)+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8" name="Rectangle 108"/>
          <p:cNvSpPr>
            <a:spLocks noChangeArrowheads="1"/>
          </p:cNvSpPr>
          <p:nvPr/>
        </p:nvSpPr>
        <p:spPr bwMode="auto">
          <a:xfrm>
            <a:off x="5946775" y="5561013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49" name="Rectangle 109"/>
          <p:cNvSpPr>
            <a:spLocks noChangeArrowheads="1"/>
          </p:cNvSpPr>
          <p:nvPr/>
        </p:nvSpPr>
        <p:spPr bwMode="auto">
          <a:xfrm>
            <a:off x="6261100" y="5561013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0" name="Rectangle 110"/>
          <p:cNvSpPr>
            <a:spLocks noChangeArrowheads="1"/>
          </p:cNvSpPr>
          <p:nvPr/>
        </p:nvSpPr>
        <p:spPr bwMode="auto">
          <a:xfrm>
            <a:off x="6477000" y="5561013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1" name="Rectangle 111"/>
          <p:cNvSpPr>
            <a:spLocks noChangeArrowheads="1"/>
          </p:cNvSpPr>
          <p:nvPr/>
        </p:nvSpPr>
        <p:spPr bwMode="auto">
          <a:xfrm>
            <a:off x="6672263" y="5561013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2" name="Rectangle 112"/>
          <p:cNvSpPr>
            <a:spLocks noChangeArrowheads="1"/>
          </p:cNvSpPr>
          <p:nvPr/>
        </p:nvSpPr>
        <p:spPr bwMode="auto">
          <a:xfrm>
            <a:off x="6750050" y="5561013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3" name="Rectangle 113"/>
          <p:cNvSpPr>
            <a:spLocks noChangeArrowheads="1"/>
          </p:cNvSpPr>
          <p:nvPr/>
        </p:nvSpPr>
        <p:spPr bwMode="auto">
          <a:xfrm>
            <a:off x="6867525" y="5561013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;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4" name="Rectangle 114"/>
          <p:cNvSpPr>
            <a:spLocks noChangeArrowheads="1"/>
          </p:cNvSpPr>
          <p:nvPr/>
        </p:nvSpPr>
        <p:spPr bwMode="auto">
          <a:xfrm>
            <a:off x="6019800" y="5775325"/>
            <a:ext cx="7953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Incremen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5" name="Rectangle 115"/>
          <p:cNvSpPr>
            <a:spLocks noChangeArrowheads="1"/>
          </p:cNvSpPr>
          <p:nvPr/>
        </p:nvSpPr>
        <p:spPr bwMode="auto">
          <a:xfrm>
            <a:off x="6808788" y="5775325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t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6" name="Rectangle 116"/>
          <p:cNvSpPr>
            <a:spLocks noChangeArrowheads="1"/>
          </p:cNvSpPr>
          <p:nvPr/>
        </p:nvSpPr>
        <p:spPr bwMode="auto">
          <a:xfrm>
            <a:off x="6946900" y="5775325"/>
            <a:ext cx="138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7" name="Rectangle 117"/>
          <p:cNvSpPr>
            <a:spLocks noChangeArrowheads="1"/>
          </p:cNvSpPr>
          <p:nvPr/>
        </p:nvSpPr>
        <p:spPr bwMode="auto">
          <a:xfrm>
            <a:off x="7102475" y="5775325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8" name="Rectangle 118"/>
          <p:cNvSpPr>
            <a:spLocks noChangeArrowheads="1"/>
          </p:cNvSpPr>
          <p:nvPr/>
        </p:nvSpPr>
        <p:spPr bwMode="auto">
          <a:xfrm>
            <a:off x="2268538" y="6167438"/>
            <a:ext cx="1293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Autodecrement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59" name="Rectangle 119"/>
          <p:cNvSpPr>
            <a:spLocks noChangeArrowheads="1"/>
          </p:cNvSpPr>
          <p:nvPr/>
        </p:nvSpPr>
        <p:spPr bwMode="auto">
          <a:xfrm>
            <a:off x="4146550" y="6167438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(R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0" name="Rectangle 120"/>
          <p:cNvSpPr>
            <a:spLocks noChangeArrowheads="1"/>
          </p:cNvSpPr>
          <p:nvPr/>
        </p:nvSpPr>
        <p:spPr bwMode="auto">
          <a:xfrm>
            <a:off x="4362450" y="6167438"/>
            <a:ext cx="42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1" name="Rectangle 121"/>
          <p:cNvSpPr>
            <a:spLocks noChangeArrowheads="1"/>
          </p:cNvSpPr>
          <p:nvPr/>
        </p:nvSpPr>
        <p:spPr bwMode="auto">
          <a:xfrm>
            <a:off x="4440238" y="6167438"/>
            <a:ext cx="63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)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2" name="Rectangle 122"/>
          <p:cNvSpPr>
            <a:spLocks noChangeArrowheads="1"/>
          </p:cNvSpPr>
          <p:nvPr/>
        </p:nvSpPr>
        <p:spPr bwMode="auto">
          <a:xfrm>
            <a:off x="5867400" y="6167438"/>
            <a:ext cx="8810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Decremen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3" name="Rectangle 123"/>
          <p:cNvSpPr>
            <a:spLocks noChangeArrowheads="1"/>
          </p:cNvSpPr>
          <p:nvPr/>
        </p:nvSpPr>
        <p:spPr bwMode="auto">
          <a:xfrm>
            <a:off x="6731000" y="6167438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t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4" name="Rectangle 124"/>
          <p:cNvSpPr>
            <a:spLocks noChangeArrowheads="1"/>
          </p:cNvSpPr>
          <p:nvPr/>
        </p:nvSpPr>
        <p:spPr bwMode="auto">
          <a:xfrm>
            <a:off x="6867525" y="6167438"/>
            <a:ext cx="138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5" name="Rectangle 125"/>
          <p:cNvSpPr>
            <a:spLocks noChangeArrowheads="1"/>
          </p:cNvSpPr>
          <p:nvPr/>
        </p:nvSpPr>
        <p:spPr bwMode="auto">
          <a:xfrm>
            <a:off x="7024688" y="6167438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6" name="Rectangle 126"/>
          <p:cNvSpPr>
            <a:spLocks noChangeArrowheads="1"/>
          </p:cNvSpPr>
          <p:nvPr/>
        </p:nvSpPr>
        <p:spPr bwMode="auto">
          <a:xfrm>
            <a:off x="7161213" y="6167438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;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7" name="Rectangle 127"/>
          <p:cNvSpPr>
            <a:spLocks noChangeArrowheads="1"/>
          </p:cNvSpPr>
          <p:nvPr/>
        </p:nvSpPr>
        <p:spPr bwMode="auto">
          <a:xfrm>
            <a:off x="6083300" y="6400800"/>
            <a:ext cx="25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EA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8" name="Rectangle 128"/>
          <p:cNvSpPr>
            <a:spLocks noChangeArrowheads="1"/>
          </p:cNvSpPr>
          <p:nvPr/>
        </p:nvSpPr>
        <p:spPr bwMode="auto">
          <a:xfrm>
            <a:off x="6407150" y="6400800"/>
            <a:ext cx="111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=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69" name="Rectangle 129"/>
          <p:cNvSpPr>
            <a:spLocks noChangeArrowheads="1"/>
          </p:cNvSpPr>
          <p:nvPr/>
        </p:nvSpPr>
        <p:spPr bwMode="auto">
          <a:xfrm>
            <a:off x="6623050" y="6400800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[R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70" name="Rectangle 130"/>
          <p:cNvSpPr>
            <a:spLocks noChangeArrowheads="1"/>
          </p:cNvSpPr>
          <p:nvPr/>
        </p:nvSpPr>
        <p:spPr bwMode="auto">
          <a:xfrm>
            <a:off x="6818313" y="6400800"/>
            <a:ext cx="428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 i="1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i</a:t>
            </a:r>
            <a:endParaRPr lang="en-US" altLang="zh-CN" sz="24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71" name="Rectangle 131"/>
          <p:cNvSpPr>
            <a:spLocks noChangeArrowheads="1"/>
          </p:cNvSpPr>
          <p:nvPr/>
        </p:nvSpPr>
        <p:spPr bwMode="auto">
          <a:xfrm>
            <a:off x="6877050" y="6400800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Computer Modern" charset="0"/>
                <a:ea typeface="SimSun" pitchFamily="2" charset="-122"/>
              </a:rPr>
              <a:t>]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8372" name="Rectangle 132"/>
          <p:cNvSpPr>
            <a:spLocks noChangeArrowheads="1"/>
          </p:cNvSpPr>
          <p:nvPr/>
        </p:nvSpPr>
        <p:spPr bwMode="auto">
          <a:xfrm>
            <a:off x="2268538" y="6811963"/>
            <a:ext cx="5654675" cy="1587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8373" name="Text Box 133"/>
          <p:cNvSpPr txBox="1">
            <a:spLocks noChangeArrowheads="1"/>
          </p:cNvSpPr>
          <p:nvPr/>
        </p:nvSpPr>
        <p:spPr bwMode="auto">
          <a:xfrm>
            <a:off x="3922713" y="6115050"/>
            <a:ext cx="406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500">
                <a:latin typeface="Times New Roman" pitchFamily="18" charset="0"/>
                <a:ea typeface="SimSun" pitchFamily="2" charset="-122"/>
                <a:sym typeface="Symbol" pitchFamily="18" charset="2"/>
              </a:rPr>
              <a:t></a:t>
            </a:r>
            <a:endParaRPr lang="zh-CN" altLang="en-US" sz="1500">
              <a:latin typeface="Times New Roman" pitchFamily="18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Indexing and Arrays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600">
                <a:ea typeface="SimSun" pitchFamily="2" charset="-122"/>
              </a:rPr>
              <a:t>Index mode – the effective address of the operand is generated by adding a constant value to the contents of a register.</a:t>
            </a:r>
          </a:p>
          <a:p>
            <a:r>
              <a:rPr lang="en-US" altLang="zh-CN" sz="2600">
                <a:ea typeface="SimSun" pitchFamily="2" charset="-122"/>
              </a:rPr>
              <a:t>Index register</a:t>
            </a:r>
          </a:p>
          <a:p>
            <a:r>
              <a:rPr lang="en-US" altLang="zh-CN" sz="2600">
                <a:ea typeface="SimSun" pitchFamily="2" charset="-122"/>
              </a:rPr>
              <a:t>X(R</a:t>
            </a:r>
            <a:r>
              <a:rPr lang="en-US" altLang="zh-CN" sz="2600" baseline="-25000">
                <a:ea typeface="SimSun" pitchFamily="2" charset="-122"/>
              </a:rPr>
              <a:t>i</a:t>
            </a:r>
            <a:r>
              <a:rPr lang="en-US" altLang="zh-CN" sz="2600">
                <a:ea typeface="SimSun" pitchFamily="2" charset="-122"/>
              </a:rPr>
              <a:t>): EA = X + [R</a:t>
            </a:r>
            <a:r>
              <a:rPr lang="en-US" altLang="zh-CN" sz="2600" baseline="-25000">
                <a:ea typeface="SimSun" pitchFamily="2" charset="-122"/>
              </a:rPr>
              <a:t>i</a:t>
            </a:r>
            <a:r>
              <a:rPr lang="en-US" altLang="zh-CN" sz="2600">
                <a:ea typeface="SimSun" pitchFamily="2" charset="-122"/>
              </a:rPr>
              <a:t>]</a:t>
            </a:r>
          </a:p>
          <a:p>
            <a:r>
              <a:rPr lang="en-US" altLang="zh-CN" sz="2600">
                <a:ea typeface="SimSun" pitchFamily="2" charset="-122"/>
              </a:rPr>
              <a:t>The constant X may be given either as an explicit number or as a symbolic name representing a numerical value.</a:t>
            </a:r>
          </a:p>
          <a:p>
            <a:r>
              <a:rPr lang="en-US" altLang="zh-CN" sz="2600">
                <a:ea typeface="SimSun" pitchFamily="2" charset="-122"/>
              </a:rPr>
              <a:t>If X is shorter than a word, sign-extension is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Indexing and Arrays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In general, the Index mode facilitates access to an operand whose location is defined relative to a reference point within the data structure in which the operand appears.</a:t>
            </a:r>
          </a:p>
          <a:p>
            <a:r>
              <a:rPr lang="en-US" altLang="zh-CN">
                <a:ea typeface="SimSun" pitchFamily="2" charset="-122"/>
              </a:rPr>
              <a:t>Several variations:</a:t>
            </a:r>
            <a:br>
              <a:rPr lang="en-US" altLang="zh-CN">
                <a:ea typeface="SimSun" pitchFamily="2" charset="-122"/>
              </a:rPr>
            </a:br>
            <a:r>
              <a:rPr lang="en-US" altLang="zh-CN">
                <a:ea typeface="SimSun" pitchFamily="2" charset="-122"/>
              </a:rPr>
              <a:t>(R</a:t>
            </a:r>
            <a:r>
              <a:rPr lang="en-US" altLang="zh-CN" baseline="-25000">
                <a:ea typeface="SimSun" pitchFamily="2" charset="-122"/>
              </a:rPr>
              <a:t>i</a:t>
            </a:r>
            <a:r>
              <a:rPr lang="en-US" altLang="zh-CN">
                <a:ea typeface="SimSun" pitchFamily="2" charset="-122"/>
              </a:rPr>
              <a:t>, 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): EA = [R</a:t>
            </a:r>
            <a:r>
              <a:rPr lang="en-US" altLang="zh-CN" baseline="-25000">
                <a:ea typeface="SimSun" pitchFamily="2" charset="-122"/>
              </a:rPr>
              <a:t>i</a:t>
            </a:r>
            <a:r>
              <a:rPr lang="en-US" altLang="zh-CN">
                <a:ea typeface="SimSun" pitchFamily="2" charset="-122"/>
              </a:rPr>
              <a:t>] + [R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]</a:t>
            </a:r>
            <a:br>
              <a:rPr lang="en-US" altLang="zh-CN">
                <a:ea typeface="SimSun" pitchFamily="2" charset="-122"/>
              </a:rPr>
            </a:br>
            <a:r>
              <a:rPr lang="en-US" altLang="zh-CN">
                <a:ea typeface="SimSun" pitchFamily="2" charset="-122"/>
              </a:rPr>
              <a:t>X(R</a:t>
            </a:r>
            <a:r>
              <a:rPr lang="en-US" altLang="zh-CN" baseline="-25000">
                <a:ea typeface="SimSun" pitchFamily="2" charset="-122"/>
              </a:rPr>
              <a:t>i</a:t>
            </a:r>
            <a:r>
              <a:rPr lang="en-US" altLang="zh-CN">
                <a:ea typeface="SimSun" pitchFamily="2" charset="-122"/>
              </a:rPr>
              <a:t>, 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): EA = X + [R</a:t>
            </a:r>
            <a:r>
              <a:rPr lang="en-US" altLang="zh-CN" baseline="-25000">
                <a:ea typeface="SimSun" pitchFamily="2" charset="-122"/>
              </a:rPr>
              <a:t>i</a:t>
            </a:r>
            <a:r>
              <a:rPr lang="en-US" altLang="zh-CN">
                <a:ea typeface="SimSun" pitchFamily="2" charset="-122"/>
              </a:rPr>
              <a:t>] + [R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Relative Addressing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600">
                <a:ea typeface="SimSun" pitchFamily="2" charset="-122"/>
              </a:rPr>
              <a:t>Relative mode – the effective address is determined by the Index mode using the program counter in place of the general-purpose register.</a:t>
            </a:r>
          </a:p>
          <a:p>
            <a:r>
              <a:rPr lang="en-US" altLang="zh-CN" sz="2600">
                <a:ea typeface="SimSun" pitchFamily="2" charset="-122"/>
              </a:rPr>
              <a:t>X(PC) – note that X is a signed number</a:t>
            </a:r>
          </a:p>
          <a:p>
            <a:r>
              <a:rPr lang="en-US" altLang="zh-CN" sz="2600">
                <a:ea typeface="SimSun" pitchFamily="2" charset="-122"/>
              </a:rPr>
              <a:t>Branch&gt;0        LOOP</a:t>
            </a:r>
          </a:p>
          <a:p>
            <a:r>
              <a:rPr lang="en-US" altLang="zh-CN" sz="2600">
                <a:ea typeface="SimSun" pitchFamily="2" charset="-122"/>
              </a:rPr>
              <a:t>This location is computed by specifying it as an offset from the current value of PC.</a:t>
            </a:r>
          </a:p>
          <a:p>
            <a:r>
              <a:rPr lang="en-US" altLang="zh-CN" sz="2600">
                <a:ea typeface="SimSun" pitchFamily="2" charset="-122"/>
              </a:rPr>
              <a:t>Branch target may be either before or after the branch instruction, the offset is given as a singed num.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Additional Modes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22431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100">
                <a:ea typeface="SimSun" pitchFamily="2" charset="-122"/>
              </a:rPr>
              <a:t>Autoincrement mode – the effective address of the operand is the contents of a register specified in the instruction. After accessing the operand, the contents of this register are automatically incremented to point to the next item in a list.</a:t>
            </a:r>
          </a:p>
          <a:p>
            <a:pPr>
              <a:lnSpc>
                <a:spcPct val="90000"/>
              </a:lnSpc>
            </a:pPr>
            <a:r>
              <a:rPr lang="en-US" altLang="zh-CN" sz="2100">
                <a:ea typeface="SimSun" pitchFamily="2" charset="-122"/>
              </a:rPr>
              <a:t>(R</a:t>
            </a:r>
            <a:r>
              <a:rPr lang="en-US" altLang="zh-CN" sz="2100" baseline="-25000">
                <a:ea typeface="SimSun" pitchFamily="2" charset="-122"/>
              </a:rPr>
              <a:t>i</a:t>
            </a:r>
            <a:r>
              <a:rPr lang="en-US" altLang="zh-CN" sz="2100">
                <a:ea typeface="SimSun" pitchFamily="2" charset="-122"/>
              </a:rPr>
              <a:t>)+. The increment is 1 for byte-sized operands, 2 for 16-bit operands, and 4 for 32-bit operands.</a:t>
            </a:r>
          </a:p>
          <a:p>
            <a:pPr>
              <a:lnSpc>
                <a:spcPct val="90000"/>
              </a:lnSpc>
            </a:pPr>
            <a:r>
              <a:rPr lang="en-US" altLang="zh-CN" sz="2100">
                <a:ea typeface="SimSun" pitchFamily="2" charset="-122"/>
              </a:rPr>
              <a:t>Autodecrement mode: -(R</a:t>
            </a:r>
            <a:r>
              <a:rPr lang="en-US" altLang="zh-CN" sz="2100" baseline="-25000">
                <a:ea typeface="SimSun" pitchFamily="2" charset="-122"/>
              </a:rPr>
              <a:t>i</a:t>
            </a:r>
            <a:r>
              <a:rPr lang="en-US" altLang="zh-CN" sz="2100">
                <a:ea typeface="SimSun" pitchFamily="2" charset="-122"/>
              </a:rPr>
              <a:t>) – decrement first</a:t>
            </a: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4724400" y="4600575"/>
            <a:ext cx="2587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3446463" y="4600575"/>
            <a:ext cx="4841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Clear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38" name="Rectangle 6"/>
          <p:cNvSpPr>
            <a:spLocks noChangeArrowheads="1"/>
          </p:cNvSpPr>
          <p:nvPr/>
        </p:nvSpPr>
        <p:spPr bwMode="auto">
          <a:xfrm>
            <a:off x="4724400" y="5613400"/>
            <a:ext cx="7667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R0,SUM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4724400" y="5106988"/>
            <a:ext cx="2587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R1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4724400" y="4864100"/>
            <a:ext cx="830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(R2)+,R0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685800" y="6561138"/>
            <a:ext cx="8269288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700">
                <a:solidFill>
                  <a:srgbClr val="000000"/>
                </a:solidFill>
                <a:latin typeface="Nimbus Roman No9 L" charset="0"/>
              </a:rPr>
              <a:t>Figure 2.16.  The Autoincrement addressing mode used in the program of Figure 2.12.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2" name="Rectangle 10"/>
          <p:cNvSpPr>
            <a:spLocks noChangeArrowheads="1"/>
          </p:cNvSpPr>
          <p:nvPr/>
        </p:nvSpPr>
        <p:spPr bwMode="auto">
          <a:xfrm>
            <a:off x="6486525" y="4314825"/>
            <a:ext cx="1058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Initialization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3446463" y="5613400"/>
            <a:ext cx="496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Move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4" name="Rectangle 12"/>
          <p:cNvSpPr>
            <a:spLocks noChangeArrowheads="1"/>
          </p:cNvSpPr>
          <p:nvPr/>
        </p:nvSpPr>
        <p:spPr bwMode="auto">
          <a:xfrm>
            <a:off x="2368550" y="4864100"/>
            <a:ext cx="565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LOOP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5" name="Rectangle 13"/>
          <p:cNvSpPr>
            <a:spLocks noChangeArrowheads="1"/>
          </p:cNvSpPr>
          <p:nvPr/>
        </p:nvSpPr>
        <p:spPr bwMode="auto">
          <a:xfrm>
            <a:off x="3446463" y="4864100"/>
            <a:ext cx="360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Add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6" name="Rectangle 14"/>
          <p:cNvSpPr>
            <a:spLocks noChangeArrowheads="1"/>
          </p:cNvSpPr>
          <p:nvPr/>
        </p:nvSpPr>
        <p:spPr bwMode="auto">
          <a:xfrm>
            <a:off x="3446463" y="5106988"/>
            <a:ext cx="993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Decrement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7" name="Rectangle 15"/>
          <p:cNvSpPr>
            <a:spLocks noChangeArrowheads="1"/>
          </p:cNvSpPr>
          <p:nvPr/>
        </p:nvSpPr>
        <p:spPr bwMode="auto">
          <a:xfrm>
            <a:off x="4724400" y="5372100"/>
            <a:ext cx="565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LOOP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48" name="Freeform 16"/>
          <p:cNvSpPr>
            <a:spLocks/>
          </p:cNvSpPr>
          <p:nvPr/>
        </p:nvSpPr>
        <p:spPr bwMode="auto">
          <a:xfrm>
            <a:off x="2058988" y="4975225"/>
            <a:ext cx="133350" cy="44450"/>
          </a:xfrm>
          <a:custGeom>
            <a:avLst/>
            <a:gdLst>
              <a:gd name="T0" fmla="*/ 0 w 6"/>
              <a:gd name="T1" fmla="*/ 2 h 2"/>
              <a:gd name="T2" fmla="*/ 6 w 6"/>
              <a:gd name="T3" fmla="*/ 1 h 2"/>
              <a:gd name="T4" fmla="*/ 0 w 6"/>
              <a:gd name="T5" fmla="*/ 0 h 2"/>
              <a:gd name="T6" fmla="*/ 0 w 6"/>
              <a:gd name="T7" fmla="*/ 1 h 2"/>
              <a:gd name="T8" fmla="*/ 0 w 6"/>
              <a:gd name="T9" fmla="*/ 2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2"/>
              <a:gd name="T17" fmla="*/ 6 w 6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2">
                <a:moveTo>
                  <a:pt x="0" y="2"/>
                </a:moveTo>
                <a:lnTo>
                  <a:pt x="6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49" name="Freeform 17"/>
          <p:cNvSpPr>
            <a:spLocks/>
          </p:cNvSpPr>
          <p:nvPr/>
        </p:nvSpPr>
        <p:spPr bwMode="auto">
          <a:xfrm>
            <a:off x="2058988" y="4975225"/>
            <a:ext cx="133350" cy="44450"/>
          </a:xfrm>
          <a:custGeom>
            <a:avLst/>
            <a:gdLst>
              <a:gd name="T0" fmla="*/ 0 w 84"/>
              <a:gd name="T1" fmla="*/ 28 h 28"/>
              <a:gd name="T2" fmla="*/ 84 w 84"/>
              <a:gd name="T3" fmla="*/ 14 h 28"/>
              <a:gd name="T4" fmla="*/ 0 w 84"/>
              <a:gd name="T5" fmla="*/ 0 h 28"/>
              <a:gd name="T6" fmla="*/ 0 w 84"/>
              <a:gd name="T7" fmla="*/ 14 h 28"/>
              <a:gd name="T8" fmla="*/ 0 w 84"/>
              <a:gd name="T9" fmla="*/ 28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28"/>
              <a:gd name="T17" fmla="*/ 84 w 84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28">
                <a:moveTo>
                  <a:pt x="0" y="28"/>
                </a:moveTo>
                <a:lnTo>
                  <a:pt x="84" y="14"/>
                </a:lnTo>
                <a:lnTo>
                  <a:pt x="0" y="0"/>
                </a:lnTo>
                <a:lnTo>
                  <a:pt x="0" y="14"/>
                </a:lnTo>
                <a:lnTo>
                  <a:pt x="0" y="2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50" name="Freeform 18"/>
          <p:cNvSpPr>
            <a:spLocks/>
          </p:cNvSpPr>
          <p:nvPr/>
        </p:nvSpPr>
        <p:spPr bwMode="auto">
          <a:xfrm>
            <a:off x="1597025" y="4997450"/>
            <a:ext cx="1476375" cy="506413"/>
          </a:xfrm>
          <a:custGeom>
            <a:avLst/>
            <a:gdLst>
              <a:gd name="T0" fmla="*/ 20 w 67"/>
              <a:gd name="T1" fmla="*/ 0 h 23"/>
              <a:gd name="T2" fmla="*/ 0 w 67"/>
              <a:gd name="T3" fmla="*/ 0 h 23"/>
              <a:gd name="T4" fmla="*/ 0 w 67"/>
              <a:gd name="T5" fmla="*/ 23 h 23"/>
              <a:gd name="T6" fmla="*/ 67 w 67"/>
              <a:gd name="T7" fmla="*/ 23 h 23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23"/>
              <a:gd name="T14" fmla="*/ 67 w 67"/>
              <a:gd name="T15" fmla="*/ 23 h 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23">
                <a:moveTo>
                  <a:pt x="20" y="0"/>
                </a:moveTo>
                <a:lnTo>
                  <a:pt x="0" y="0"/>
                </a:lnTo>
                <a:lnTo>
                  <a:pt x="0" y="23"/>
                </a:lnTo>
                <a:lnTo>
                  <a:pt x="67" y="23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51" name="Line 19"/>
          <p:cNvSpPr>
            <a:spLocks noChangeShapeType="1"/>
          </p:cNvSpPr>
          <p:nvPr/>
        </p:nvSpPr>
        <p:spPr bwMode="auto">
          <a:xfrm flipH="1">
            <a:off x="1376363" y="3962400"/>
            <a:ext cx="6343650" cy="1588"/>
          </a:xfrm>
          <a:prstGeom prst="line">
            <a:avLst/>
          </a:prstGeom>
          <a:noFill/>
          <a:ln w="2222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52" name="Line 20"/>
          <p:cNvSpPr>
            <a:spLocks noChangeShapeType="1"/>
          </p:cNvSpPr>
          <p:nvPr/>
        </p:nvSpPr>
        <p:spPr bwMode="auto">
          <a:xfrm flipH="1">
            <a:off x="1376363" y="6010275"/>
            <a:ext cx="6343650" cy="1588"/>
          </a:xfrm>
          <a:prstGeom prst="line">
            <a:avLst/>
          </a:prstGeom>
          <a:noFill/>
          <a:ln w="2222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53" name="Rectangle 21"/>
          <p:cNvSpPr>
            <a:spLocks noChangeArrowheads="1"/>
          </p:cNvSpPr>
          <p:nvPr/>
        </p:nvSpPr>
        <p:spPr bwMode="auto">
          <a:xfrm>
            <a:off x="4724400" y="4337050"/>
            <a:ext cx="1003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#NUM1,R2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54" name="Rectangle 22"/>
          <p:cNvSpPr>
            <a:spLocks noChangeArrowheads="1"/>
          </p:cNvSpPr>
          <p:nvPr/>
        </p:nvSpPr>
        <p:spPr bwMode="auto">
          <a:xfrm>
            <a:off x="4724400" y="4094163"/>
            <a:ext cx="461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N,R1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55" name="Rectangle 23"/>
          <p:cNvSpPr>
            <a:spLocks noChangeArrowheads="1"/>
          </p:cNvSpPr>
          <p:nvPr/>
        </p:nvSpPr>
        <p:spPr bwMode="auto">
          <a:xfrm>
            <a:off x="3446463" y="4094163"/>
            <a:ext cx="496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Move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56" name="Rectangle 24"/>
          <p:cNvSpPr>
            <a:spLocks noChangeArrowheads="1"/>
          </p:cNvSpPr>
          <p:nvPr/>
        </p:nvSpPr>
        <p:spPr bwMode="auto">
          <a:xfrm>
            <a:off x="3446463" y="4337050"/>
            <a:ext cx="496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Move</a:t>
            </a:r>
            <a:endParaRPr lang="en-CA" sz="2400">
              <a:latin typeface="Times New Roman" pitchFamily="18" charset="0"/>
            </a:endParaRPr>
          </a:p>
        </p:txBody>
      </p:sp>
      <p:sp>
        <p:nvSpPr>
          <p:cNvPr id="146457" name="Freeform 25"/>
          <p:cNvSpPr>
            <a:spLocks/>
          </p:cNvSpPr>
          <p:nvPr/>
        </p:nvSpPr>
        <p:spPr bwMode="auto">
          <a:xfrm>
            <a:off x="6288088" y="4116388"/>
            <a:ext cx="87312" cy="352425"/>
          </a:xfrm>
          <a:custGeom>
            <a:avLst/>
            <a:gdLst>
              <a:gd name="T0" fmla="*/ 0 w 4"/>
              <a:gd name="T1" fmla="*/ 0 h 16"/>
              <a:gd name="T2" fmla="*/ 1 w 4"/>
              <a:gd name="T3" fmla="*/ 2 h 16"/>
              <a:gd name="T4" fmla="*/ 2 w 4"/>
              <a:gd name="T5" fmla="*/ 2 h 16"/>
              <a:gd name="T6" fmla="*/ 2 w 4"/>
              <a:gd name="T7" fmla="*/ 3 h 16"/>
              <a:gd name="T8" fmla="*/ 2 w 4"/>
              <a:gd name="T9" fmla="*/ 5 h 16"/>
              <a:gd name="T10" fmla="*/ 2 w 4"/>
              <a:gd name="T11" fmla="*/ 8 h 16"/>
              <a:gd name="T12" fmla="*/ 2 w 4"/>
              <a:gd name="T13" fmla="*/ 11 h 16"/>
              <a:gd name="T14" fmla="*/ 2 w 4"/>
              <a:gd name="T15" fmla="*/ 13 h 16"/>
              <a:gd name="T16" fmla="*/ 2 w 4"/>
              <a:gd name="T17" fmla="*/ 14 h 16"/>
              <a:gd name="T18" fmla="*/ 2 w 4"/>
              <a:gd name="T19" fmla="*/ 14 h 16"/>
              <a:gd name="T20" fmla="*/ 2 w 4"/>
              <a:gd name="T21" fmla="*/ 15 h 16"/>
              <a:gd name="T22" fmla="*/ 3 w 4"/>
              <a:gd name="T23" fmla="*/ 15 h 16"/>
              <a:gd name="T24" fmla="*/ 4 w 4"/>
              <a:gd name="T25" fmla="*/ 16 h 1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"/>
              <a:gd name="T40" fmla="*/ 0 h 16"/>
              <a:gd name="T41" fmla="*/ 4 w 4"/>
              <a:gd name="T42" fmla="*/ 16 h 1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" h="16">
                <a:moveTo>
                  <a:pt x="0" y="0"/>
                </a:move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2" y="8"/>
                </a:lnTo>
                <a:lnTo>
                  <a:pt x="2" y="11"/>
                </a:lnTo>
                <a:lnTo>
                  <a:pt x="2" y="13"/>
                </a:lnTo>
                <a:lnTo>
                  <a:pt x="2" y="14"/>
                </a:lnTo>
                <a:lnTo>
                  <a:pt x="2" y="15"/>
                </a:lnTo>
                <a:lnTo>
                  <a:pt x="3" y="15"/>
                </a:lnTo>
                <a:lnTo>
                  <a:pt x="4" y="16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58" name="Freeform 26"/>
          <p:cNvSpPr>
            <a:spLocks/>
          </p:cNvSpPr>
          <p:nvPr/>
        </p:nvSpPr>
        <p:spPr bwMode="auto">
          <a:xfrm>
            <a:off x="6288088" y="4468813"/>
            <a:ext cx="87312" cy="330200"/>
          </a:xfrm>
          <a:custGeom>
            <a:avLst/>
            <a:gdLst>
              <a:gd name="T0" fmla="*/ 0 w 4"/>
              <a:gd name="T1" fmla="*/ 15 h 15"/>
              <a:gd name="T2" fmla="*/ 1 w 4"/>
              <a:gd name="T3" fmla="*/ 14 h 15"/>
              <a:gd name="T4" fmla="*/ 2 w 4"/>
              <a:gd name="T5" fmla="*/ 13 h 15"/>
              <a:gd name="T6" fmla="*/ 2 w 4"/>
              <a:gd name="T7" fmla="*/ 13 h 15"/>
              <a:gd name="T8" fmla="*/ 2 w 4"/>
              <a:gd name="T9" fmla="*/ 10 h 15"/>
              <a:gd name="T10" fmla="*/ 2 w 4"/>
              <a:gd name="T11" fmla="*/ 8 h 15"/>
              <a:gd name="T12" fmla="*/ 2 w 4"/>
              <a:gd name="T13" fmla="*/ 5 h 15"/>
              <a:gd name="T14" fmla="*/ 2 w 4"/>
              <a:gd name="T15" fmla="*/ 2 h 15"/>
              <a:gd name="T16" fmla="*/ 2 w 4"/>
              <a:gd name="T17" fmla="*/ 2 h 15"/>
              <a:gd name="T18" fmla="*/ 2 w 4"/>
              <a:gd name="T19" fmla="*/ 1 h 15"/>
              <a:gd name="T20" fmla="*/ 3 w 4"/>
              <a:gd name="T21" fmla="*/ 1 h 15"/>
              <a:gd name="T22" fmla="*/ 4 w 4"/>
              <a:gd name="T23" fmla="*/ 0 h 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4"/>
              <a:gd name="T37" fmla="*/ 0 h 15"/>
              <a:gd name="T38" fmla="*/ 4 w 4"/>
              <a:gd name="T39" fmla="*/ 15 h 1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4" h="15">
                <a:moveTo>
                  <a:pt x="0" y="15"/>
                </a:moveTo>
                <a:lnTo>
                  <a:pt x="1" y="14"/>
                </a:lnTo>
                <a:lnTo>
                  <a:pt x="2" y="13"/>
                </a:lnTo>
                <a:lnTo>
                  <a:pt x="2" y="10"/>
                </a:lnTo>
                <a:lnTo>
                  <a:pt x="2" y="8"/>
                </a:lnTo>
                <a:lnTo>
                  <a:pt x="2" y="5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59" name="Rectangle 27"/>
          <p:cNvSpPr>
            <a:spLocks noChangeArrowheads="1"/>
          </p:cNvSpPr>
          <p:nvPr/>
        </p:nvSpPr>
        <p:spPr bwMode="auto">
          <a:xfrm>
            <a:off x="3446463" y="5372100"/>
            <a:ext cx="874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sz="1600">
                <a:solidFill>
                  <a:srgbClr val="000000"/>
                </a:solidFill>
                <a:latin typeface="Nimbus Roman No9 L" charset="0"/>
              </a:rPr>
              <a:t>Branch&gt;0</a:t>
            </a:r>
            <a:endParaRPr lang="en-CA" sz="2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6100">
                <a:ea typeface="SimSun" pitchFamily="2" charset="-122"/>
              </a:rPr>
              <a:t>Assembly Language</a:t>
            </a:r>
          </a:p>
        </p:txBody>
      </p:sp>
      <p:sp>
        <p:nvSpPr>
          <p:cNvPr id="148483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Types of Instructions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1089025"/>
            <a:ext cx="8280400" cy="5046663"/>
          </a:xfrm>
        </p:spPr>
        <p:txBody>
          <a:bodyPr/>
          <a:lstStyle/>
          <a:p>
            <a:r>
              <a:rPr lang="en-US"/>
              <a:t>Data Transfer Instructions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350212" name="Group 4"/>
          <p:cNvGraphicFramePr>
            <a:graphicFrameLocks noGrp="1"/>
          </p:cNvGraphicFramePr>
          <p:nvPr/>
        </p:nvGraphicFramePr>
        <p:xfrm>
          <a:off x="3311525" y="1628775"/>
          <a:ext cx="2519363" cy="3240089"/>
        </p:xfrm>
        <a:graphic>
          <a:graphicData uri="http://schemas.openxmlformats.org/drawingml/2006/table">
            <a:tbl>
              <a:tblPr/>
              <a:tblGrid>
                <a:gridCol w="1260475"/>
                <a:gridCol w="1258888"/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Mnemonic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Load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LD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Store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Move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MOV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Exchange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XCH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IN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OUT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Push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PUSH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Pop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POP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0247" name="AutoShape 39"/>
          <p:cNvSpPr>
            <a:spLocks noChangeArrowheads="1"/>
          </p:cNvSpPr>
          <p:nvPr/>
        </p:nvSpPr>
        <p:spPr bwMode="auto">
          <a:xfrm>
            <a:off x="6732588" y="1628775"/>
            <a:ext cx="1800225" cy="900113"/>
          </a:xfrm>
          <a:prstGeom prst="wedgeRoundRectCallout">
            <a:avLst>
              <a:gd name="adj1" fmla="val -78569"/>
              <a:gd name="adj2" fmla="val -14375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Data value is not modified</a:t>
            </a:r>
          </a:p>
        </p:txBody>
      </p:sp>
      <p:sp>
        <p:nvSpPr>
          <p:cNvPr id="350248" name="Line 40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5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47" grpId="0" animBg="1"/>
      <p:bldP spid="35024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Data Transfer Instructions</a:t>
            </a:r>
          </a:p>
        </p:txBody>
      </p:sp>
      <p:graphicFrame>
        <p:nvGraphicFramePr>
          <p:cNvPr id="351235" name="Group 3"/>
          <p:cNvGraphicFramePr>
            <a:graphicFrameLocks noGrp="1"/>
          </p:cNvGraphicFramePr>
          <p:nvPr/>
        </p:nvGraphicFramePr>
        <p:xfrm>
          <a:off x="304800" y="1295400"/>
          <a:ext cx="8442325" cy="4321177"/>
        </p:xfrm>
        <a:graphic>
          <a:graphicData uri="http://schemas.openxmlformats.org/drawingml/2006/table">
            <a:tbl>
              <a:tblPr/>
              <a:tblGrid>
                <a:gridCol w="3143250"/>
                <a:gridCol w="1851025"/>
                <a:gridCol w="3448050"/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Mode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Assembly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Register Transfer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Direct address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]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Indirect address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@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]]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Relative address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$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+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]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Immediate operand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#NBR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NBR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Index addressing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(X)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ADR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+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XR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]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Register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Register indirect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(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]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Autoincrement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LD   (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)+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AC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],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←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R1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+1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1277" name="Line 45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77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Data Manipulation Instructions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14400"/>
            <a:ext cx="8229600" cy="2482850"/>
          </a:xfrm>
        </p:spPr>
        <p:txBody>
          <a:bodyPr/>
          <a:lstStyle/>
          <a:p>
            <a:r>
              <a:rPr lang="en-US"/>
              <a:t>Arithmetic</a:t>
            </a:r>
          </a:p>
          <a:p>
            <a:r>
              <a:rPr lang="en-US"/>
              <a:t>Logical &amp; Bit Manipulation</a:t>
            </a:r>
          </a:p>
          <a:p>
            <a:r>
              <a:rPr lang="en-US"/>
              <a:t>Shift</a:t>
            </a:r>
          </a:p>
        </p:txBody>
      </p:sp>
      <p:graphicFrame>
        <p:nvGraphicFramePr>
          <p:cNvPr id="352260" name="Group 4"/>
          <p:cNvGraphicFramePr>
            <a:graphicFrameLocks noGrp="1"/>
          </p:cNvGraphicFramePr>
          <p:nvPr/>
        </p:nvGraphicFramePr>
        <p:xfrm>
          <a:off x="5292725" y="1089025"/>
          <a:ext cx="3600450" cy="3048000"/>
        </p:xfrm>
        <a:graphic>
          <a:graphicData uri="http://schemas.openxmlformats.org/drawingml/2006/table">
            <a:tbl>
              <a:tblPr/>
              <a:tblGrid>
                <a:gridCol w="2341563"/>
                <a:gridCol w="1258887"/>
              </a:tblGrid>
              <a:tr h="233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Mnemonic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Increment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INC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Decrement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DEC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Add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Subtract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SUB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Multiply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MUL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Divide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DIV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Add with carry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ADDC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Subtract with borrow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SUBB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Negate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NEG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2298" name="Group 42"/>
          <p:cNvGraphicFramePr>
            <a:graphicFrameLocks noGrp="1"/>
          </p:cNvGraphicFramePr>
          <p:nvPr/>
        </p:nvGraphicFramePr>
        <p:xfrm>
          <a:off x="457200" y="3276600"/>
          <a:ext cx="3335338" cy="3352800"/>
        </p:xfrm>
        <a:graphic>
          <a:graphicData uri="http://schemas.openxmlformats.org/drawingml/2006/table">
            <a:tbl>
              <a:tblPr/>
              <a:tblGrid>
                <a:gridCol w="2074863"/>
                <a:gridCol w="1260475"/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Mnemonic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Clear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CLR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Complement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COM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AND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AND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OR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OR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Exclusive-OR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XOR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Clear carry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CLRC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Set carry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SETC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Complement carry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COMC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Enable interrupt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EI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Disable interrupt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DI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2339" name="Group 83"/>
          <p:cNvGraphicFramePr>
            <a:graphicFrameLocks noGrp="1"/>
          </p:cNvGraphicFramePr>
          <p:nvPr/>
        </p:nvGraphicFramePr>
        <p:xfrm>
          <a:off x="3962400" y="3962400"/>
          <a:ext cx="4140200" cy="2743200"/>
        </p:xfrm>
        <a:graphic>
          <a:graphicData uri="http://schemas.openxmlformats.org/drawingml/2006/table">
            <a:tbl>
              <a:tblPr/>
              <a:tblGrid>
                <a:gridCol w="2879725"/>
                <a:gridCol w="1260475"/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Mnemonic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Logical shift right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SHR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Logical shift left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SHL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Arithmetic shift right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SHRA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Arithmetic shift left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SHLA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Rotate right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ROR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Rotate left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ROL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Rotate right through carry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RORC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Rotate left through carry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ROLC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2374" name="Line 11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5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5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37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/>
              <a:t>Program Control Instructions</a:t>
            </a:r>
          </a:p>
        </p:txBody>
      </p:sp>
      <p:graphicFrame>
        <p:nvGraphicFramePr>
          <p:cNvPr id="353283" name="Group 3"/>
          <p:cNvGraphicFramePr>
            <a:graphicFrameLocks noGrp="1"/>
          </p:cNvGraphicFramePr>
          <p:nvPr/>
        </p:nvGraphicFramePr>
        <p:xfrm>
          <a:off x="971550" y="1268413"/>
          <a:ext cx="3781425" cy="3759202"/>
        </p:xfrm>
        <a:graphic>
          <a:graphicData uri="http://schemas.openxmlformats.org/drawingml/2006/table">
            <a:tbl>
              <a:tblPr/>
              <a:tblGrid>
                <a:gridCol w="2160588"/>
                <a:gridCol w="1620837"/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Mnemonic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Jump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JMP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Skip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SKP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Call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CALL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Return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RET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Compare (Subtract)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CMP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Test (AND)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TST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3315" name="AutoShape 35"/>
          <p:cNvSpPr>
            <a:spLocks noChangeArrowheads="1"/>
          </p:cNvSpPr>
          <p:nvPr/>
        </p:nvSpPr>
        <p:spPr bwMode="auto">
          <a:xfrm>
            <a:off x="5651500" y="2708275"/>
            <a:ext cx="2519363" cy="900113"/>
          </a:xfrm>
          <a:prstGeom prst="wedgeRoundRectCallout">
            <a:avLst>
              <a:gd name="adj1" fmla="val -78167"/>
              <a:gd name="adj2" fmla="val 111903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Subtract A – B but don’t store the result</a:t>
            </a:r>
          </a:p>
        </p:txBody>
      </p:sp>
      <p:sp>
        <p:nvSpPr>
          <p:cNvPr id="353316" name="Text Box 36"/>
          <p:cNvSpPr txBox="1">
            <a:spLocks noChangeArrowheads="1"/>
          </p:cNvSpPr>
          <p:nvPr/>
        </p:nvSpPr>
        <p:spPr bwMode="auto">
          <a:xfrm>
            <a:off x="6011863" y="4329113"/>
            <a:ext cx="1504950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sz="2000" b="1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011863" y="4329113"/>
            <a:ext cx="1435100" cy="360362"/>
            <a:chOff x="3787" y="2727"/>
            <a:chExt cx="904" cy="227"/>
          </a:xfrm>
        </p:grpSpPr>
        <p:sp>
          <p:nvSpPr>
            <p:cNvPr id="153635" name="Text Box 38"/>
            <p:cNvSpPr txBox="1">
              <a:spLocks noChangeArrowheads="1"/>
            </p:cNvSpPr>
            <p:nvPr/>
          </p:nvSpPr>
          <p:spPr bwMode="auto">
            <a:xfrm>
              <a:off x="3787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1</a:t>
              </a:r>
            </a:p>
          </p:txBody>
        </p:sp>
        <p:sp>
          <p:nvSpPr>
            <p:cNvPr id="153636" name="Text Box 39"/>
            <p:cNvSpPr txBox="1">
              <a:spLocks noChangeArrowheads="1"/>
            </p:cNvSpPr>
            <p:nvPr/>
          </p:nvSpPr>
          <p:spPr bwMode="auto">
            <a:xfrm>
              <a:off x="3900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37" name="Text Box 40"/>
            <p:cNvSpPr txBox="1">
              <a:spLocks noChangeArrowheads="1"/>
            </p:cNvSpPr>
            <p:nvPr/>
          </p:nvSpPr>
          <p:spPr bwMode="auto">
            <a:xfrm>
              <a:off x="4013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1</a:t>
              </a:r>
            </a:p>
          </p:txBody>
        </p:sp>
        <p:sp>
          <p:nvSpPr>
            <p:cNvPr id="153638" name="Text Box 41"/>
            <p:cNvSpPr txBox="1">
              <a:spLocks noChangeArrowheads="1"/>
            </p:cNvSpPr>
            <p:nvPr/>
          </p:nvSpPr>
          <p:spPr bwMode="auto">
            <a:xfrm>
              <a:off x="4126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1</a:t>
              </a:r>
            </a:p>
          </p:txBody>
        </p:sp>
        <p:sp>
          <p:nvSpPr>
            <p:cNvPr id="153639" name="Text Box 42"/>
            <p:cNvSpPr txBox="1">
              <a:spLocks noChangeArrowheads="1"/>
            </p:cNvSpPr>
            <p:nvPr/>
          </p:nvSpPr>
          <p:spPr bwMode="auto">
            <a:xfrm>
              <a:off x="4239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solidFill>
                    <a:schemeClr val="accent1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53640" name="Text Box 43"/>
            <p:cNvSpPr txBox="1">
              <a:spLocks noChangeArrowheads="1"/>
            </p:cNvSpPr>
            <p:nvPr/>
          </p:nvSpPr>
          <p:spPr bwMode="auto">
            <a:xfrm>
              <a:off x="4352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41" name="Text Box 44"/>
            <p:cNvSpPr txBox="1">
              <a:spLocks noChangeArrowheads="1"/>
            </p:cNvSpPr>
            <p:nvPr/>
          </p:nvSpPr>
          <p:spPr bwMode="auto">
            <a:xfrm>
              <a:off x="4465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42" name="Text Box 45"/>
            <p:cNvSpPr txBox="1">
              <a:spLocks noChangeArrowheads="1"/>
            </p:cNvSpPr>
            <p:nvPr/>
          </p:nvSpPr>
          <p:spPr bwMode="auto">
            <a:xfrm>
              <a:off x="4578" y="272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1</a:t>
              </a:r>
            </a:p>
          </p:txBody>
        </p:sp>
      </p:grpSp>
      <p:sp>
        <p:nvSpPr>
          <p:cNvPr id="353326" name="Text Box 46"/>
          <p:cNvSpPr txBox="1">
            <a:spLocks noChangeArrowheads="1"/>
          </p:cNvSpPr>
          <p:nvPr/>
        </p:nvSpPr>
        <p:spPr bwMode="auto">
          <a:xfrm>
            <a:off x="6011863" y="4868863"/>
            <a:ext cx="1503362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sz="2000" b="1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6011863" y="4868863"/>
            <a:ext cx="1435100" cy="360362"/>
            <a:chOff x="3787" y="3067"/>
            <a:chExt cx="904" cy="227"/>
          </a:xfrm>
        </p:grpSpPr>
        <p:sp>
          <p:nvSpPr>
            <p:cNvPr id="153645" name="Text Box 48"/>
            <p:cNvSpPr txBox="1">
              <a:spLocks noChangeArrowheads="1"/>
            </p:cNvSpPr>
            <p:nvPr/>
          </p:nvSpPr>
          <p:spPr bwMode="auto">
            <a:xfrm>
              <a:off x="3787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46" name="Text Box 49"/>
            <p:cNvSpPr txBox="1">
              <a:spLocks noChangeArrowheads="1"/>
            </p:cNvSpPr>
            <p:nvPr/>
          </p:nvSpPr>
          <p:spPr bwMode="auto">
            <a:xfrm>
              <a:off x="3900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47" name="Text Box 50"/>
            <p:cNvSpPr txBox="1">
              <a:spLocks noChangeArrowheads="1"/>
            </p:cNvSpPr>
            <p:nvPr/>
          </p:nvSpPr>
          <p:spPr bwMode="auto">
            <a:xfrm>
              <a:off x="4013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48" name="Text Box 51"/>
            <p:cNvSpPr txBox="1">
              <a:spLocks noChangeArrowheads="1"/>
            </p:cNvSpPr>
            <p:nvPr/>
          </p:nvSpPr>
          <p:spPr bwMode="auto">
            <a:xfrm>
              <a:off x="4126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49" name="Text Box 52"/>
            <p:cNvSpPr txBox="1">
              <a:spLocks noChangeArrowheads="1"/>
            </p:cNvSpPr>
            <p:nvPr/>
          </p:nvSpPr>
          <p:spPr bwMode="auto">
            <a:xfrm>
              <a:off x="4239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solidFill>
                    <a:schemeClr val="accent1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153650" name="Text Box 53"/>
            <p:cNvSpPr txBox="1">
              <a:spLocks noChangeArrowheads="1"/>
            </p:cNvSpPr>
            <p:nvPr/>
          </p:nvSpPr>
          <p:spPr bwMode="auto">
            <a:xfrm>
              <a:off x="4352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51" name="Text Box 54"/>
            <p:cNvSpPr txBox="1">
              <a:spLocks noChangeArrowheads="1"/>
            </p:cNvSpPr>
            <p:nvPr/>
          </p:nvSpPr>
          <p:spPr bwMode="auto">
            <a:xfrm>
              <a:off x="4465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52" name="Text Box 55"/>
            <p:cNvSpPr txBox="1">
              <a:spLocks noChangeArrowheads="1"/>
            </p:cNvSpPr>
            <p:nvPr/>
          </p:nvSpPr>
          <p:spPr bwMode="auto">
            <a:xfrm>
              <a:off x="4578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</p:grpSp>
      <p:sp>
        <p:nvSpPr>
          <p:cNvPr id="353336" name="AutoShape 56"/>
          <p:cNvSpPr>
            <a:spLocks noChangeArrowheads="1"/>
          </p:cNvSpPr>
          <p:nvPr/>
        </p:nvSpPr>
        <p:spPr bwMode="auto">
          <a:xfrm rot="5400000">
            <a:off x="7812088" y="5229225"/>
            <a:ext cx="539750" cy="539750"/>
          </a:xfrm>
          <a:prstGeom prst="flowChartDelay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3337" name="Line 57"/>
          <p:cNvSpPr>
            <a:spLocks noChangeShapeType="1"/>
          </p:cNvSpPr>
          <p:nvPr/>
        </p:nvSpPr>
        <p:spPr bwMode="auto">
          <a:xfrm>
            <a:off x="7518400" y="5049838"/>
            <a:ext cx="4746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3338" name="Line 58"/>
          <p:cNvSpPr>
            <a:spLocks noChangeShapeType="1"/>
          </p:cNvSpPr>
          <p:nvPr/>
        </p:nvSpPr>
        <p:spPr bwMode="auto">
          <a:xfrm flipV="1">
            <a:off x="7993063" y="5049838"/>
            <a:ext cx="0" cy="179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3339" name="Line 59"/>
          <p:cNvSpPr>
            <a:spLocks noChangeShapeType="1"/>
          </p:cNvSpPr>
          <p:nvPr/>
        </p:nvSpPr>
        <p:spPr bwMode="auto">
          <a:xfrm flipV="1">
            <a:off x="8172450" y="4508500"/>
            <a:ext cx="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3340" name="Line 60"/>
          <p:cNvSpPr>
            <a:spLocks noChangeShapeType="1"/>
          </p:cNvSpPr>
          <p:nvPr/>
        </p:nvSpPr>
        <p:spPr bwMode="auto">
          <a:xfrm>
            <a:off x="7518400" y="4508500"/>
            <a:ext cx="654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3341" name="Line 61"/>
          <p:cNvSpPr>
            <a:spLocks noChangeShapeType="1"/>
          </p:cNvSpPr>
          <p:nvPr/>
        </p:nvSpPr>
        <p:spPr bwMode="auto">
          <a:xfrm flipV="1">
            <a:off x="8075613" y="5770563"/>
            <a:ext cx="0" cy="179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3342" name="Line 62"/>
          <p:cNvSpPr>
            <a:spLocks noChangeShapeType="1"/>
          </p:cNvSpPr>
          <p:nvPr/>
        </p:nvSpPr>
        <p:spPr bwMode="auto">
          <a:xfrm>
            <a:off x="7423150" y="5949950"/>
            <a:ext cx="654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53343" name="Text Box 63"/>
          <p:cNvSpPr txBox="1">
            <a:spLocks noChangeArrowheads="1"/>
          </p:cNvSpPr>
          <p:nvPr/>
        </p:nvSpPr>
        <p:spPr bwMode="auto">
          <a:xfrm>
            <a:off x="6011863" y="5770563"/>
            <a:ext cx="1504950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sz="2000" b="1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6011863" y="5768975"/>
            <a:ext cx="1435100" cy="360363"/>
            <a:chOff x="3787" y="3067"/>
            <a:chExt cx="904" cy="227"/>
          </a:xfrm>
        </p:grpSpPr>
        <p:sp>
          <p:nvSpPr>
            <p:cNvPr id="153662" name="Text Box 65"/>
            <p:cNvSpPr txBox="1">
              <a:spLocks noChangeArrowheads="1"/>
            </p:cNvSpPr>
            <p:nvPr/>
          </p:nvSpPr>
          <p:spPr bwMode="auto">
            <a:xfrm>
              <a:off x="3787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63" name="Text Box 66"/>
            <p:cNvSpPr txBox="1">
              <a:spLocks noChangeArrowheads="1"/>
            </p:cNvSpPr>
            <p:nvPr/>
          </p:nvSpPr>
          <p:spPr bwMode="auto">
            <a:xfrm>
              <a:off x="3900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64" name="Text Box 67"/>
            <p:cNvSpPr txBox="1">
              <a:spLocks noChangeArrowheads="1"/>
            </p:cNvSpPr>
            <p:nvPr/>
          </p:nvSpPr>
          <p:spPr bwMode="auto">
            <a:xfrm>
              <a:off x="4013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65" name="Text Box 68"/>
            <p:cNvSpPr txBox="1">
              <a:spLocks noChangeArrowheads="1"/>
            </p:cNvSpPr>
            <p:nvPr/>
          </p:nvSpPr>
          <p:spPr bwMode="auto">
            <a:xfrm>
              <a:off x="4126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66" name="Text Box 69"/>
            <p:cNvSpPr txBox="1">
              <a:spLocks noChangeArrowheads="1"/>
            </p:cNvSpPr>
            <p:nvPr/>
          </p:nvSpPr>
          <p:spPr bwMode="auto">
            <a:xfrm>
              <a:off x="4239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solidFill>
                    <a:schemeClr val="accent1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53667" name="Text Box 70"/>
            <p:cNvSpPr txBox="1">
              <a:spLocks noChangeArrowheads="1"/>
            </p:cNvSpPr>
            <p:nvPr/>
          </p:nvSpPr>
          <p:spPr bwMode="auto">
            <a:xfrm>
              <a:off x="4352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68" name="Text Box 71"/>
            <p:cNvSpPr txBox="1">
              <a:spLocks noChangeArrowheads="1"/>
            </p:cNvSpPr>
            <p:nvPr/>
          </p:nvSpPr>
          <p:spPr bwMode="auto">
            <a:xfrm>
              <a:off x="4465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  <p:sp>
          <p:nvSpPr>
            <p:cNvPr id="153669" name="Text Box 72"/>
            <p:cNvSpPr txBox="1">
              <a:spLocks noChangeArrowheads="1"/>
            </p:cNvSpPr>
            <p:nvPr/>
          </p:nvSpPr>
          <p:spPr bwMode="auto">
            <a:xfrm>
              <a:off x="4578" y="3067"/>
              <a:ext cx="113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b="1">
                  <a:cs typeface="Arial" pitchFamily="34" charset="0"/>
                </a:rPr>
                <a:t>0</a:t>
              </a:r>
            </a:p>
          </p:txBody>
        </p:sp>
      </p:grpSp>
      <p:sp>
        <p:nvSpPr>
          <p:cNvPr id="353353" name="AutoShape 73"/>
          <p:cNvSpPr>
            <a:spLocks noChangeArrowheads="1"/>
          </p:cNvSpPr>
          <p:nvPr/>
        </p:nvSpPr>
        <p:spPr bwMode="auto">
          <a:xfrm>
            <a:off x="4392613" y="5408613"/>
            <a:ext cx="898525" cy="541337"/>
          </a:xfrm>
          <a:prstGeom prst="wedgeRoundRectCallout">
            <a:avLst>
              <a:gd name="adj1" fmla="val 105125"/>
              <a:gd name="adj2" fmla="val -88708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Mask</a:t>
            </a:r>
          </a:p>
        </p:txBody>
      </p:sp>
      <p:sp>
        <p:nvSpPr>
          <p:cNvPr id="353354" name="Line 7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3355" name="AutoShape 75"/>
          <p:cNvSpPr>
            <a:spLocks noChangeArrowheads="1"/>
          </p:cNvSpPr>
          <p:nvPr/>
        </p:nvSpPr>
        <p:spPr bwMode="auto">
          <a:xfrm>
            <a:off x="5113338" y="4508500"/>
            <a:ext cx="538162" cy="180975"/>
          </a:xfrm>
          <a:prstGeom prst="rightArrow">
            <a:avLst>
              <a:gd name="adj1" fmla="val 50000"/>
              <a:gd name="adj2" fmla="val 74342"/>
            </a:avLst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5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5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5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5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5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5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315" grpId="0" animBg="1"/>
      <p:bldP spid="353316" grpId="0" animBg="1"/>
      <p:bldP spid="353326" grpId="0" animBg="1"/>
      <p:bldP spid="353336" grpId="0" animBg="1"/>
      <p:bldP spid="353337" grpId="0" animBg="1"/>
      <p:bldP spid="353338" grpId="0" animBg="1"/>
      <p:bldP spid="353339" grpId="0" animBg="1"/>
      <p:bldP spid="353340" grpId="0" animBg="1"/>
      <p:bldP spid="353341" grpId="0" animBg="1"/>
      <p:bldP spid="353342" grpId="0" animBg="1"/>
      <p:bldP spid="353343" grpId="0" animBg="1"/>
      <p:bldP spid="353353" grpId="0" animBg="1"/>
      <p:bldP spid="353354" grpId="0" animBg="1"/>
      <p:bldP spid="35335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Conditional Branch Instructions</a:t>
            </a:r>
          </a:p>
        </p:txBody>
      </p:sp>
      <p:graphicFrame>
        <p:nvGraphicFramePr>
          <p:cNvPr id="355331" name="Group 3"/>
          <p:cNvGraphicFramePr>
            <a:graphicFrameLocks noGrp="1"/>
          </p:cNvGraphicFramePr>
          <p:nvPr/>
        </p:nvGraphicFramePr>
        <p:xfrm>
          <a:off x="1447800" y="1981200"/>
          <a:ext cx="5613400" cy="3600450"/>
        </p:xfrm>
        <a:graphic>
          <a:graphicData uri="http://schemas.openxmlformats.org/drawingml/2006/table">
            <a:tbl>
              <a:tblPr/>
              <a:tblGrid>
                <a:gridCol w="1262063"/>
                <a:gridCol w="2371725"/>
                <a:gridCol w="1979612"/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Mnemonic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Condition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Tested Condition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BZ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zero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Z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BNZ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not zero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Z =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carry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C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BNC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no carry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C =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BP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plus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S =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BM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minus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S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BV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overflow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V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itchFamily="34" charset="0"/>
                        </a:rPr>
                        <a:t>BNV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Branch if no overflow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</a:rPr>
                        <a:t>V =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5376" name="Line 4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7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6100">
                <a:ea typeface="SimSun" pitchFamily="2" charset="-122"/>
              </a:rPr>
              <a:t>Basic Input/Output Operations</a:t>
            </a:r>
          </a:p>
        </p:txBody>
      </p:sp>
      <p:sp>
        <p:nvSpPr>
          <p:cNvPr id="155651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I/O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The data on which the instructions operate are not necessarily already stored in memory.</a:t>
            </a:r>
          </a:p>
          <a:p>
            <a:r>
              <a:rPr lang="en-US" altLang="zh-CN">
                <a:ea typeface="SimSun" pitchFamily="2" charset="-122"/>
              </a:rPr>
              <a:t>Data need to be transferred between processor and outside world (disk, keyboard, etc.)</a:t>
            </a:r>
          </a:p>
          <a:p>
            <a:r>
              <a:rPr lang="en-US" altLang="zh-CN">
                <a:ea typeface="SimSun" pitchFamily="2" charset="-122"/>
              </a:rPr>
              <a:t>I/O operations are essential, the way they are performed can have a significant effect on the performance of the computer.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Program-Controlled I/O Example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SimSun" pitchFamily="2" charset="-122"/>
              </a:rPr>
              <a:t>Read in character input from a keyboard and produce character output on a display screen.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Rate of data transfer (keyboard, display, processor)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Difference in speed between processor and I/O device creates the need for mechanisms to synchronize the transfer of data.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CN" sz="2400">
                <a:ea typeface="SimSun" pitchFamily="2" charset="-122"/>
              </a:rPr>
              <a:t>A solution: on output, the processor sends the first character and then waits for a signal from the display that the character has been received. It then sends the second character. Input is sent from the keyboard in a similar way.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Program-Controlled I/O Example</a:t>
            </a:r>
            <a:endParaRPr lang="zh-CN" altLang="en-US">
              <a:ea typeface="SimSun" pitchFamily="2" charset="-122"/>
            </a:endParaRPr>
          </a:p>
        </p:txBody>
      </p:sp>
      <p:pic>
        <p:nvPicPr>
          <p:cNvPr id="161795" name="Picture 4" descr="figur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2350" y="1816100"/>
            <a:ext cx="7099300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1796" name="Text Box 5"/>
          <p:cNvSpPr txBox="1">
            <a:spLocks noChangeArrowheads="1"/>
          </p:cNvSpPr>
          <p:nvPr/>
        </p:nvSpPr>
        <p:spPr bwMode="auto">
          <a:xfrm>
            <a:off x="593725" y="4303713"/>
            <a:ext cx="19621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SimSun" pitchFamily="2" charset="-122"/>
              </a:rPr>
              <a:t>- Registers</a:t>
            </a:r>
          </a:p>
          <a:p>
            <a:pPr>
              <a:buFontTx/>
              <a:buChar char="-"/>
            </a:pPr>
            <a:r>
              <a:rPr lang="en-US" altLang="zh-CN">
                <a:ea typeface="SimSun" pitchFamily="2" charset="-122"/>
              </a:rPr>
              <a:t> Flags</a:t>
            </a:r>
          </a:p>
          <a:p>
            <a:r>
              <a:rPr lang="en-US" altLang="zh-CN">
                <a:ea typeface="SimSun" pitchFamily="2" charset="-122"/>
              </a:rPr>
              <a:t>- Device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Program-Controlled I/O Example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Machine instructions that can check the state of the status flags and transfer data:</a:t>
            </a:r>
            <a:br>
              <a:rPr lang="en-US" altLang="zh-CN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>READWAIT  Branch to READWAIT if SIN = 0</a:t>
            </a:r>
            <a:br>
              <a:rPr lang="en-US" altLang="zh-CN" sz="2400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>                     Input from DATAIN to R1</a:t>
            </a:r>
            <a:br>
              <a:rPr lang="en-US" altLang="zh-CN" sz="2400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/>
            </a:r>
            <a:br>
              <a:rPr lang="en-US" altLang="zh-CN" sz="2400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>WRITEWAIT Branch to WRITEWAIT if SOUT = 0</a:t>
            </a:r>
            <a:br>
              <a:rPr lang="en-US" altLang="zh-CN" sz="2400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>                      Output from R1 to DATAOUT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Program-Controlled I/O Example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Memory-Mapped I/O – some memory address values are used to refer to peripheral device buffer registers. No special instructions are needed. Also use device status registers.</a:t>
            </a:r>
            <a:br>
              <a:rPr lang="en-US" altLang="zh-CN">
                <a:ea typeface="SimSun" pitchFamily="2" charset="-122"/>
              </a:rPr>
            </a:br>
            <a:r>
              <a:rPr lang="en-US" altLang="zh-CN">
                <a:ea typeface="SimSun" pitchFamily="2" charset="-122"/>
              </a:rPr>
              <a:t/>
            </a:r>
            <a:br>
              <a:rPr lang="en-US" altLang="zh-CN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>READWAIT  Testbit   #3, INSTATUS</a:t>
            </a:r>
            <a:br>
              <a:rPr lang="en-US" altLang="zh-CN" sz="2400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>                     Branch=0  READWAIT</a:t>
            </a:r>
            <a:br>
              <a:rPr lang="en-US" altLang="zh-CN" sz="2400">
                <a:ea typeface="SimSun" pitchFamily="2" charset="-122"/>
              </a:rPr>
            </a:br>
            <a:r>
              <a:rPr lang="en-US" altLang="zh-CN" sz="2400">
                <a:ea typeface="SimSun" pitchFamily="2" charset="-122"/>
              </a:rPr>
              <a:t>                     MoveByte  DATAIN, R1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Program-Controlled I/O Example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719263"/>
            <a:ext cx="8686800" cy="4411662"/>
          </a:xfrm>
        </p:spPr>
        <p:txBody>
          <a:bodyPr/>
          <a:lstStyle/>
          <a:p>
            <a:r>
              <a:rPr lang="en-US" altLang="zh-CN">
                <a:ea typeface="SimSun" pitchFamily="2" charset="-122"/>
              </a:rPr>
              <a:t>Assumption – the initial state of SIN is 0 and the initial state of SOUT is 1.</a:t>
            </a:r>
          </a:p>
          <a:p>
            <a:r>
              <a:rPr lang="en-US" altLang="zh-CN">
                <a:ea typeface="SimSun" pitchFamily="2" charset="-122"/>
              </a:rPr>
              <a:t>Any drawback of this mechanism in terms of efficiency?</a:t>
            </a:r>
          </a:p>
          <a:p>
            <a:pPr lvl="1"/>
            <a:r>
              <a:rPr lang="en-US" altLang="zh-CN">
                <a:ea typeface="SimSun" pitchFamily="2" charset="-122"/>
              </a:rPr>
              <a:t>Two wait loops</a:t>
            </a:r>
            <a:r>
              <a:rPr lang="en-US" altLang="zh-CN">
                <a:ea typeface="SimSun" pitchFamily="2" charset="-122"/>
                <a:sym typeface="Wingdings" pitchFamily="2" charset="2"/>
              </a:rPr>
              <a:t>processor execution time is wasted</a:t>
            </a:r>
            <a:endParaRPr lang="en-US" altLang="zh-CN">
              <a:ea typeface="SimSun" pitchFamily="2" charset="-122"/>
            </a:endParaRPr>
          </a:p>
          <a:p>
            <a:r>
              <a:rPr lang="en-US" altLang="zh-CN">
                <a:ea typeface="SimSun" pitchFamily="2" charset="-122"/>
              </a:rPr>
              <a:t>Alternate solution?</a:t>
            </a:r>
          </a:p>
          <a:p>
            <a:pPr lvl="1"/>
            <a:r>
              <a:rPr lang="en-US" altLang="zh-CN">
                <a:ea typeface="SimSun" pitchFamily="2" charset="-122"/>
              </a:rPr>
              <a:t>Interrupt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6100">
                <a:ea typeface="SimSun" pitchFamily="2" charset="-122"/>
              </a:rPr>
              <a:t>Stacks</a:t>
            </a:r>
          </a:p>
        </p:txBody>
      </p:sp>
      <p:sp>
        <p:nvSpPr>
          <p:cNvPr id="169987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Home Work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For each Addressing modes mentioned before, state one example for each addressing mode stating the specific benefit for using such addressing mode for such an application.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en-US" sz="3500"/>
              <a:t>Stack Organization</a:t>
            </a:r>
          </a:p>
        </p:txBody>
      </p:sp>
      <p:sp>
        <p:nvSpPr>
          <p:cNvPr id="299011" name="Text Box 3"/>
          <p:cNvSpPr txBox="1">
            <a:spLocks noChangeArrowheads="1"/>
          </p:cNvSpPr>
          <p:nvPr/>
        </p:nvSpPr>
        <p:spPr bwMode="auto">
          <a:xfrm>
            <a:off x="3851275" y="4149725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SP</a:t>
            </a:r>
          </a:p>
        </p:txBody>
      </p:sp>
      <p:sp>
        <p:nvSpPr>
          <p:cNvPr id="299012" name="Line 4"/>
          <p:cNvSpPr>
            <a:spLocks noChangeShapeType="1"/>
          </p:cNvSpPr>
          <p:nvPr/>
        </p:nvSpPr>
        <p:spPr bwMode="auto">
          <a:xfrm>
            <a:off x="5292725" y="4329113"/>
            <a:ext cx="71913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299013" name="AutoShape 5"/>
          <p:cNvSpPr>
            <a:spLocks noChangeArrowheads="1"/>
          </p:cNvSpPr>
          <p:nvPr/>
        </p:nvSpPr>
        <p:spPr bwMode="auto">
          <a:xfrm>
            <a:off x="3581400" y="5589588"/>
            <a:ext cx="1979613" cy="539750"/>
          </a:xfrm>
          <a:prstGeom prst="wedgeRoundRectCallout">
            <a:avLst>
              <a:gd name="adj1" fmla="val 72694"/>
              <a:gd name="adj2" fmla="val -25588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Stack Bottom</a:t>
            </a:r>
          </a:p>
        </p:txBody>
      </p:sp>
      <p:sp>
        <p:nvSpPr>
          <p:cNvPr id="299014" name="AutoShape 6"/>
          <p:cNvSpPr>
            <a:spLocks noChangeArrowheads="1"/>
          </p:cNvSpPr>
          <p:nvPr/>
        </p:nvSpPr>
        <p:spPr bwMode="auto">
          <a:xfrm>
            <a:off x="3581400" y="1268413"/>
            <a:ext cx="1979613" cy="1081087"/>
          </a:xfrm>
          <a:prstGeom prst="wedgeRoundRectCallout">
            <a:avLst>
              <a:gd name="adj1" fmla="val 76463"/>
              <a:gd name="adj2" fmla="val 212704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Current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Top of Stack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TOS</a:t>
            </a:r>
          </a:p>
        </p:txBody>
      </p:sp>
      <p:sp>
        <p:nvSpPr>
          <p:cNvPr id="299015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1446212"/>
          </a:xfrm>
          <a:noFill/>
        </p:spPr>
        <p:txBody>
          <a:bodyPr lIns="63500" tIns="25400" rIns="63500" bIns="25400">
            <a:spAutoFit/>
          </a:bodyPr>
          <a:lstStyle/>
          <a:p>
            <a:r>
              <a:rPr lang="en-US"/>
              <a:t>LIFO</a:t>
            </a:r>
          </a:p>
          <a:p>
            <a:pPr lvl="1">
              <a:buFont typeface="Wingdings" pitchFamily="2" charset="2"/>
              <a:buNone/>
            </a:pPr>
            <a:r>
              <a:rPr lang="en-US" i="1"/>
              <a:t>Last In First Out</a:t>
            </a:r>
          </a:p>
        </p:txBody>
      </p:sp>
      <p:sp>
        <p:nvSpPr>
          <p:cNvPr id="299016" name="Line 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011863" y="1089025"/>
            <a:ext cx="2341562" cy="5219700"/>
            <a:chOff x="3787" y="686"/>
            <a:chExt cx="1475" cy="3288"/>
          </a:xfrm>
        </p:grpSpPr>
        <p:sp>
          <p:nvSpPr>
            <p:cNvPr id="173066" name="AutoShape 10"/>
            <p:cNvSpPr>
              <a:spLocks noChangeArrowheads="1"/>
            </p:cNvSpPr>
            <p:nvPr/>
          </p:nvSpPr>
          <p:spPr bwMode="auto">
            <a:xfrm>
              <a:off x="4127" y="1139"/>
              <a:ext cx="1135" cy="2609"/>
            </a:xfrm>
            <a:prstGeom prst="cube">
              <a:avLst>
                <a:gd name="adj" fmla="val 9514"/>
              </a:avLst>
            </a:prstGeom>
            <a:solidFill>
              <a:srgbClr val="E6E6E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73067" name="Text Box 11"/>
            <p:cNvSpPr txBox="1">
              <a:spLocks noChangeArrowheads="1"/>
            </p:cNvSpPr>
            <p:nvPr/>
          </p:nvSpPr>
          <p:spPr bwMode="auto">
            <a:xfrm>
              <a:off x="3787" y="125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68" name="Text Box 12"/>
            <p:cNvSpPr txBox="1">
              <a:spLocks noChangeArrowheads="1"/>
            </p:cNvSpPr>
            <p:nvPr/>
          </p:nvSpPr>
          <p:spPr bwMode="auto">
            <a:xfrm>
              <a:off x="3788" y="1478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69" name="Text Box 13"/>
            <p:cNvSpPr txBox="1">
              <a:spLocks noChangeArrowheads="1"/>
            </p:cNvSpPr>
            <p:nvPr/>
          </p:nvSpPr>
          <p:spPr bwMode="auto">
            <a:xfrm>
              <a:off x="3789" y="170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0" name="Text Box 14"/>
            <p:cNvSpPr txBox="1">
              <a:spLocks noChangeArrowheads="1"/>
            </p:cNvSpPr>
            <p:nvPr/>
          </p:nvSpPr>
          <p:spPr bwMode="auto">
            <a:xfrm>
              <a:off x="3790" y="1932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3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1" name="Text Box 15"/>
            <p:cNvSpPr txBox="1">
              <a:spLocks noChangeArrowheads="1"/>
            </p:cNvSpPr>
            <p:nvPr/>
          </p:nvSpPr>
          <p:spPr bwMode="auto">
            <a:xfrm>
              <a:off x="3791" y="2159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4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2" name="Text Box 16"/>
            <p:cNvSpPr txBox="1">
              <a:spLocks noChangeArrowheads="1"/>
            </p:cNvSpPr>
            <p:nvPr/>
          </p:nvSpPr>
          <p:spPr bwMode="auto">
            <a:xfrm>
              <a:off x="3794" y="2840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7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3" name="Text Box 17"/>
            <p:cNvSpPr txBox="1">
              <a:spLocks noChangeArrowheads="1"/>
            </p:cNvSpPr>
            <p:nvPr/>
          </p:nvSpPr>
          <p:spPr bwMode="auto">
            <a:xfrm>
              <a:off x="3795" y="3067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8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4" name="Text Box 18"/>
            <p:cNvSpPr txBox="1">
              <a:spLocks noChangeArrowheads="1"/>
            </p:cNvSpPr>
            <p:nvPr/>
          </p:nvSpPr>
          <p:spPr bwMode="auto">
            <a:xfrm>
              <a:off x="3796" y="3294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9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5" name="Text Box 19"/>
            <p:cNvSpPr txBox="1">
              <a:spLocks noChangeArrowheads="1"/>
            </p:cNvSpPr>
            <p:nvPr/>
          </p:nvSpPr>
          <p:spPr bwMode="auto">
            <a:xfrm>
              <a:off x="3797" y="352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6" name="Text Box 20"/>
            <p:cNvSpPr txBox="1">
              <a:spLocks noChangeArrowheads="1"/>
            </p:cNvSpPr>
            <p:nvPr/>
          </p:nvSpPr>
          <p:spPr bwMode="auto">
            <a:xfrm>
              <a:off x="3787" y="238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5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7" name="Text Box 21"/>
            <p:cNvSpPr txBox="1">
              <a:spLocks noChangeArrowheads="1"/>
            </p:cNvSpPr>
            <p:nvPr/>
          </p:nvSpPr>
          <p:spPr bwMode="auto">
            <a:xfrm>
              <a:off x="3787" y="2612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6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3078" name="Text Box 22"/>
            <p:cNvSpPr txBox="1">
              <a:spLocks noChangeArrowheads="1"/>
            </p:cNvSpPr>
            <p:nvPr/>
          </p:nvSpPr>
          <p:spPr bwMode="auto">
            <a:xfrm>
              <a:off x="4241" y="3747"/>
              <a:ext cx="794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Stack</a:t>
              </a:r>
            </a:p>
          </p:txBody>
        </p:sp>
        <p:sp>
          <p:nvSpPr>
            <p:cNvPr id="173079" name="AutoShape 23"/>
            <p:cNvSpPr>
              <a:spLocks noChangeArrowheads="1"/>
            </p:cNvSpPr>
            <p:nvPr/>
          </p:nvSpPr>
          <p:spPr bwMode="auto">
            <a:xfrm>
              <a:off x="4127" y="686"/>
              <a:ext cx="1134" cy="340"/>
            </a:xfrm>
            <a:prstGeom prst="cube">
              <a:avLst>
                <a:gd name="adj" fmla="val 33528"/>
              </a:avLst>
            </a:prstGeom>
            <a:solidFill>
              <a:srgbClr val="00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080" name="Line 24"/>
            <p:cNvSpPr>
              <a:spLocks noChangeShapeType="1"/>
            </p:cNvSpPr>
            <p:nvPr/>
          </p:nvSpPr>
          <p:spPr bwMode="auto">
            <a:xfrm>
              <a:off x="4127" y="1480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1" name="Line 25"/>
            <p:cNvSpPr>
              <a:spLocks noChangeShapeType="1"/>
            </p:cNvSpPr>
            <p:nvPr/>
          </p:nvSpPr>
          <p:spPr bwMode="auto">
            <a:xfrm>
              <a:off x="4127" y="1706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2" name="Line 26"/>
            <p:cNvSpPr>
              <a:spLocks noChangeShapeType="1"/>
            </p:cNvSpPr>
            <p:nvPr/>
          </p:nvSpPr>
          <p:spPr bwMode="auto">
            <a:xfrm>
              <a:off x="4127" y="1932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3" name="Line 27"/>
            <p:cNvSpPr>
              <a:spLocks noChangeShapeType="1"/>
            </p:cNvSpPr>
            <p:nvPr/>
          </p:nvSpPr>
          <p:spPr bwMode="auto">
            <a:xfrm>
              <a:off x="4127" y="2158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4" name="Line 28"/>
            <p:cNvSpPr>
              <a:spLocks noChangeShapeType="1"/>
            </p:cNvSpPr>
            <p:nvPr/>
          </p:nvSpPr>
          <p:spPr bwMode="auto">
            <a:xfrm>
              <a:off x="4127" y="2384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5" name="Line 29"/>
            <p:cNvSpPr>
              <a:spLocks noChangeShapeType="1"/>
            </p:cNvSpPr>
            <p:nvPr/>
          </p:nvSpPr>
          <p:spPr bwMode="auto">
            <a:xfrm>
              <a:off x="4127" y="2610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6" name="Line 30"/>
            <p:cNvSpPr>
              <a:spLocks noChangeShapeType="1"/>
            </p:cNvSpPr>
            <p:nvPr/>
          </p:nvSpPr>
          <p:spPr bwMode="auto">
            <a:xfrm>
              <a:off x="4127" y="2836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7" name="Line 31"/>
            <p:cNvSpPr>
              <a:spLocks noChangeShapeType="1"/>
            </p:cNvSpPr>
            <p:nvPr/>
          </p:nvSpPr>
          <p:spPr bwMode="auto">
            <a:xfrm>
              <a:off x="4127" y="3062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8" name="Line 32"/>
            <p:cNvSpPr>
              <a:spLocks noChangeShapeType="1"/>
            </p:cNvSpPr>
            <p:nvPr/>
          </p:nvSpPr>
          <p:spPr bwMode="auto">
            <a:xfrm>
              <a:off x="4127" y="3288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89" name="Line 33"/>
            <p:cNvSpPr>
              <a:spLocks noChangeShapeType="1"/>
            </p:cNvSpPr>
            <p:nvPr/>
          </p:nvSpPr>
          <p:spPr bwMode="auto">
            <a:xfrm>
              <a:off x="4127" y="3514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3090" name="AutoShape 34"/>
            <p:cNvSpPr>
              <a:spLocks noChangeArrowheads="1"/>
            </p:cNvSpPr>
            <p:nvPr/>
          </p:nvSpPr>
          <p:spPr bwMode="auto">
            <a:xfrm>
              <a:off x="4581" y="1036"/>
              <a:ext cx="114" cy="167"/>
            </a:xfrm>
            <a:prstGeom prst="upDownArrow">
              <a:avLst>
                <a:gd name="adj1" fmla="val 45611"/>
                <a:gd name="adj2" fmla="val 49997"/>
              </a:avLst>
            </a:prstGeom>
            <a:solidFill>
              <a:srgbClr val="FFFF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99043" name="Text Box 35"/>
          <p:cNvSpPr txBox="1">
            <a:spLocks noChangeArrowheads="1"/>
          </p:cNvSpPr>
          <p:nvPr/>
        </p:nvSpPr>
        <p:spPr bwMode="auto">
          <a:xfrm>
            <a:off x="6551613" y="4508500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0  0  5  5</a:t>
            </a:r>
          </a:p>
        </p:txBody>
      </p:sp>
      <p:sp>
        <p:nvSpPr>
          <p:cNvPr id="299044" name="Text Box 36"/>
          <p:cNvSpPr txBox="1">
            <a:spLocks noChangeArrowheads="1"/>
          </p:cNvSpPr>
          <p:nvPr/>
        </p:nvSpPr>
        <p:spPr bwMode="auto">
          <a:xfrm>
            <a:off x="6551613" y="48688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0  0  0  8</a:t>
            </a:r>
          </a:p>
        </p:txBody>
      </p:sp>
      <p:sp>
        <p:nvSpPr>
          <p:cNvPr id="299045" name="Text Box 37"/>
          <p:cNvSpPr txBox="1">
            <a:spLocks noChangeArrowheads="1"/>
          </p:cNvSpPr>
          <p:nvPr/>
        </p:nvSpPr>
        <p:spPr bwMode="auto">
          <a:xfrm>
            <a:off x="6551613" y="5229225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0  0  2  5</a:t>
            </a:r>
          </a:p>
        </p:txBody>
      </p:sp>
      <p:sp>
        <p:nvSpPr>
          <p:cNvPr id="299046" name="Text Box 38"/>
          <p:cNvSpPr txBox="1">
            <a:spLocks noChangeArrowheads="1"/>
          </p:cNvSpPr>
          <p:nvPr/>
        </p:nvSpPr>
        <p:spPr bwMode="auto">
          <a:xfrm>
            <a:off x="6551613" y="5589588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0  0  1  5</a:t>
            </a:r>
          </a:p>
        </p:txBody>
      </p:sp>
      <p:sp>
        <p:nvSpPr>
          <p:cNvPr id="299047" name="Text Box 39"/>
          <p:cNvSpPr txBox="1">
            <a:spLocks noChangeArrowheads="1"/>
          </p:cNvSpPr>
          <p:nvPr/>
        </p:nvSpPr>
        <p:spPr bwMode="auto">
          <a:xfrm>
            <a:off x="6551613" y="4148138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1"/>
                </a:solidFill>
                <a:cs typeface="Arial" pitchFamily="34" charset="0"/>
              </a:rPr>
              <a:t>0  1  2  3</a:t>
            </a:r>
          </a:p>
        </p:txBody>
      </p:sp>
      <p:sp>
        <p:nvSpPr>
          <p:cNvPr id="299048" name="Text Box 40"/>
          <p:cNvSpPr txBox="1">
            <a:spLocks noChangeArrowheads="1"/>
          </p:cNvSpPr>
          <p:nvPr/>
        </p:nvSpPr>
        <p:spPr bwMode="auto">
          <a:xfrm>
            <a:off x="2771775" y="4868863"/>
            <a:ext cx="1079500" cy="358775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FULL</a:t>
            </a:r>
          </a:p>
        </p:txBody>
      </p:sp>
      <p:sp>
        <p:nvSpPr>
          <p:cNvPr id="299049" name="Text Box 41"/>
          <p:cNvSpPr txBox="1">
            <a:spLocks noChangeArrowheads="1"/>
          </p:cNvSpPr>
          <p:nvPr/>
        </p:nvSpPr>
        <p:spPr bwMode="auto">
          <a:xfrm>
            <a:off x="4211638" y="4868863"/>
            <a:ext cx="1079500" cy="358775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EMPTY</a:t>
            </a:r>
          </a:p>
        </p:txBody>
      </p:sp>
      <p:sp>
        <p:nvSpPr>
          <p:cNvPr id="299050" name="WordArt 42"/>
          <p:cNvSpPr>
            <a:spLocks noChangeArrowheads="1" noChangeShapeType="1" noTextEdit="1"/>
          </p:cNvSpPr>
          <p:nvPr/>
        </p:nvSpPr>
        <p:spPr bwMode="auto">
          <a:xfrm>
            <a:off x="7092950" y="1089025"/>
            <a:ext cx="719138" cy="1444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DR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9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9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animBg="1"/>
      <p:bldP spid="299012" grpId="0" animBg="1"/>
      <p:bldP spid="299013" grpId="0" animBg="1"/>
      <p:bldP spid="299014" grpId="0" animBg="1"/>
      <p:bldP spid="299016" grpId="0" animBg="1"/>
      <p:bldP spid="299043" grpId="0"/>
      <p:bldP spid="299044" grpId="0"/>
      <p:bldP spid="299045" grpId="0"/>
      <p:bldP spid="299046" grpId="0"/>
      <p:bldP spid="299047" grpId="0"/>
      <p:bldP spid="299048" grpId="0" animBg="1"/>
      <p:bldP spid="299049" grpId="0" animBg="1"/>
      <p:bldP spid="299050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en-US" sz="3500"/>
              <a:t>Stack Organization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3851275" y="4149725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SP</a:t>
            </a:r>
          </a:p>
        </p:txBody>
      </p:sp>
      <p:sp>
        <p:nvSpPr>
          <p:cNvPr id="300036" name="Line 4"/>
          <p:cNvSpPr>
            <a:spLocks noChangeShapeType="1"/>
          </p:cNvSpPr>
          <p:nvPr/>
        </p:nvSpPr>
        <p:spPr bwMode="auto">
          <a:xfrm flipV="1">
            <a:off x="5292725" y="3968750"/>
            <a:ext cx="719138" cy="360363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4085" name="AutoShape 5"/>
          <p:cNvSpPr>
            <a:spLocks noChangeArrowheads="1"/>
          </p:cNvSpPr>
          <p:nvPr/>
        </p:nvSpPr>
        <p:spPr bwMode="auto">
          <a:xfrm>
            <a:off x="3581400" y="5589588"/>
            <a:ext cx="1979613" cy="539750"/>
          </a:xfrm>
          <a:prstGeom prst="wedgeRoundRectCallout">
            <a:avLst>
              <a:gd name="adj1" fmla="val 72694"/>
              <a:gd name="adj2" fmla="val -25588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Stack Bottom</a:t>
            </a:r>
          </a:p>
        </p:txBody>
      </p:sp>
      <p:sp>
        <p:nvSpPr>
          <p:cNvPr id="300038" name="AutoShape 6"/>
          <p:cNvSpPr>
            <a:spLocks noChangeArrowheads="1"/>
          </p:cNvSpPr>
          <p:nvPr/>
        </p:nvSpPr>
        <p:spPr bwMode="auto">
          <a:xfrm>
            <a:off x="3581400" y="1268413"/>
            <a:ext cx="1979613" cy="1081087"/>
          </a:xfrm>
          <a:prstGeom prst="wedgeRoundRectCallout">
            <a:avLst>
              <a:gd name="adj1" fmla="val 74218"/>
              <a:gd name="adj2" fmla="val 178634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Current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Top of Stack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TOS</a:t>
            </a:r>
          </a:p>
        </p:txBody>
      </p:sp>
      <p:sp>
        <p:nvSpPr>
          <p:cNvPr id="300039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3762375"/>
          </a:xfrm>
          <a:noFill/>
        </p:spPr>
        <p:txBody>
          <a:bodyPr lIns="63500" tIns="25400" rIns="63500" bIns="25400">
            <a:spAutoFit/>
          </a:bodyPr>
          <a:lstStyle/>
          <a:p>
            <a:r>
              <a:rPr lang="en-US"/>
              <a:t>PUSH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SP ← SP – 1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M[SP] ← DR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If (SP = 0) then (FULL ← 1)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EMPTY ← 0</a:t>
            </a:r>
          </a:p>
        </p:txBody>
      </p:sp>
      <p:sp>
        <p:nvSpPr>
          <p:cNvPr id="300040" name="Line 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74089" name="Group 9"/>
          <p:cNvGrpSpPr>
            <a:grpSpLocks/>
          </p:cNvGrpSpPr>
          <p:nvPr/>
        </p:nvGrpSpPr>
        <p:grpSpPr bwMode="auto">
          <a:xfrm>
            <a:off x="6011863" y="1089025"/>
            <a:ext cx="2341562" cy="5219700"/>
            <a:chOff x="3787" y="686"/>
            <a:chExt cx="1475" cy="3288"/>
          </a:xfrm>
        </p:grpSpPr>
        <p:sp>
          <p:nvSpPr>
            <p:cNvPr id="174090" name="AutoShape 10"/>
            <p:cNvSpPr>
              <a:spLocks noChangeArrowheads="1"/>
            </p:cNvSpPr>
            <p:nvPr/>
          </p:nvSpPr>
          <p:spPr bwMode="auto">
            <a:xfrm>
              <a:off x="4127" y="1139"/>
              <a:ext cx="1135" cy="2609"/>
            </a:xfrm>
            <a:prstGeom prst="cube">
              <a:avLst>
                <a:gd name="adj" fmla="val 9514"/>
              </a:avLst>
            </a:prstGeom>
            <a:solidFill>
              <a:srgbClr val="E6E6E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74091" name="Text Box 11"/>
            <p:cNvSpPr txBox="1">
              <a:spLocks noChangeArrowheads="1"/>
            </p:cNvSpPr>
            <p:nvPr/>
          </p:nvSpPr>
          <p:spPr bwMode="auto">
            <a:xfrm>
              <a:off x="3787" y="125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2" name="Text Box 12"/>
            <p:cNvSpPr txBox="1">
              <a:spLocks noChangeArrowheads="1"/>
            </p:cNvSpPr>
            <p:nvPr/>
          </p:nvSpPr>
          <p:spPr bwMode="auto">
            <a:xfrm>
              <a:off x="3788" y="1478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3" name="Text Box 13"/>
            <p:cNvSpPr txBox="1">
              <a:spLocks noChangeArrowheads="1"/>
            </p:cNvSpPr>
            <p:nvPr/>
          </p:nvSpPr>
          <p:spPr bwMode="auto">
            <a:xfrm>
              <a:off x="3789" y="170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4" name="Text Box 14"/>
            <p:cNvSpPr txBox="1">
              <a:spLocks noChangeArrowheads="1"/>
            </p:cNvSpPr>
            <p:nvPr/>
          </p:nvSpPr>
          <p:spPr bwMode="auto">
            <a:xfrm>
              <a:off x="3790" y="1932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3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5" name="Text Box 15"/>
            <p:cNvSpPr txBox="1">
              <a:spLocks noChangeArrowheads="1"/>
            </p:cNvSpPr>
            <p:nvPr/>
          </p:nvSpPr>
          <p:spPr bwMode="auto">
            <a:xfrm>
              <a:off x="3791" y="2159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4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6" name="Text Box 16"/>
            <p:cNvSpPr txBox="1">
              <a:spLocks noChangeArrowheads="1"/>
            </p:cNvSpPr>
            <p:nvPr/>
          </p:nvSpPr>
          <p:spPr bwMode="auto">
            <a:xfrm>
              <a:off x="3794" y="2840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7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7" name="Text Box 17"/>
            <p:cNvSpPr txBox="1">
              <a:spLocks noChangeArrowheads="1"/>
            </p:cNvSpPr>
            <p:nvPr/>
          </p:nvSpPr>
          <p:spPr bwMode="auto">
            <a:xfrm>
              <a:off x="3795" y="3067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8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8" name="Text Box 18"/>
            <p:cNvSpPr txBox="1">
              <a:spLocks noChangeArrowheads="1"/>
            </p:cNvSpPr>
            <p:nvPr/>
          </p:nvSpPr>
          <p:spPr bwMode="auto">
            <a:xfrm>
              <a:off x="3796" y="3294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9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099" name="Text Box 19"/>
            <p:cNvSpPr txBox="1">
              <a:spLocks noChangeArrowheads="1"/>
            </p:cNvSpPr>
            <p:nvPr/>
          </p:nvSpPr>
          <p:spPr bwMode="auto">
            <a:xfrm>
              <a:off x="3797" y="352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100" name="Text Box 20"/>
            <p:cNvSpPr txBox="1">
              <a:spLocks noChangeArrowheads="1"/>
            </p:cNvSpPr>
            <p:nvPr/>
          </p:nvSpPr>
          <p:spPr bwMode="auto">
            <a:xfrm>
              <a:off x="3787" y="238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5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101" name="Text Box 21"/>
            <p:cNvSpPr txBox="1">
              <a:spLocks noChangeArrowheads="1"/>
            </p:cNvSpPr>
            <p:nvPr/>
          </p:nvSpPr>
          <p:spPr bwMode="auto">
            <a:xfrm>
              <a:off x="3787" y="2612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6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4102" name="Text Box 22"/>
            <p:cNvSpPr txBox="1">
              <a:spLocks noChangeArrowheads="1"/>
            </p:cNvSpPr>
            <p:nvPr/>
          </p:nvSpPr>
          <p:spPr bwMode="auto">
            <a:xfrm>
              <a:off x="4241" y="3747"/>
              <a:ext cx="794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Stack</a:t>
              </a:r>
            </a:p>
          </p:txBody>
        </p:sp>
        <p:sp>
          <p:nvSpPr>
            <p:cNvPr id="174103" name="AutoShape 23"/>
            <p:cNvSpPr>
              <a:spLocks noChangeArrowheads="1"/>
            </p:cNvSpPr>
            <p:nvPr/>
          </p:nvSpPr>
          <p:spPr bwMode="auto">
            <a:xfrm>
              <a:off x="4127" y="686"/>
              <a:ext cx="1134" cy="340"/>
            </a:xfrm>
            <a:prstGeom prst="cube">
              <a:avLst>
                <a:gd name="adj" fmla="val 33528"/>
              </a:avLst>
            </a:prstGeom>
            <a:solidFill>
              <a:srgbClr val="00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104" name="Line 24"/>
            <p:cNvSpPr>
              <a:spLocks noChangeShapeType="1"/>
            </p:cNvSpPr>
            <p:nvPr/>
          </p:nvSpPr>
          <p:spPr bwMode="auto">
            <a:xfrm>
              <a:off x="4127" y="1480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05" name="Line 25"/>
            <p:cNvSpPr>
              <a:spLocks noChangeShapeType="1"/>
            </p:cNvSpPr>
            <p:nvPr/>
          </p:nvSpPr>
          <p:spPr bwMode="auto">
            <a:xfrm>
              <a:off x="4127" y="1706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06" name="Line 26"/>
            <p:cNvSpPr>
              <a:spLocks noChangeShapeType="1"/>
            </p:cNvSpPr>
            <p:nvPr/>
          </p:nvSpPr>
          <p:spPr bwMode="auto">
            <a:xfrm>
              <a:off x="4127" y="1932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07" name="Line 27"/>
            <p:cNvSpPr>
              <a:spLocks noChangeShapeType="1"/>
            </p:cNvSpPr>
            <p:nvPr/>
          </p:nvSpPr>
          <p:spPr bwMode="auto">
            <a:xfrm>
              <a:off x="4127" y="2158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08" name="Line 28"/>
            <p:cNvSpPr>
              <a:spLocks noChangeShapeType="1"/>
            </p:cNvSpPr>
            <p:nvPr/>
          </p:nvSpPr>
          <p:spPr bwMode="auto">
            <a:xfrm>
              <a:off x="4127" y="2384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09" name="Line 29"/>
            <p:cNvSpPr>
              <a:spLocks noChangeShapeType="1"/>
            </p:cNvSpPr>
            <p:nvPr/>
          </p:nvSpPr>
          <p:spPr bwMode="auto">
            <a:xfrm>
              <a:off x="4127" y="2610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10" name="Line 30"/>
            <p:cNvSpPr>
              <a:spLocks noChangeShapeType="1"/>
            </p:cNvSpPr>
            <p:nvPr/>
          </p:nvSpPr>
          <p:spPr bwMode="auto">
            <a:xfrm>
              <a:off x="4127" y="2836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11" name="Line 31"/>
            <p:cNvSpPr>
              <a:spLocks noChangeShapeType="1"/>
            </p:cNvSpPr>
            <p:nvPr/>
          </p:nvSpPr>
          <p:spPr bwMode="auto">
            <a:xfrm>
              <a:off x="4127" y="3062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12" name="Line 32"/>
            <p:cNvSpPr>
              <a:spLocks noChangeShapeType="1"/>
            </p:cNvSpPr>
            <p:nvPr/>
          </p:nvSpPr>
          <p:spPr bwMode="auto">
            <a:xfrm>
              <a:off x="4127" y="3288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13" name="Line 33"/>
            <p:cNvSpPr>
              <a:spLocks noChangeShapeType="1"/>
            </p:cNvSpPr>
            <p:nvPr/>
          </p:nvSpPr>
          <p:spPr bwMode="auto">
            <a:xfrm>
              <a:off x="4127" y="3514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4114" name="AutoShape 34"/>
            <p:cNvSpPr>
              <a:spLocks noChangeArrowheads="1"/>
            </p:cNvSpPr>
            <p:nvPr/>
          </p:nvSpPr>
          <p:spPr bwMode="auto">
            <a:xfrm>
              <a:off x="4581" y="1036"/>
              <a:ext cx="114" cy="167"/>
            </a:xfrm>
            <a:prstGeom prst="upDownArrow">
              <a:avLst>
                <a:gd name="adj1" fmla="val 45611"/>
                <a:gd name="adj2" fmla="val 49997"/>
              </a:avLst>
            </a:prstGeom>
            <a:solidFill>
              <a:srgbClr val="FFFF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74115" name="Text Box 35"/>
          <p:cNvSpPr txBox="1">
            <a:spLocks noChangeArrowheads="1"/>
          </p:cNvSpPr>
          <p:nvPr/>
        </p:nvSpPr>
        <p:spPr bwMode="auto">
          <a:xfrm>
            <a:off x="6551613" y="4508500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0  0  5  5</a:t>
            </a:r>
          </a:p>
        </p:txBody>
      </p:sp>
      <p:sp>
        <p:nvSpPr>
          <p:cNvPr id="174116" name="Text Box 36"/>
          <p:cNvSpPr txBox="1">
            <a:spLocks noChangeArrowheads="1"/>
          </p:cNvSpPr>
          <p:nvPr/>
        </p:nvSpPr>
        <p:spPr bwMode="auto">
          <a:xfrm>
            <a:off x="6551613" y="48688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0  0  0  8</a:t>
            </a:r>
          </a:p>
        </p:txBody>
      </p:sp>
      <p:sp>
        <p:nvSpPr>
          <p:cNvPr id="174117" name="Text Box 37"/>
          <p:cNvSpPr txBox="1">
            <a:spLocks noChangeArrowheads="1"/>
          </p:cNvSpPr>
          <p:nvPr/>
        </p:nvSpPr>
        <p:spPr bwMode="auto">
          <a:xfrm>
            <a:off x="6551613" y="5229225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0  0  2  5</a:t>
            </a:r>
          </a:p>
        </p:txBody>
      </p:sp>
      <p:sp>
        <p:nvSpPr>
          <p:cNvPr id="174118" name="Text Box 38"/>
          <p:cNvSpPr txBox="1">
            <a:spLocks noChangeArrowheads="1"/>
          </p:cNvSpPr>
          <p:nvPr/>
        </p:nvSpPr>
        <p:spPr bwMode="auto">
          <a:xfrm>
            <a:off x="6551613" y="5589588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0  0  1  5</a:t>
            </a:r>
          </a:p>
        </p:txBody>
      </p:sp>
      <p:sp>
        <p:nvSpPr>
          <p:cNvPr id="174119" name="Text Box 39"/>
          <p:cNvSpPr txBox="1">
            <a:spLocks noChangeArrowheads="1"/>
          </p:cNvSpPr>
          <p:nvPr/>
        </p:nvSpPr>
        <p:spPr bwMode="auto">
          <a:xfrm>
            <a:off x="6551613" y="4148138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0  1  2  3</a:t>
            </a:r>
          </a:p>
        </p:txBody>
      </p:sp>
      <p:sp>
        <p:nvSpPr>
          <p:cNvPr id="174120" name="Text Box 40"/>
          <p:cNvSpPr txBox="1">
            <a:spLocks noChangeArrowheads="1"/>
          </p:cNvSpPr>
          <p:nvPr/>
        </p:nvSpPr>
        <p:spPr bwMode="auto">
          <a:xfrm>
            <a:off x="2771775" y="4868863"/>
            <a:ext cx="1079500" cy="358775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FULL</a:t>
            </a:r>
          </a:p>
        </p:txBody>
      </p:sp>
      <p:sp>
        <p:nvSpPr>
          <p:cNvPr id="174121" name="Text Box 41"/>
          <p:cNvSpPr txBox="1">
            <a:spLocks noChangeArrowheads="1"/>
          </p:cNvSpPr>
          <p:nvPr/>
        </p:nvSpPr>
        <p:spPr bwMode="auto">
          <a:xfrm>
            <a:off x="4211638" y="4868863"/>
            <a:ext cx="1079500" cy="358775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EMPTY</a:t>
            </a:r>
          </a:p>
        </p:txBody>
      </p:sp>
      <p:sp>
        <p:nvSpPr>
          <p:cNvPr id="300074" name="Text Box 42"/>
          <p:cNvSpPr txBox="1">
            <a:spLocks noChangeArrowheads="1"/>
          </p:cNvSpPr>
          <p:nvPr/>
        </p:nvSpPr>
        <p:spPr bwMode="auto">
          <a:xfrm>
            <a:off x="6551613" y="37893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1"/>
                </a:solidFill>
                <a:cs typeface="Arial" pitchFamily="34" charset="0"/>
              </a:rPr>
              <a:t>1  6  9  0</a:t>
            </a:r>
          </a:p>
        </p:txBody>
      </p:sp>
      <p:sp>
        <p:nvSpPr>
          <p:cNvPr id="174123" name="Text Box 43"/>
          <p:cNvSpPr txBox="1">
            <a:spLocks noChangeArrowheads="1"/>
          </p:cNvSpPr>
          <p:nvPr/>
        </p:nvSpPr>
        <p:spPr bwMode="auto">
          <a:xfrm>
            <a:off x="6551613" y="126841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1"/>
                </a:solidFill>
                <a:cs typeface="Arial" pitchFamily="34" charset="0"/>
              </a:rPr>
              <a:t>1  6  9  0</a:t>
            </a:r>
          </a:p>
        </p:txBody>
      </p:sp>
      <p:sp>
        <p:nvSpPr>
          <p:cNvPr id="174124" name="WordArt 44"/>
          <p:cNvSpPr>
            <a:spLocks noChangeArrowheads="1" noChangeShapeType="1" noTextEdit="1"/>
          </p:cNvSpPr>
          <p:nvPr/>
        </p:nvSpPr>
        <p:spPr bwMode="auto">
          <a:xfrm>
            <a:off x="7092950" y="1089025"/>
            <a:ext cx="719138" cy="1444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DR</a:t>
            </a:r>
          </a:p>
        </p:txBody>
      </p:sp>
      <p:sp>
        <p:nvSpPr>
          <p:cNvPr id="300077" name="Line 45"/>
          <p:cNvSpPr>
            <a:spLocks noChangeShapeType="1"/>
          </p:cNvSpPr>
          <p:nvPr/>
        </p:nvSpPr>
        <p:spPr bwMode="auto">
          <a:xfrm>
            <a:off x="5292725" y="4329113"/>
            <a:ext cx="71913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0078" name="AutoShape 46"/>
          <p:cNvSpPr>
            <a:spLocks noChangeArrowheads="1"/>
          </p:cNvSpPr>
          <p:nvPr/>
        </p:nvSpPr>
        <p:spPr bwMode="auto">
          <a:xfrm>
            <a:off x="3586163" y="1268413"/>
            <a:ext cx="1979612" cy="1081087"/>
          </a:xfrm>
          <a:prstGeom prst="wedgeRoundRectCallout">
            <a:avLst>
              <a:gd name="adj1" fmla="val 76463"/>
              <a:gd name="adj2" fmla="val 212704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Current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Top of Stack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0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0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0.36736 L 4.16667E-6 -3.7037E-6 " pathEditMode="relative" ptsTypes="AA">
                                      <p:cBhvr>
                                        <p:cTn id="29" dur="2000" fill="hold"/>
                                        <p:tgtEl>
                                          <p:spTgt spid="300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0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0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 animBg="1"/>
      <p:bldP spid="300038" grpId="0" animBg="1"/>
      <p:bldP spid="300040" grpId="0" animBg="1"/>
      <p:bldP spid="300074" grpId="0"/>
      <p:bldP spid="300074" grpId="1"/>
      <p:bldP spid="300077" grpId="0" animBg="1"/>
      <p:bldP spid="30007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Stack Organization</a:t>
            </a:r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3851275" y="4149725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SP</a:t>
            </a:r>
          </a:p>
        </p:txBody>
      </p:sp>
      <p:sp>
        <p:nvSpPr>
          <p:cNvPr id="301060" name="Line 4"/>
          <p:cNvSpPr>
            <a:spLocks noChangeShapeType="1"/>
          </p:cNvSpPr>
          <p:nvPr/>
        </p:nvSpPr>
        <p:spPr bwMode="auto">
          <a:xfrm flipV="1">
            <a:off x="5292725" y="3968750"/>
            <a:ext cx="719138" cy="360363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5109" name="AutoShape 5"/>
          <p:cNvSpPr>
            <a:spLocks noChangeArrowheads="1"/>
          </p:cNvSpPr>
          <p:nvPr/>
        </p:nvSpPr>
        <p:spPr bwMode="auto">
          <a:xfrm>
            <a:off x="3581400" y="5589588"/>
            <a:ext cx="1979613" cy="539750"/>
          </a:xfrm>
          <a:prstGeom prst="wedgeRoundRectCallout">
            <a:avLst>
              <a:gd name="adj1" fmla="val 72694"/>
              <a:gd name="adj2" fmla="val -25588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Stack Bottom</a:t>
            </a:r>
          </a:p>
        </p:txBody>
      </p:sp>
      <p:sp>
        <p:nvSpPr>
          <p:cNvPr id="301062" name="AutoShape 6"/>
          <p:cNvSpPr>
            <a:spLocks noChangeArrowheads="1"/>
          </p:cNvSpPr>
          <p:nvPr/>
        </p:nvSpPr>
        <p:spPr bwMode="auto">
          <a:xfrm>
            <a:off x="3581400" y="1268413"/>
            <a:ext cx="1979613" cy="1081087"/>
          </a:xfrm>
          <a:prstGeom prst="wedgeRoundRectCallout">
            <a:avLst>
              <a:gd name="adj1" fmla="val 74218"/>
              <a:gd name="adj2" fmla="val 178634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Current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Top of Stack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TOS</a:t>
            </a:r>
          </a:p>
        </p:txBody>
      </p:sp>
      <p:sp>
        <p:nvSpPr>
          <p:cNvPr id="301063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3762375"/>
          </a:xfrm>
          <a:noFill/>
        </p:spPr>
        <p:txBody>
          <a:bodyPr lIns="63500" tIns="25400" rIns="63500" bIns="25400">
            <a:spAutoFit/>
          </a:bodyPr>
          <a:lstStyle/>
          <a:p>
            <a:r>
              <a:rPr lang="en-US"/>
              <a:t>POP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DR ← M[SP]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SP ← SP + 1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If (SP = 11) then (EMPTY ← 1)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FULL ← 0</a:t>
            </a:r>
          </a:p>
        </p:txBody>
      </p:sp>
      <p:sp>
        <p:nvSpPr>
          <p:cNvPr id="301064" name="Line 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75113" name="Group 9"/>
          <p:cNvGrpSpPr>
            <a:grpSpLocks/>
          </p:cNvGrpSpPr>
          <p:nvPr/>
        </p:nvGrpSpPr>
        <p:grpSpPr bwMode="auto">
          <a:xfrm>
            <a:off x="6011863" y="1089025"/>
            <a:ext cx="2341562" cy="5219700"/>
            <a:chOff x="3787" y="686"/>
            <a:chExt cx="1475" cy="3288"/>
          </a:xfrm>
        </p:grpSpPr>
        <p:sp>
          <p:nvSpPr>
            <p:cNvPr id="175114" name="AutoShape 10"/>
            <p:cNvSpPr>
              <a:spLocks noChangeArrowheads="1"/>
            </p:cNvSpPr>
            <p:nvPr/>
          </p:nvSpPr>
          <p:spPr bwMode="auto">
            <a:xfrm>
              <a:off x="4127" y="1139"/>
              <a:ext cx="1135" cy="2609"/>
            </a:xfrm>
            <a:prstGeom prst="cube">
              <a:avLst>
                <a:gd name="adj" fmla="val 9514"/>
              </a:avLst>
            </a:prstGeom>
            <a:solidFill>
              <a:srgbClr val="E6E6E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75115" name="Text Box 11"/>
            <p:cNvSpPr txBox="1">
              <a:spLocks noChangeArrowheads="1"/>
            </p:cNvSpPr>
            <p:nvPr/>
          </p:nvSpPr>
          <p:spPr bwMode="auto">
            <a:xfrm>
              <a:off x="3787" y="125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16" name="Text Box 12"/>
            <p:cNvSpPr txBox="1">
              <a:spLocks noChangeArrowheads="1"/>
            </p:cNvSpPr>
            <p:nvPr/>
          </p:nvSpPr>
          <p:spPr bwMode="auto">
            <a:xfrm>
              <a:off x="3788" y="1478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17" name="Text Box 13"/>
            <p:cNvSpPr txBox="1">
              <a:spLocks noChangeArrowheads="1"/>
            </p:cNvSpPr>
            <p:nvPr/>
          </p:nvSpPr>
          <p:spPr bwMode="auto">
            <a:xfrm>
              <a:off x="3789" y="170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2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18" name="Text Box 14"/>
            <p:cNvSpPr txBox="1">
              <a:spLocks noChangeArrowheads="1"/>
            </p:cNvSpPr>
            <p:nvPr/>
          </p:nvSpPr>
          <p:spPr bwMode="auto">
            <a:xfrm>
              <a:off x="3790" y="1932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3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19" name="Text Box 15"/>
            <p:cNvSpPr txBox="1">
              <a:spLocks noChangeArrowheads="1"/>
            </p:cNvSpPr>
            <p:nvPr/>
          </p:nvSpPr>
          <p:spPr bwMode="auto">
            <a:xfrm>
              <a:off x="3791" y="2159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4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20" name="Text Box 16"/>
            <p:cNvSpPr txBox="1">
              <a:spLocks noChangeArrowheads="1"/>
            </p:cNvSpPr>
            <p:nvPr/>
          </p:nvSpPr>
          <p:spPr bwMode="auto">
            <a:xfrm>
              <a:off x="3794" y="2840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7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21" name="Text Box 17"/>
            <p:cNvSpPr txBox="1">
              <a:spLocks noChangeArrowheads="1"/>
            </p:cNvSpPr>
            <p:nvPr/>
          </p:nvSpPr>
          <p:spPr bwMode="auto">
            <a:xfrm>
              <a:off x="3795" y="3067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8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22" name="Text Box 18"/>
            <p:cNvSpPr txBox="1">
              <a:spLocks noChangeArrowheads="1"/>
            </p:cNvSpPr>
            <p:nvPr/>
          </p:nvSpPr>
          <p:spPr bwMode="auto">
            <a:xfrm>
              <a:off x="3796" y="3294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9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23" name="Text Box 19"/>
            <p:cNvSpPr txBox="1">
              <a:spLocks noChangeArrowheads="1"/>
            </p:cNvSpPr>
            <p:nvPr/>
          </p:nvSpPr>
          <p:spPr bwMode="auto">
            <a:xfrm>
              <a:off x="3797" y="3521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10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24" name="Text Box 20"/>
            <p:cNvSpPr txBox="1">
              <a:spLocks noChangeArrowheads="1"/>
            </p:cNvSpPr>
            <p:nvPr/>
          </p:nvSpPr>
          <p:spPr bwMode="auto">
            <a:xfrm>
              <a:off x="3787" y="2385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5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25" name="Text Box 21"/>
            <p:cNvSpPr txBox="1">
              <a:spLocks noChangeArrowheads="1"/>
            </p:cNvSpPr>
            <p:nvPr/>
          </p:nvSpPr>
          <p:spPr bwMode="auto">
            <a:xfrm>
              <a:off x="3787" y="2612"/>
              <a:ext cx="339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000" b="1">
                  <a:cs typeface="Arial" pitchFamily="34" charset="0"/>
                </a:rPr>
                <a:t>6</a:t>
              </a:r>
              <a:endParaRPr lang="en-US" sz="20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75126" name="Text Box 22"/>
            <p:cNvSpPr txBox="1">
              <a:spLocks noChangeArrowheads="1"/>
            </p:cNvSpPr>
            <p:nvPr/>
          </p:nvSpPr>
          <p:spPr bwMode="auto">
            <a:xfrm>
              <a:off x="4241" y="3747"/>
              <a:ext cx="794" cy="2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Stack</a:t>
              </a:r>
            </a:p>
          </p:txBody>
        </p:sp>
        <p:sp>
          <p:nvSpPr>
            <p:cNvPr id="175127" name="AutoShape 23"/>
            <p:cNvSpPr>
              <a:spLocks noChangeArrowheads="1"/>
            </p:cNvSpPr>
            <p:nvPr/>
          </p:nvSpPr>
          <p:spPr bwMode="auto">
            <a:xfrm>
              <a:off x="4127" y="686"/>
              <a:ext cx="1134" cy="340"/>
            </a:xfrm>
            <a:prstGeom prst="cube">
              <a:avLst>
                <a:gd name="adj" fmla="val 33528"/>
              </a:avLst>
            </a:prstGeom>
            <a:solidFill>
              <a:srgbClr val="00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128" name="Line 24"/>
            <p:cNvSpPr>
              <a:spLocks noChangeShapeType="1"/>
            </p:cNvSpPr>
            <p:nvPr/>
          </p:nvSpPr>
          <p:spPr bwMode="auto">
            <a:xfrm>
              <a:off x="4127" y="1480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29" name="Line 25"/>
            <p:cNvSpPr>
              <a:spLocks noChangeShapeType="1"/>
            </p:cNvSpPr>
            <p:nvPr/>
          </p:nvSpPr>
          <p:spPr bwMode="auto">
            <a:xfrm>
              <a:off x="4127" y="1706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0" name="Line 26"/>
            <p:cNvSpPr>
              <a:spLocks noChangeShapeType="1"/>
            </p:cNvSpPr>
            <p:nvPr/>
          </p:nvSpPr>
          <p:spPr bwMode="auto">
            <a:xfrm>
              <a:off x="4127" y="1932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1" name="Line 27"/>
            <p:cNvSpPr>
              <a:spLocks noChangeShapeType="1"/>
            </p:cNvSpPr>
            <p:nvPr/>
          </p:nvSpPr>
          <p:spPr bwMode="auto">
            <a:xfrm>
              <a:off x="4127" y="2158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2" name="Line 28"/>
            <p:cNvSpPr>
              <a:spLocks noChangeShapeType="1"/>
            </p:cNvSpPr>
            <p:nvPr/>
          </p:nvSpPr>
          <p:spPr bwMode="auto">
            <a:xfrm>
              <a:off x="4127" y="2384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3" name="Line 29"/>
            <p:cNvSpPr>
              <a:spLocks noChangeShapeType="1"/>
            </p:cNvSpPr>
            <p:nvPr/>
          </p:nvSpPr>
          <p:spPr bwMode="auto">
            <a:xfrm>
              <a:off x="4127" y="2610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4" name="Line 30"/>
            <p:cNvSpPr>
              <a:spLocks noChangeShapeType="1"/>
            </p:cNvSpPr>
            <p:nvPr/>
          </p:nvSpPr>
          <p:spPr bwMode="auto">
            <a:xfrm>
              <a:off x="4127" y="2836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5" name="Line 31"/>
            <p:cNvSpPr>
              <a:spLocks noChangeShapeType="1"/>
            </p:cNvSpPr>
            <p:nvPr/>
          </p:nvSpPr>
          <p:spPr bwMode="auto">
            <a:xfrm>
              <a:off x="4127" y="3062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6" name="Line 32"/>
            <p:cNvSpPr>
              <a:spLocks noChangeShapeType="1"/>
            </p:cNvSpPr>
            <p:nvPr/>
          </p:nvSpPr>
          <p:spPr bwMode="auto">
            <a:xfrm>
              <a:off x="4127" y="3288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7" name="Line 33"/>
            <p:cNvSpPr>
              <a:spLocks noChangeShapeType="1"/>
            </p:cNvSpPr>
            <p:nvPr/>
          </p:nvSpPr>
          <p:spPr bwMode="auto">
            <a:xfrm>
              <a:off x="4127" y="3514"/>
              <a:ext cx="1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75138" name="AutoShape 34"/>
            <p:cNvSpPr>
              <a:spLocks noChangeArrowheads="1"/>
            </p:cNvSpPr>
            <p:nvPr/>
          </p:nvSpPr>
          <p:spPr bwMode="auto">
            <a:xfrm>
              <a:off x="4581" y="1036"/>
              <a:ext cx="114" cy="167"/>
            </a:xfrm>
            <a:prstGeom prst="upDownArrow">
              <a:avLst>
                <a:gd name="adj1" fmla="val 45611"/>
                <a:gd name="adj2" fmla="val 49997"/>
              </a:avLst>
            </a:prstGeom>
            <a:solidFill>
              <a:srgbClr val="FFFF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75139" name="Text Box 35"/>
          <p:cNvSpPr txBox="1">
            <a:spLocks noChangeArrowheads="1"/>
          </p:cNvSpPr>
          <p:nvPr/>
        </p:nvSpPr>
        <p:spPr bwMode="auto">
          <a:xfrm>
            <a:off x="6551613" y="4508500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0  0  5  5</a:t>
            </a:r>
          </a:p>
        </p:txBody>
      </p:sp>
      <p:sp>
        <p:nvSpPr>
          <p:cNvPr id="175140" name="Text Box 36"/>
          <p:cNvSpPr txBox="1">
            <a:spLocks noChangeArrowheads="1"/>
          </p:cNvSpPr>
          <p:nvPr/>
        </p:nvSpPr>
        <p:spPr bwMode="auto">
          <a:xfrm>
            <a:off x="6551613" y="48688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0  0  0  8</a:t>
            </a:r>
          </a:p>
        </p:txBody>
      </p:sp>
      <p:sp>
        <p:nvSpPr>
          <p:cNvPr id="175141" name="Text Box 37"/>
          <p:cNvSpPr txBox="1">
            <a:spLocks noChangeArrowheads="1"/>
          </p:cNvSpPr>
          <p:nvPr/>
        </p:nvSpPr>
        <p:spPr bwMode="auto">
          <a:xfrm>
            <a:off x="6551613" y="5229225"/>
            <a:ext cx="1620837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0  0  2  5</a:t>
            </a:r>
          </a:p>
        </p:txBody>
      </p:sp>
      <p:sp>
        <p:nvSpPr>
          <p:cNvPr id="175142" name="Text Box 38"/>
          <p:cNvSpPr txBox="1">
            <a:spLocks noChangeArrowheads="1"/>
          </p:cNvSpPr>
          <p:nvPr/>
        </p:nvSpPr>
        <p:spPr bwMode="auto">
          <a:xfrm>
            <a:off x="6551613" y="5589588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0  0  1  5</a:t>
            </a:r>
          </a:p>
        </p:txBody>
      </p:sp>
      <p:sp>
        <p:nvSpPr>
          <p:cNvPr id="175143" name="Text Box 39"/>
          <p:cNvSpPr txBox="1">
            <a:spLocks noChangeArrowheads="1"/>
          </p:cNvSpPr>
          <p:nvPr/>
        </p:nvSpPr>
        <p:spPr bwMode="auto">
          <a:xfrm>
            <a:off x="6551613" y="4148138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2"/>
                </a:solidFill>
                <a:cs typeface="Arial" pitchFamily="34" charset="0"/>
              </a:rPr>
              <a:t>0  1  2  3</a:t>
            </a:r>
          </a:p>
        </p:txBody>
      </p:sp>
      <p:sp>
        <p:nvSpPr>
          <p:cNvPr id="175144" name="Text Box 40"/>
          <p:cNvSpPr txBox="1">
            <a:spLocks noChangeArrowheads="1"/>
          </p:cNvSpPr>
          <p:nvPr/>
        </p:nvSpPr>
        <p:spPr bwMode="auto">
          <a:xfrm>
            <a:off x="2771775" y="4868863"/>
            <a:ext cx="1079500" cy="358775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FULL</a:t>
            </a:r>
          </a:p>
        </p:txBody>
      </p:sp>
      <p:sp>
        <p:nvSpPr>
          <p:cNvPr id="175145" name="Text Box 41"/>
          <p:cNvSpPr txBox="1">
            <a:spLocks noChangeArrowheads="1"/>
          </p:cNvSpPr>
          <p:nvPr/>
        </p:nvSpPr>
        <p:spPr bwMode="auto">
          <a:xfrm>
            <a:off x="4211638" y="4868863"/>
            <a:ext cx="1079500" cy="358775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EMPTY</a:t>
            </a:r>
          </a:p>
        </p:txBody>
      </p:sp>
      <p:sp>
        <p:nvSpPr>
          <p:cNvPr id="301098" name="Text Box 42"/>
          <p:cNvSpPr txBox="1">
            <a:spLocks noChangeArrowheads="1"/>
          </p:cNvSpPr>
          <p:nvPr/>
        </p:nvSpPr>
        <p:spPr bwMode="auto">
          <a:xfrm>
            <a:off x="6551613" y="37893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1"/>
                </a:solidFill>
                <a:cs typeface="Arial" pitchFamily="34" charset="0"/>
              </a:rPr>
              <a:t>1  6  9  0</a:t>
            </a:r>
          </a:p>
        </p:txBody>
      </p:sp>
      <p:sp>
        <p:nvSpPr>
          <p:cNvPr id="175147" name="WordArt 43"/>
          <p:cNvSpPr>
            <a:spLocks noChangeArrowheads="1" noChangeShapeType="1" noTextEdit="1"/>
          </p:cNvSpPr>
          <p:nvPr/>
        </p:nvSpPr>
        <p:spPr bwMode="auto">
          <a:xfrm>
            <a:off x="7092950" y="1089025"/>
            <a:ext cx="719138" cy="1444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DR</a:t>
            </a:r>
          </a:p>
        </p:txBody>
      </p:sp>
      <p:sp>
        <p:nvSpPr>
          <p:cNvPr id="175148" name="Text Box 44"/>
          <p:cNvSpPr txBox="1">
            <a:spLocks noChangeArrowheads="1"/>
          </p:cNvSpPr>
          <p:nvPr/>
        </p:nvSpPr>
        <p:spPr bwMode="auto">
          <a:xfrm>
            <a:off x="6551613" y="3789363"/>
            <a:ext cx="1620837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3175"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solidFill>
                  <a:schemeClr val="accent1"/>
                </a:solidFill>
                <a:cs typeface="Arial" pitchFamily="34" charset="0"/>
              </a:rPr>
              <a:t>1  6  9  0</a:t>
            </a:r>
          </a:p>
        </p:txBody>
      </p:sp>
      <p:sp>
        <p:nvSpPr>
          <p:cNvPr id="301101" name="Line 45"/>
          <p:cNvSpPr>
            <a:spLocks noChangeShapeType="1"/>
          </p:cNvSpPr>
          <p:nvPr/>
        </p:nvSpPr>
        <p:spPr bwMode="auto">
          <a:xfrm>
            <a:off x="5292725" y="4329113"/>
            <a:ext cx="71913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1102" name="AutoShape 46"/>
          <p:cNvSpPr>
            <a:spLocks noChangeArrowheads="1"/>
          </p:cNvSpPr>
          <p:nvPr/>
        </p:nvSpPr>
        <p:spPr bwMode="auto">
          <a:xfrm>
            <a:off x="3586163" y="1268413"/>
            <a:ext cx="1979612" cy="1081087"/>
          </a:xfrm>
          <a:prstGeom prst="wedgeRoundRectCallout">
            <a:avLst>
              <a:gd name="adj1" fmla="val 76463"/>
              <a:gd name="adj2" fmla="val 212704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Current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Top of Stack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1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6 L 2.22222E-6 -0.36736 " pathEditMode="relative" ptsTypes="AA">
                                      <p:cBhvr>
                                        <p:cTn id="10" dur="2000" fill="hold"/>
                                        <p:tgtEl>
                                          <p:spTgt spid="3010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1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10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10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 animBg="1"/>
      <p:bldP spid="301062" grpId="0" animBg="1"/>
      <p:bldP spid="301064" grpId="0" animBg="1"/>
      <p:bldP spid="301098" grpId="0"/>
      <p:bldP spid="301101" grpId="0" animBg="1"/>
      <p:bldP spid="301102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AutoShape 2"/>
          <p:cNvSpPr>
            <a:spLocks noChangeArrowheads="1"/>
          </p:cNvSpPr>
          <p:nvPr/>
        </p:nvSpPr>
        <p:spPr bwMode="auto">
          <a:xfrm>
            <a:off x="6551613" y="1447800"/>
            <a:ext cx="1801812" cy="4860925"/>
          </a:xfrm>
          <a:prstGeom prst="cube">
            <a:avLst>
              <a:gd name="adj" fmla="val 9514"/>
            </a:avLst>
          </a:prstGeom>
          <a:solidFill>
            <a:srgbClr val="E6E6E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cs typeface="Arial" pitchFamily="34" charset="0"/>
            </a:endParaRPr>
          </a:p>
        </p:txBody>
      </p:sp>
      <p:sp>
        <p:nvSpPr>
          <p:cNvPr id="176131" name="Text Box 3"/>
          <p:cNvSpPr txBox="1">
            <a:spLocks noChangeArrowheads="1"/>
          </p:cNvSpPr>
          <p:nvPr/>
        </p:nvSpPr>
        <p:spPr bwMode="auto">
          <a:xfrm>
            <a:off x="6011863" y="1627188"/>
            <a:ext cx="538162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0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6013450" y="1987550"/>
            <a:ext cx="538163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1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6015038" y="2347913"/>
            <a:ext cx="538162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2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6022975" y="3968750"/>
            <a:ext cx="538163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102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5" name="Text Box 7"/>
          <p:cNvSpPr txBox="1">
            <a:spLocks noChangeArrowheads="1"/>
          </p:cNvSpPr>
          <p:nvPr/>
        </p:nvSpPr>
        <p:spPr bwMode="auto">
          <a:xfrm>
            <a:off x="6011863" y="5589588"/>
            <a:ext cx="538162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202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6011863" y="5229225"/>
            <a:ext cx="53816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201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6027738" y="4868863"/>
            <a:ext cx="538162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200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8" name="Text Box 10"/>
          <p:cNvSpPr txBox="1">
            <a:spLocks noChangeArrowheads="1"/>
          </p:cNvSpPr>
          <p:nvPr/>
        </p:nvSpPr>
        <p:spPr bwMode="auto">
          <a:xfrm>
            <a:off x="6011863" y="3249613"/>
            <a:ext cx="538162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100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39" name="Text Box 11"/>
          <p:cNvSpPr txBox="1">
            <a:spLocks noChangeArrowheads="1"/>
          </p:cNvSpPr>
          <p:nvPr/>
        </p:nvSpPr>
        <p:spPr bwMode="auto">
          <a:xfrm>
            <a:off x="6011863" y="3608388"/>
            <a:ext cx="538162" cy="360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>
                <a:cs typeface="Arial" pitchFamily="34" charset="0"/>
              </a:rPr>
              <a:t>101</a:t>
            </a:r>
            <a:endParaRPr lang="en-US" sz="200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40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en-US" sz="3500"/>
              <a:t>Stack Organization</a:t>
            </a:r>
          </a:p>
        </p:txBody>
      </p:sp>
      <p:sp>
        <p:nvSpPr>
          <p:cNvPr id="176141" name="Text Box 13"/>
          <p:cNvSpPr txBox="1">
            <a:spLocks noChangeArrowheads="1"/>
          </p:cNvSpPr>
          <p:nvPr/>
        </p:nvSpPr>
        <p:spPr bwMode="auto">
          <a:xfrm>
            <a:off x="6551613" y="1627188"/>
            <a:ext cx="1620837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42" name="Text Box 14"/>
          <p:cNvSpPr txBox="1">
            <a:spLocks noChangeArrowheads="1"/>
          </p:cNvSpPr>
          <p:nvPr/>
        </p:nvSpPr>
        <p:spPr bwMode="auto">
          <a:xfrm>
            <a:off x="6551613" y="1987550"/>
            <a:ext cx="1620837" cy="36036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6143" name="Text Box 15"/>
          <p:cNvSpPr txBox="1">
            <a:spLocks noChangeArrowheads="1"/>
          </p:cNvSpPr>
          <p:nvPr/>
        </p:nvSpPr>
        <p:spPr bwMode="auto">
          <a:xfrm>
            <a:off x="6551613" y="2347913"/>
            <a:ext cx="1620837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6551613" y="3249613"/>
            <a:ext cx="1620837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302097" name="Rectangle 17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1089025"/>
            <a:ext cx="8280400" cy="3763963"/>
          </a:xfrm>
          <a:noFill/>
        </p:spPr>
        <p:txBody>
          <a:bodyPr lIns="63500" tIns="25400" rIns="63500" bIns="25400">
            <a:spAutoFit/>
          </a:bodyPr>
          <a:lstStyle/>
          <a:p>
            <a:r>
              <a:rPr lang="en-US"/>
              <a:t>Memory Stack</a:t>
            </a:r>
          </a:p>
          <a:p>
            <a:pPr lvl="1"/>
            <a:r>
              <a:rPr lang="en-US">
                <a:solidFill>
                  <a:srgbClr val="CC00FF"/>
                </a:solidFill>
              </a:rPr>
              <a:t>PUSH</a:t>
            </a:r>
          </a:p>
          <a:p>
            <a:pPr lvl="2">
              <a:buFont typeface="Wingdings" pitchFamily="2" charset="2"/>
              <a:buNone/>
            </a:pPr>
            <a:r>
              <a:rPr lang="en-US" sz="2800"/>
              <a:t>SP ← SP – 1</a:t>
            </a:r>
          </a:p>
          <a:p>
            <a:pPr lvl="2">
              <a:buFont typeface="Wingdings" pitchFamily="2" charset="2"/>
              <a:buNone/>
            </a:pPr>
            <a:r>
              <a:rPr lang="en-US" sz="2800"/>
              <a:t>M[SP] ← DR</a:t>
            </a:r>
          </a:p>
          <a:p>
            <a:pPr lvl="1"/>
            <a:r>
              <a:rPr lang="en-US">
                <a:solidFill>
                  <a:srgbClr val="CC00FF"/>
                </a:solidFill>
              </a:rPr>
              <a:t>POP</a:t>
            </a:r>
          </a:p>
          <a:p>
            <a:pPr lvl="2">
              <a:buFont typeface="Wingdings" pitchFamily="2" charset="2"/>
              <a:buNone/>
            </a:pPr>
            <a:r>
              <a:rPr lang="en-US" sz="2800"/>
              <a:t>DR ← M[SP]</a:t>
            </a:r>
          </a:p>
          <a:p>
            <a:pPr lvl="2">
              <a:buFont typeface="Wingdings" pitchFamily="2" charset="2"/>
              <a:buNone/>
            </a:pPr>
            <a:r>
              <a:rPr lang="en-US" sz="2800"/>
              <a:t>SP ← SP + 1</a:t>
            </a:r>
          </a:p>
        </p:txBody>
      </p:sp>
      <p:sp>
        <p:nvSpPr>
          <p:cNvPr id="302098" name="Line 1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6147" name="WordArt 19"/>
          <p:cNvSpPr>
            <a:spLocks noChangeArrowheads="1" noChangeShapeType="1" noTextEdit="1"/>
          </p:cNvSpPr>
          <p:nvPr/>
        </p:nvSpPr>
        <p:spPr bwMode="auto">
          <a:xfrm>
            <a:off x="6551613" y="1089025"/>
            <a:ext cx="1800225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4093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Memory</a:t>
            </a:r>
          </a:p>
        </p:txBody>
      </p:sp>
      <p:sp>
        <p:nvSpPr>
          <p:cNvPr id="176148" name="Text Box 20"/>
          <p:cNvSpPr txBox="1">
            <a:spLocks noChangeArrowheads="1"/>
          </p:cNvSpPr>
          <p:nvPr/>
        </p:nvSpPr>
        <p:spPr bwMode="auto">
          <a:xfrm>
            <a:off x="6551613" y="3608388"/>
            <a:ext cx="1620837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76149" name="Text Box 21"/>
          <p:cNvSpPr txBox="1">
            <a:spLocks noChangeArrowheads="1"/>
          </p:cNvSpPr>
          <p:nvPr/>
        </p:nvSpPr>
        <p:spPr bwMode="auto">
          <a:xfrm>
            <a:off x="6551613" y="3968750"/>
            <a:ext cx="1620837" cy="36036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76150" name="Text Box 22"/>
          <p:cNvSpPr txBox="1">
            <a:spLocks noChangeArrowheads="1"/>
          </p:cNvSpPr>
          <p:nvPr/>
        </p:nvSpPr>
        <p:spPr bwMode="auto">
          <a:xfrm>
            <a:off x="6551613" y="4868863"/>
            <a:ext cx="1620837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76151" name="Text Box 23"/>
          <p:cNvSpPr txBox="1">
            <a:spLocks noChangeArrowheads="1"/>
          </p:cNvSpPr>
          <p:nvPr/>
        </p:nvSpPr>
        <p:spPr bwMode="auto">
          <a:xfrm>
            <a:off x="6551613" y="5229225"/>
            <a:ext cx="1620837" cy="36036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76152" name="Text Box 24"/>
          <p:cNvSpPr txBox="1">
            <a:spLocks noChangeArrowheads="1"/>
          </p:cNvSpPr>
          <p:nvPr/>
        </p:nvSpPr>
        <p:spPr bwMode="auto">
          <a:xfrm>
            <a:off x="6551613" y="5589588"/>
            <a:ext cx="1620837" cy="3603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92075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endParaRPr lang="en-US" b="1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76153" name="Text Box 25"/>
          <p:cNvSpPr txBox="1">
            <a:spLocks noChangeArrowheads="1"/>
          </p:cNvSpPr>
          <p:nvPr/>
        </p:nvSpPr>
        <p:spPr bwMode="auto">
          <a:xfrm>
            <a:off x="3851275" y="1628775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PC</a:t>
            </a:r>
          </a:p>
        </p:txBody>
      </p:sp>
      <p:sp>
        <p:nvSpPr>
          <p:cNvPr id="176154" name="Line 26"/>
          <p:cNvSpPr>
            <a:spLocks noChangeShapeType="1"/>
          </p:cNvSpPr>
          <p:nvPr/>
        </p:nvSpPr>
        <p:spPr bwMode="auto">
          <a:xfrm>
            <a:off x="5292725" y="1808163"/>
            <a:ext cx="71913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6155" name="Text Box 27"/>
          <p:cNvSpPr txBox="1">
            <a:spLocks noChangeArrowheads="1"/>
          </p:cNvSpPr>
          <p:nvPr/>
        </p:nvSpPr>
        <p:spPr bwMode="auto">
          <a:xfrm>
            <a:off x="3851275" y="3249613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AR</a:t>
            </a:r>
          </a:p>
        </p:txBody>
      </p:sp>
      <p:sp>
        <p:nvSpPr>
          <p:cNvPr id="176156" name="Line 28"/>
          <p:cNvSpPr>
            <a:spLocks noChangeShapeType="1"/>
          </p:cNvSpPr>
          <p:nvPr/>
        </p:nvSpPr>
        <p:spPr bwMode="auto">
          <a:xfrm>
            <a:off x="5292725" y="3429000"/>
            <a:ext cx="71913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6157" name="Text Box 29"/>
          <p:cNvSpPr txBox="1">
            <a:spLocks noChangeArrowheads="1"/>
          </p:cNvSpPr>
          <p:nvPr/>
        </p:nvSpPr>
        <p:spPr bwMode="auto">
          <a:xfrm>
            <a:off x="3851275" y="5229225"/>
            <a:ext cx="1439863" cy="358775"/>
          </a:xfrm>
          <a:prstGeom prst="rect">
            <a:avLst/>
          </a:prstGeom>
          <a:solidFill>
            <a:srgbClr val="00FFFF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SP</a:t>
            </a:r>
          </a:p>
        </p:txBody>
      </p:sp>
      <p:sp>
        <p:nvSpPr>
          <p:cNvPr id="176158" name="Line 30"/>
          <p:cNvSpPr>
            <a:spLocks noChangeShapeType="1"/>
          </p:cNvSpPr>
          <p:nvPr/>
        </p:nvSpPr>
        <p:spPr bwMode="auto">
          <a:xfrm>
            <a:off x="5292725" y="5408613"/>
            <a:ext cx="71913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6159" name="WordArt 31"/>
          <p:cNvSpPr>
            <a:spLocks noChangeArrowheads="1" noChangeShapeType="1" noTextEdit="1"/>
          </p:cNvSpPr>
          <p:nvPr/>
        </p:nvSpPr>
        <p:spPr bwMode="auto">
          <a:xfrm rot="-1832824">
            <a:off x="6577013" y="1997075"/>
            <a:ext cx="1620837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FF00"/>
                </a:solidFill>
                <a:latin typeface="Arial Black"/>
              </a:rPr>
              <a:t>Program</a:t>
            </a:r>
          </a:p>
        </p:txBody>
      </p:sp>
      <p:sp>
        <p:nvSpPr>
          <p:cNvPr id="176160" name="WordArt 32"/>
          <p:cNvSpPr>
            <a:spLocks noChangeArrowheads="1" noChangeShapeType="1" noTextEdit="1"/>
          </p:cNvSpPr>
          <p:nvPr/>
        </p:nvSpPr>
        <p:spPr bwMode="auto">
          <a:xfrm rot="-1832824">
            <a:off x="6551613" y="3608388"/>
            <a:ext cx="1620837" cy="3603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66FF"/>
                </a:solidFill>
                <a:latin typeface="Arial Black"/>
              </a:rPr>
              <a:t>Data</a:t>
            </a:r>
          </a:p>
        </p:txBody>
      </p:sp>
      <p:sp>
        <p:nvSpPr>
          <p:cNvPr id="176161" name="WordArt 33"/>
          <p:cNvSpPr>
            <a:spLocks noChangeArrowheads="1" noChangeShapeType="1" noTextEdit="1"/>
          </p:cNvSpPr>
          <p:nvPr/>
        </p:nvSpPr>
        <p:spPr bwMode="auto">
          <a:xfrm rot="-1832824">
            <a:off x="6526213" y="5219700"/>
            <a:ext cx="1620837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latin typeface="Arial Black"/>
              </a:rPr>
              <a:t>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20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20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2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2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2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9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Reverse Polish Notation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1089025"/>
            <a:ext cx="8280400" cy="3403600"/>
          </a:xfrm>
        </p:spPr>
        <p:txBody>
          <a:bodyPr/>
          <a:lstStyle/>
          <a:p>
            <a:r>
              <a:rPr lang="en-US"/>
              <a:t>Infix Notation</a:t>
            </a:r>
          </a:p>
          <a:p>
            <a:pPr lvl="1">
              <a:buFont typeface="Wingdings" pitchFamily="2" charset="2"/>
              <a:buNone/>
            </a:pPr>
            <a:r>
              <a:rPr lang="en-US" i="1"/>
              <a:t>A</a:t>
            </a:r>
            <a:r>
              <a:rPr lang="en-US"/>
              <a:t> + </a:t>
            </a:r>
            <a:r>
              <a:rPr lang="en-US" i="1"/>
              <a:t>B</a:t>
            </a:r>
          </a:p>
          <a:p>
            <a:r>
              <a:rPr lang="en-US"/>
              <a:t>Prefix or Polish Notation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+</a:t>
            </a:r>
            <a:r>
              <a:rPr lang="en-US" i="1"/>
              <a:t> A</a:t>
            </a:r>
            <a:r>
              <a:rPr lang="en-US"/>
              <a:t> </a:t>
            </a:r>
            <a:r>
              <a:rPr lang="en-US" i="1"/>
              <a:t>B</a:t>
            </a:r>
          </a:p>
          <a:p>
            <a:r>
              <a:rPr lang="en-US"/>
              <a:t>Postfix or Reverse Polish Notation (RPN)</a:t>
            </a:r>
          </a:p>
          <a:p>
            <a:pPr lvl="1">
              <a:buFont typeface="Wingdings" pitchFamily="2" charset="2"/>
              <a:buNone/>
            </a:pPr>
            <a:r>
              <a:rPr lang="en-US" i="1"/>
              <a:t>A</a:t>
            </a:r>
            <a:r>
              <a:rPr lang="en-US"/>
              <a:t> </a:t>
            </a:r>
            <a:r>
              <a:rPr lang="en-US" i="1"/>
              <a:t>B </a:t>
            </a:r>
            <a:r>
              <a:rPr lang="en-US"/>
              <a:t>+</a:t>
            </a:r>
          </a:p>
        </p:txBody>
      </p:sp>
      <p:sp>
        <p:nvSpPr>
          <p:cNvPr id="303108" name="Text Box 4"/>
          <p:cNvSpPr txBox="1">
            <a:spLocks noChangeArrowheads="1"/>
          </p:cNvSpPr>
          <p:nvPr/>
        </p:nvSpPr>
        <p:spPr bwMode="auto">
          <a:xfrm>
            <a:off x="792163" y="5048250"/>
            <a:ext cx="197961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spcBef>
                <a:spcPct val="50000"/>
              </a:spcBef>
              <a:buClr>
                <a:schemeClr val="accent2"/>
              </a:buClr>
              <a:buSzPct val="100000"/>
              <a:buFont typeface="Times New Roman" pitchFamily="18" charset="0"/>
              <a:buNone/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cs typeface="Arial" pitchFamily="34" charset="0"/>
                <a:sym typeface="Symbol" pitchFamily="18" charset="2"/>
              </a:rPr>
              <a:t>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2400" b="1">
                <a:cs typeface="Arial" pitchFamily="34" charset="0"/>
                <a:sym typeface="Symbol" pitchFamily="18" charset="2"/>
              </a:rPr>
              <a:t>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D</a:t>
            </a:r>
          </a:p>
        </p:txBody>
      </p:sp>
      <p:sp>
        <p:nvSpPr>
          <p:cNvPr id="303109" name="Text Box 5"/>
          <p:cNvSpPr txBox="1">
            <a:spLocks noChangeArrowheads="1"/>
          </p:cNvSpPr>
          <p:nvPr/>
        </p:nvSpPr>
        <p:spPr bwMode="auto">
          <a:xfrm>
            <a:off x="4032250" y="5048250"/>
            <a:ext cx="1979613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spcBef>
                <a:spcPct val="50000"/>
              </a:spcBef>
              <a:buClr>
                <a:schemeClr val="accent2"/>
              </a:buClr>
              <a:buSzPct val="100000"/>
              <a:buFont typeface="Times New Roman" pitchFamily="18" charset="0"/>
              <a:buNone/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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 D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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>
              <a:cs typeface="Arial" pitchFamily="34" charset="0"/>
            </a:endParaRPr>
          </a:p>
        </p:txBody>
      </p:sp>
      <p:sp>
        <p:nvSpPr>
          <p:cNvPr id="303110" name="AutoShape 6"/>
          <p:cNvSpPr>
            <a:spLocks noChangeArrowheads="1"/>
          </p:cNvSpPr>
          <p:nvPr/>
        </p:nvSpPr>
        <p:spPr bwMode="auto">
          <a:xfrm>
            <a:off x="2951163" y="5170488"/>
            <a:ext cx="720725" cy="180975"/>
          </a:xfrm>
          <a:prstGeom prst="rightArrow">
            <a:avLst>
              <a:gd name="adj1" fmla="val 50000"/>
              <a:gd name="adj2" fmla="val 99561"/>
            </a:avLst>
          </a:prstGeom>
          <a:solidFill>
            <a:srgbClr val="FFFF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2951163" y="4868863"/>
            <a:ext cx="720725" cy="2476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b="1">
                <a:cs typeface="Arial" pitchFamily="34" charset="0"/>
              </a:rPr>
              <a:t>RPN</a:t>
            </a:r>
          </a:p>
        </p:txBody>
      </p:sp>
      <p:sp>
        <p:nvSpPr>
          <p:cNvPr id="303112" name="Text Box 8"/>
          <p:cNvSpPr txBox="1">
            <a:spLocks noChangeArrowheads="1"/>
          </p:cNvSpPr>
          <p:nvPr/>
        </p:nvSpPr>
        <p:spPr bwMode="auto">
          <a:xfrm>
            <a:off x="6192838" y="4327525"/>
            <a:ext cx="2519362" cy="1981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(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</a:rPr>
              <a:t>2</a:t>
            </a:r>
            <a:r>
              <a:rPr lang="en-US" sz="2400" b="1">
                <a:cs typeface="Arial" pitchFamily="34" charset="0"/>
              </a:rPr>
              <a:t>) (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  <a:sym typeface="Symbol" pitchFamily="18" charset="2"/>
              </a:rPr>
              <a:t>4</a:t>
            </a:r>
            <a:r>
              <a:rPr lang="en-US" sz="2400" b="1">
                <a:cs typeface="Arial" pitchFamily="34" charset="0"/>
                <a:sym typeface="Symbol" pitchFamily="18" charset="2"/>
              </a:rPr>
              <a:t>) </a:t>
            </a:r>
            <a:r>
              <a:rPr lang="en-US" sz="2400" b="1">
                <a:solidFill>
                  <a:schemeClr val="accent1"/>
                </a:solidFill>
                <a:cs typeface="Arial" pitchFamily="34" charset="0"/>
                <a:sym typeface="Symbol" pitchFamily="18" charset="2"/>
              </a:rPr>
              <a:t></a:t>
            </a:r>
            <a:r>
              <a:rPr lang="en-US" sz="2400" b="1">
                <a:cs typeface="Arial" pitchFamily="34" charset="0"/>
                <a:sym typeface="Symbol" pitchFamily="18" charset="2"/>
              </a:rPr>
              <a:t> (3) (3)  +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  <a:sym typeface="Symbol" pitchFamily="18" charset="2"/>
              </a:rPr>
              <a:t>(8) (</a:t>
            </a:r>
            <a:r>
              <a:rPr lang="en-US" sz="2400" b="1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3</a:t>
            </a:r>
            <a:r>
              <a:rPr lang="en-US" sz="2400" b="1">
                <a:cs typeface="Arial" pitchFamily="34" charset="0"/>
                <a:sym typeface="Symbol" pitchFamily="18" charset="2"/>
              </a:rPr>
              <a:t>) (</a:t>
            </a:r>
            <a:r>
              <a:rPr lang="en-US" sz="2400" b="1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3</a:t>
            </a:r>
            <a:r>
              <a:rPr lang="en-US" sz="2400" b="1">
                <a:cs typeface="Arial" pitchFamily="34" charset="0"/>
                <a:sym typeface="Symbol" pitchFamily="18" charset="2"/>
              </a:rPr>
              <a:t>) </a:t>
            </a:r>
            <a:r>
              <a:rPr lang="en-US" sz="2400" b="1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</a:t>
            </a:r>
            <a:r>
              <a:rPr lang="en-US" sz="2400" b="1">
                <a:cs typeface="Arial" pitchFamily="34" charset="0"/>
                <a:sym typeface="Symbol" pitchFamily="18" charset="2"/>
              </a:rPr>
              <a:t> +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  <a:sym typeface="Symbol" pitchFamily="18" charset="2"/>
              </a:rPr>
              <a:t>(</a:t>
            </a:r>
            <a:r>
              <a:rPr lang="en-US" sz="2400" b="1">
                <a:solidFill>
                  <a:srgbClr val="CC00FF"/>
                </a:solidFill>
                <a:cs typeface="Arial" pitchFamily="34" charset="0"/>
                <a:sym typeface="Symbol" pitchFamily="18" charset="2"/>
              </a:rPr>
              <a:t>8</a:t>
            </a:r>
            <a:r>
              <a:rPr lang="en-US" sz="2400" b="1">
                <a:cs typeface="Arial" pitchFamily="34" charset="0"/>
                <a:sym typeface="Symbol" pitchFamily="18" charset="2"/>
              </a:rPr>
              <a:t>) (</a:t>
            </a:r>
            <a:r>
              <a:rPr lang="en-US" sz="2400" b="1">
                <a:solidFill>
                  <a:srgbClr val="CC00FF"/>
                </a:solidFill>
                <a:cs typeface="Arial" pitchFamily="34" charset="0"/>
                <a:sym typeface="Symbol" pitchFamily="18" charset="2"/>
              </a:rPr>
              <a:t>9</a:t>
            </a:r>
            <a:r>
              <a:rPr lang="en-US" sz="2400" b="1">
                <a:cs typeface="Arial" pitchFamily="34" charset="0"/>
                <a:sym typeface="Symbol" pitchFamily="18" charset="2"/>
              </a:rPr>
              <a:t>) </a:t>
            </a:r>
            <a:r>
              <a:rPr lang="en-US" sz="2400" b="1">
                <a:solidFill>
                  <a:srgbClr val="CC00FF"/>
                </a:solidFill>
                <a:cs typeface="Arial" pitchFamily="34" charset="0"/>
                <a:sym typeface="Symbol" pitchFamily="18" charset="2"/>
              </a:rPr>
              <a:t>+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  <a:sym typeface="Symbol" pitchFamily="18" charset="2"/>
              </a:rPr>
              <a:t>17</a:t>
            </a:r>
          </a:p>
        </p:txBody>
      </p:sp>
      <p:sp>
        <p:nvSpPr>
          <p:cNvPr id="303113" name="Line 9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3114" name="Rectangle 10"/>
          <p:cNvSpPr>
            <a:spLocks noChangeArrowheads="1"/>
          </p:cNvSpPr>
          <p:nvPr/>
        </p:nvSpPr>
        <p:spPr bwMode="auto">
          <a:xfrm>
            <a:off x="6011863" y="4233863"/>
            <a:ext cx="2881312" cy="197961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3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0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3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3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3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/>
      <p:bldP spid="303109" grpId="0"/>
      <p:bldP spid="303110" grpId="0" animBg="1"/>
      <p:bldP spid="303111" grpId="0"/>
      <p:bldP spid="303113" grpId="0" animBg="1"/>
      <p:bldP spid="30311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/>
              <a:t>Reverse Polish Notation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1446213"/>
          </a:xfrm>
        </p:spPr>
        <p:txBody>
          <a:bodyPr/>
          <a:lstStyle/>
          <a:p>
            <a:r>
              <a:rPr lang="en-US"/>
              <a:t>Example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(</a:t>
            </a:r>
            <a:r>
              <a:rPr lang="en-US" i="1"/>
              <a:t>A</a:t>
            </a:r>
            <a:r>
              <a:rPr lang="en-US"/>
              <a:t> + </a:t>
            </a:r>
            <a:r>
              <a:rPr lang="en-US" i="1"/>
              <a:t>B</a:t>
            </a:r>
            <a:r>
              <a:rPr lang="en-US"/>
              <a:t>) 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 [</a:t>
            </a:r>
            <a:r>
              <a:rPr lang="en-US" i="1"/>
              <a:t>C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 (</a:t>
            </a:r>
            <a:r>
              <a:rPr lang="en-US" i="1"/>
              <a:t>D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+</a:t>
            </a:r>
            <a:r>
              <a:rPr lang="en-US"/>
              <a:t> </a:t>
            </a:r>
            <a:r>
              <a:rPr lang="en-US" i="1"/>
              <a:t>E</a:t>
            </a:r>
            <a:r>
              <a:rPr lang="en-US"/>
              <a:t>) + </a:t>
            </a:r>
            <a:r>
              <a:rPr lang="en-US" i="1"/>
              <a:t>F</a:t>
            </a:r>
            <a:r>
              <a:rPr lang="en-US"/>
              <a:t>]</a:t>
            </a:r>
          </a:p>
        </p:txBody>
      </p:sp>
      <p:sp>
        <p:nvSpPr>
          <p:cNvPr id="304132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4133" name="AutoShape 5"/>
          <p:cNvSpPr>
            <a:spLocks/>
          </p:cNvSpPr>
          <p:nvPr/>
        </p:nvSpPr>
        <p:spPr bwMode="auto">
          <a:xfrm rot="-5400000">
            <a:off x="1389063" y="1808162"/>
            <a:ext cx="179388" cy="900113"/>
          </a:xfrm>
          <a:prstGeom prst="leftBrace">
            <a:avLst>
              <a:gd name="adj1" fmla="val 41814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34" name="Line 6"/>
          <p:cNvSpPr>
            <a:spLocks noChangeShapeType="1"/>
          </p:cNvSpPr>
          <p:nvPr/>
        </p:nvSpPr>
        <p:spPr bwMode="auto">
          <a:xfrm>
            <a:off x="1476375" y="2349500"/>
            <a:ext cx="0" cy="3587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35" name="AutoShape 7"/>
          <p:cNvSpPr>
            <a:spLocks/>
          </p:cNvSpPr>
          <p:nvPr/>
        </p:nvSpPr>
        <p:spPr bwMode="auto">
          <a:xfrm rot="5400000" flipV="1">
            <a:off x="1389063" y="2347912"/>
            <a:ext cx="179388" cy="900113"/>
          </a:xfrm>
          <a:prstGeom prst="leftBrace">
            <a:avLst>
              <a:gd name="adj1" fmla="val 41814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36" name="Text Box 8"/>
          <p:cNvSpPr txBox="1">
            <a:spLocks noChangeArrowheads="1"/>
          </p:cNvSpPr>
          <p:nvPr/>
        </p:nvSpPr>
        <p:spPr bwMode="auto">
          <a:xfrm>
            <a:off x="971550" y="2889250"/>
            <a:ext cx="1079500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88900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+)</a:t>
            </a:r>
          </a:p>
        </p:txBody>
      </p:sp>
      <p:sp>
        <p:nvSpPr>
          <p:cNvPr id="304137" name="Text Box 9"/>
          <p:cNvSpPr txBox="1">
            <a:spLocks noChangeArrowheads="1"/>
          </p:cNvSpPr>
          <p:nvPr/>
        </p:nvSpPr>
        <p:spPr bwMode="auto">
          <a:xfrm>
            <a:off x="2051050" y="2889250"/>
            <a:ext cx="1081088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88900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4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04138" name="Text Box 10"/>
          <p:cNvSpPr txBox="1">
            <a:spLocks noChangeArrowheads="1"/>
          </p:cNvSpPr>
          <p:nvPr/>
        </p:nvSpPr>
        <p:spPr bwMode="auto">
          <a:xfrm>
            <a:off x="3132138" y="2889250"/>
            <a:ext cx="539750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88900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</a:t>
            </a:r>
            <a:endParaRPr 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4139" name="AutoShape 11"/>
          <p:cNvSpPr>
            <a:spLocks/>
          </p:cNvSpPr>
          <p:nvPr/>
        </p:nvSpPr>
        <p:spPr bwMode="auto">
          <a:xfrm rot="-5400000">
            <a:off x="3276600" y="1808163"/>
            <a:ext cx="179388" cy="900112"/>
          </a:xfrm>
          <a:prstGeom prst="leftBrace">
            <a:avLst>
              <a:gd name="adj1" fmla="val 41814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40" name="Line 12"/>
          <p:cNvSpPr>
            <a:spLocks noChangeShapeType="1"/>
          </p:cNvSpPr>
          <p:nvPr/>
        </p:nvSpPr>
        <p:spPr bwMode="auto">
          <a:xfrm flipH="1">
            <a:off x="2771775" y="2349500"/>
            <a:ext cx="593725" cy="3587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41" name="AutoShape 13"/>
          <p:cNvSpPr>
            <a:spLocks/>
          </p:cNvSpPr>
          <p:nvPr/>
        </p:nvSpPr>
        <p:spPr bwMode="auto">
          <a:xfrm rot="5400000" flipV="1">
            <a:off x="2525713" y="2347912"/>
            <a:ext cx="179388" cy="900113"/>
          </a:xfrm>
          <a:prstGeom prst="leftBrace">
            <a:avLst>
              <a:gd name="adj1" fmla="val 41814"/>
              <a:gd name="adj2" fmla="val 67194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42" name="Text Box 14"/>
          <p:cNvSpPr txBox="1">
            <a:spLocks noChangeArrowheads="1"/>
          </p:cNvSpPr>
          <p:nvPr/>
        </p:nvSpPr>
        <p:spPr bwMode="auto">
          <a:xfrm>
            <a:off x="4211638" y="2889250"/>
            <a:ext cx="36036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88900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</a:t>
            </a:r>
            <a:endParaRPr 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4143" name="Line 15"/>
          <p:cNvSpPr>
            <a:spLocks noChangeShapeType="1"/>
          </p:cNvSpPr>
          <p:nvPr/>
        </p:nvSpPr>
        <p:spPr bwMode="auto">
          <a:xfrm>
            <a:off x="2592388" y="2168525"/>
            <a:ext cx="719137" cy="7207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44" name="Text Box 16"/>
          <p:cNvSpPr txBox="1">
            <a:spLocks noChangeArrowheads="1"/>
          </p:cNvSpPr>
          <p:nvPr/>
        </p:nvSpPr>
        <p:spPr bwMode="auto">
          <a:xfrm>
            <a:off x="3671888" y="2889250"/>
            <a:ext cx="720725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88900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304145" name="Line 17"/>
          <p:cNvSpPr>
            <a:spLocks noChangeShapeType="1"/>
          </p:cNvSpPr>
          <p:nvPr/>
        </p:nvSpPr>
        <p:spPr bwMode="auto">
          <a:xfrm flipH="1">
            <a:off x="3851275" y="2168525"/>
            <a:ext cx="360363" cy="7207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4146" name="Line 18"/>
          <p:cNvSpPr>
            <a:spLocks noChangeShapeType="1"/>
          </p:cNvSpPr>
          <p:nvPr/>
        </p:nvSpPr>
        <p:spPr bwMode="auto">
          <a:xfrm>
            <a:off x="2155825" y="2079625"/>
            <a:ext cx="2055813" cy="809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0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0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0" dur="5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304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7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1" dur="500"/>
                                        <p:tgtEl>
                                          <p:spTgt spid="304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0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0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4" dur="500"/>
                                        <p:tgtEl>
                                          <p:spTgt spid="304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0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0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2" grpId="0" animBg="1"/>
      <p:bldP spid="304133" grpId="0" animBg="1"/>
      <p:bldP spid="304133" grpId="1" animBg="1"/>
      <p:bldP spid="304134" grpId="0" animBg="1"/>
      <p:bldP spid="304134" grpId="1" animBg="1"/>
      <p:bldP spid="304135" grpId="0" animBg="1"/>
      <p:bldP spid="304135" grpId="1" animBg="1"/>
      <p:bldP spid="304136" grpId="0"/>
      <p:bldP spid="304137" grpId="0"/>
      <p:bldP spid="304138" grpId="0"/>
      <p:bldP spid="304139" grpId="0" animBg="1"/>
      <p:bldP spid="304139" grpId="1" animBg="1"/>
      <p:bldP spid="304140" grpId="0" animBg="1"/>
      <p:bldP spid="304140" grpId="1" animBg="1"/>
      <p:bldP spid="304141" grpId="0" animBg="1"/>
      <p:bldP spid="304141" grpId="1" animBg="1"/>
      <p:bldP spid="304142" grpId="0"/>
      <p:bldP spid="304143" grpId="0" animBg="1"/>
      <p:bldP spid="304143" grpId="1" animBg="1"/>
      <p:bldP spid="304144" grpId="0"/>
      <p:bldP spid="304145" grpId="0" animBg="1"/>
      <p:bldP spid="304145" grpId="1" animBg="1"/>
      <p:bldP spid="30414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/>
              <a:t>Reverse Polish Notation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1446213"/>
          </a:xfrm>
        </p:spPr>
        <p:txBody>
          <a:bodyPr/>
          <a:lstStyle/>
          <a:p>
            <a:r>
              <a:rPr lang="en-US"/>
              <a:t>Stack Operation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(3) (4) </a:t>
            </a:r>
            <a:r>
              <a:rPr lang="en-US">
                <a:sym typeface="Symbol" pitchFamily="18" charset="2"/>
              </a:rPr>
              <a:t></a:t>
            </a:r>
            <a:r>
              <a:rPr lang="en-US"/>
              <a:t> (5) (6) </a:t>
            </a:r>
            <a:r>
              <a:rPr lang="en-US">
                <a:sym typeface="Symbol" pitchFamily="18" charset="2"/>
              </a:rPr>
              <a:t> </a:t>
            </a:r>
            <a:r>
              <a:rPr lang="en-US"/>
              <a:t>+</a:t>
            </a:r>
          </a:p>
        </p:txBody>
      </p:sp>
      <p:sp>
        <p:nvSpPr>
          <p:cNvPr id="305156" name="Text Box 4"/>
          <p:cNvSpPr txBox="1">
            <a:spLocks noChangeArrowheads="1"/>
          </p:cNvSpPr>
          <p:nvPr/>
        </p:nvSpPr>
        <p:spPr bwMode="auto">
          <a:xfrm>
            <a:off x="971550" y="2528888"/>
            <a:ext cx="2339975" cy="3600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PUSH      3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PUSH      4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MULT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PUSH      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PUSH      6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MULT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2400" b="1">
                <a:cs typeface="Arial" pitchFamily="34" charset="0"/>
              </a:rPr>
              <a:t>ADD</a:t>
            </a:r>
          </a:p>
        </p:txBody>
      </p:sp>
      <p:sp>
        <p:nvSpPr>
          <p:cNvPr id="305157" name="Text Box 5"/>
          <p:cNvSpPr txBox="1">
            <a:spLocks noChangeArrowheads="1"/>
          </p:cNvSpPr>
          <p:nvPr/>
        </p:nvSpPr>
        <p:spPr bwMode="auto">
          <a:xfrm>
            <a:off x="6191250" y="4686300"/>
            <a:ext cx="900113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3200" b="1">
                <a:solidFill>
                  <a:schemeClr val="accent1"/>
                </a:solidFill>
                <a:cs typeface="Arial" pitchFamily="34" charset="0"/>
              </a:rPr>
              <a:t>3</a:t>
            </a:r>
          </a:p>
        </p:txBody>
      </p:sp>
      <p:sp>
        <p:nvSpPr>
          <p:cNvPr id="305158" name="Line 6"/>
          <p:cNvSpPr>
            <a:spLocks noChangeShapeType="1"/>
          </p:cNvSpPr>
          <p:nvPr/>
        </p:nvSpPr>
        <p:spPr bwMode="auto">
          <a:xfrm>
            <a:off x="5472113" y="5227638"/>
            <a:ext cx="538162" cy="1587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lg" len="med"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011863" y="2346325"/>
            <a:ext cx="1260475" cy="2882900"/>
            <a:chOff x="3787" y="1478"/>
            <a:chExt cx="794" cy="1816"/>
          </a:xfrm>
        </p:grpSpPr>
        <p:sp>
          <p:nvSpPr>
            <p:cNvPr id="179208" name="Rectangle 8"/>
            <p:cNvSpPr>
              <a:spLocks noChangeArrowheads="1"/>
            </p:cNvSpPr>
            <p:nvPr/>
          </p:nvSpPr>
          <p:spPr bwMode="auto">
            <a:xfrm>
              <a:off x="3787" y="1478"/>
              <a:ext cx="794" cy="454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79209" name="Rectangle 9"/>
            <p:cNvSpPr>
              <a:spLocks noChangeArrowheads="1"/>
            </p:cNvSpPr>
            <p:nvPr/>
          </p:nvSpPr>
          <p:spPr bwMode="auto">
            <a:xfrm>
              <a:off x="3787" y="1932"/>
              <a:ext cx="794" cy="454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79210" name="Rectangle 10"/>
            <p:cNvSpPr>
              <a:spLocks noChangeArrowheads="1"/>
            </p:cNvSpPr>
            <p:nvPr/>
          </p:nvSpPr>
          <p:spPr bwMode="auto">
            <a:xfrm>
              <a:off x="3787" y="2386"/>
              <a:ext cx="794" cy="454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  <p:sp>
          <p:nvSpPr>
            <p:cNvPr id="179211" name="Rectangle 11"/>
            <p:cNvSpPr>
              <a:spLocks noChangeArrowheads="1"/>
            </p:cNvSpPr>
            <p:nvPr/>
          </p:nvSpPr>
          <p:spPr bwMode="auto">
            <a:xfrm>
              <a:off x="3787" y="2840"/>
              <a:ext cx="794" cy="454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pitchFamily="34" charset="0"/>
                <a:buNone/>
              </a:pPr>
              <a:endParaRPr lang="en-US" b="1">
                <a:cs typeface="Arial" pitchFamily="34" charset="0"/>
              </a:endParaRPr>
            </a:p>
          </p:txBody>
        </p:sp>
      </p:grpSp>
      <p:sp>
        <p:nvSpPr>
          <p:cNvPr id="305164" name="Text Box 12"/>
          <p:cNvSpPr txBox="1">
            <a:spLocks noChangeArrowheads="1"/>
          </p:cNvSpPr>
          <p:nvPr/>
        </p:nvSpPr>
        <p:spPr bwMode="auto">
          <a:xfrm>
            <a:off x="6192838" y="3968750"/>
            <a:ext cx="90011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3200" b="1">
                <a:solidFill>
                  <a:schemeClr val="accent1"/>
                </a:solidFill>
                <a:cs typeface="Arial" pitchFamily="34" charset="0"/>
              </a:rPr>
              <a:t>4</a:t>
            </a:r>
          </a:p>
        </p:txBody>
      </p:sp>
      <p:sp>
        <p:nvSpPr>
          <p:cNvPr id="305165" name="Text Box 13"/>
          <p:cNvSpPr txBox="1">
            <a:spLocks noChangeArrowheads="1"/>
          </p:cNvSpPr>
          <p:nvPr/>
        </p:nvSpPr>
        <p:spPr bwMode="auto">
          <a:xfrm>
            <a:off x="6192838" y="4689475"/>
            <a:ext cx="90011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3200" b="1">
                <a:solidFill>
                  <a:schemeClr val="accent2"/>
                </a:solidFill>
                <a:cs typeface="Arial" pitchFamily="34" charset="0"/>
              </a:rPr>
              <a:t>12</a:t>
            </a:r>
          </a:p>
        </p:txBody>
      </p:sp>
      <p:sp>
        <p:nvSpPr>
          <p:cNvPr id="305166" name="Text Box 14"/>
          <p:cNvSpPr txBox="1">
            <a:spLocks noChangeArrowheads="1"/>
          </p:cNvSpPr>
          <p:nvPr/>
        </p:nvSpPr>
        <p:spPr bwMode="auto">
          <a:xfrm>
            <a:off x="6192838" y="3968750"/>
            <a:ext cx="90011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3200" b="1">
                <a:solidFill>
                  <a:schemeClr val="accent1"/>
                </a:solidFill>
                <a:cs typeface="Arial" pitchFamily="34" charset="0"/>
              </a:rPr>
              <a:t>5</a:t>
            </a:r>
          </a:p>
        </p:txBody>
      </p:sp>
      <p:sp>
        <p:nvSpPr>
          <p:cNvPr id="305167" name="Text Box 15"/>
          <p:cNvSpPr txBox="1">
            <a:spLocks noChangeArrowheads="1"/>
          </p:cNvSpPr>
          <p:nvPr/>
        </p:nvSpPr>
        <p:spPr bwMode="auto">
          <a:xfrm>
            <a:off x="6192838" y="3248025"/>
            <a:ext cx="90011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3200" b="1">
                <a:solidFill>
                  <a:schemeClr val="accent1"/>
                </a:solidFill>
                <a:cs typeface="Arial" pitchFamily="34" charset="0"/>
              </a:rPr>
              <a:t>6</a:t>
            </a:r>
          </a:p>
        </p:txBody>
      </p:sp>
      <p:sp>
        <p:nvSpPr>
          <p:cNvPr id="305168" name="Text Box 16"/>
          <p:cNvSpPr txBox="1">
            <a:spLocks noChangeArrowheads="1"/>
          </p:cNvSpPr>
          <p:nvPr/>
        </p:nvSpPr>
        <p:spPr bwMode="auto">
          <a:xfrm>
            <a:off x="6192838" y="3968750"/>
            <a:ext cx="90011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3200" b="1">
                <a:solidFill>
                  <a:schemeClr val="accent2"/>
                </a:solidFill>
                <a:cs typeface="Arial" pitchFamily="34" charset="0"/>
              </a:rPr>
              <a:t>30</a:t>
            </a:r>
          </a:p>
        </p:txBody>
      </p:sp>
      <p:sp>
        <p:nvSpPr>
          <p:cNvPr id="305169" name="Text Box 17"/>
          <p:cNvSpPr txBox="1">
            <a:spLocks noChangeArrowheads="1"/>
          </p:cNvSpPr>
          <p:nvPr/>
        </p:nvSpPr>
        <p:spPr bwMode="auto">
          <a:xfrm>
            <a:off x="6192838" y="4689475"/>
            <a:ext cx="900112" cy="3603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pitchFamily="34" charset="0"/>
              <a:buNone/>
            </a:pPr>
            <a:r>
              <a:rPr lang="en-US" sz="3200" b="1">
                <a:solidFill>
                  <a:srgbClr val="CC00FF"/>
                </a:solidFill>
                <a:cs typeface="Arial" pitchFamily="34" charset="0"/>
              </a:rPr>
              <a:t>42</a:t>
            </a:r>
          </a:p>
        </p:txBody>
      </p:sp>
      <p:sp>
        <p:nvSpPr>
          <p:cNvPr id="305170" name="Line 1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48148E-6 L 2.22222E-6 -0.05255 " pathEditMode="fixed" ptsTypes="AA">
                                      <p:cBhvr>
                                        <p:cTn id="30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5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0.05255 L 4.44444E-6 -0.15741 " pathEditMode="fixed" rAng="0" ptsTypes="AA">
                                      <p:cBhvr>
                                        <p:cTn id="42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5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15741 L 2.5E-6 -0.05231 " pathEditMode="fixed" rAng="0" ptsTypes="AA">
                                      <p:cBhvr>
                                        <p:cTn id="54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0.05255 L 4.44444E-6 0 " pathEditMode="fixed" rAng="0" ptsTypes="AA">
                                      <p:cBhvr>
                                        <p:cTn id="61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48148E-6 L 2.22222E-6 -0.05255 " pathEditMode="fixed" ptsTypes="AA">
                                      <p:cBhvr>
                                        <p:cTn id="68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5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05255 L 2.22222E-6 -0.15741 " pathEditMode="fixed" ptsTypes="AA">
                                      <p:cBhvr>
                                        <p:cTn id="80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5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15741 L 2.22222E-6 -0.2625 " pathEditMode="fixed" ptsTypes="AA">
                                      <p:cBhvr>
                                        <p:cTn id="92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5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2625 L 2.22222E-6 -0.15741 " pathEditMode="fixed" ptsTypes="AA">
                                      <p:cBhvr>
                                        <p:cTn id="104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0.15741 L 5.55556E-7 -0.05255 " pathEditMode="fixed" ptsTypes="AA">
                                      <p:cBhvr>
                                        <p:cTn id="111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0.05255 L 4.44444E-6 -0.15741 " pathEditMode="fixed" rAng="0" ptsTypes="AA">
                                      <p:cBhvr>
                                        <p:cTn id="118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05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15741 L 2.22222E-6 -0.05255 " pathEditMode="fixed" ptsTypes="AA">
                                      <p:cBhvr>
                                        <p:cTn id="130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500"/>
                            </p:stCondLst>
                            <p:childTnLst>
                              <p:par>
                                <p:cTn id="1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0" presetClass="path" presetSubtype="0" accel="50000" decel="5000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05255 L 2.22222E-6 -1.48148E-6 " pathEditMode="fixed" ptsTypes="AA">
                                      <p:cBhvr>
                                        <p:cTn id="137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50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5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5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0" presetClass="path" presetSubtype="0" accel="50000" decel="5000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 L 4.44444E-6 -0.05255 " pathEditMode="fixed" rAng="0" ptsTypes="AA">
                                      <p:cBhvr>
                                        <p:cTn id="144" dur="2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7" grpId="0"/>
      <p:bldP spid="305157" grpId="1"/>
      <p:bldP spid="305158" grpId="0" animBg="1"/>
      <p:bldP spid="305158" grpId="1" animBg="1"/>
      <p:bldP spid="305158" grpId="2" animBg="1"/>
      <p:bldP spid="305158" grpId="3" animBg="1"/>
      <p:bldP spid="305158" grpId="4" animBg="1"/>
      <p:bldP spid="305158" grpId="5" animBg="1"/>
      <p:bldP spid="305158" grpId="6" animBg="1"/>
      <p:bldP spid="305158" grpId="7" animBg="1"/>
      <p:bldP spid="305158" grpId="8" animBg="1"/>
      <p:bldP spid="305158" grpId="9" animBg="1"/>
      <p:bldP spid="305158" grpId="10" animBg="1"/>
      <p:bldP spid="305158" grpId="11" animBg="1"/>
      <p:bldP spid="305158" grpId="12" animBg="1"/>
      <p:bldP spid="305158" grpId="13" animBg="1"/>
      <p:bldP spid="305164" grpId="0"/>
      <p:bldP spid="305164" grpId="1"/>
      <p:bldP spid="305165" grpId="0"/>
      <p:bldP spid="305165" grpId="1"/>
      <p:bldP spid="305166" grpId="0"/>
      <p:bldP spid="305166" grpId="1"/>
      <p:bldP spid="305167" grpId="0"/>
      <p:bldP spid="305167" grpId="1"/>
      <p:bldP spid="305168" grpId="0"/>
      <p:bldP spid="305168" grpId="1"/>
      <p:bldP spid="305169" grpId="0"/>
      <p:bldP spid="305170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6100">
                <a:ea typeface="SimSun" pitchFamily="2" charset="-122"/>
              </a:rPr>
              <a:t>Additional Instructions</a:t>
            </a:r>
          </a:p>
        </p:txBody>
      </p:sp>
      <p:sp>
        <p:nvSpPr>
          <p:cNvPr id="180227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Logical Shifts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7953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600">
                <a:ea typeface="SimSun" pitchFamily="2" charset="-122"/>
              </a:rPr>
              <a:t>Logical shift – shifting left (LShiftL) and shifting right (LShiftR)</a:t>
            </a:r>
          </a:p>
        </p:txBody>
      </p:sp>
      <p:sp>
        <p:nvSpPr>
          <p:cNvPr id="182276" name="Freeform 4"/>
          <p:cNvSpPr>
            <a:spLocks/>
          </p:cNvSpPr>
          <p:nvPr/>
        </p:nvSpPr>
        <p:spPr bwMode="auto">
          <a:xfrm>
            <a:off x="6611938" y="4819650"/>
            <a:ext cx="95250" cy="47625"/>
          </a:xfrm>
          <a:custGeom>
            <a:avLst/>
            <a:gdLst>
              <a:gd name="T0" fmla="*/ 0 w 6"/>
              <a:gd name="T1" fmla="*/ 3 h 3"/>
              <a:gd name="T2" fmla="*/ 6 w 6"/>
              <a:gd name="T3" fmla="*/ 2 h 3"/>
              <a:gd name="T4" fmla="*/ 0 w 6"/>
              <a:gd name="T5" fmla="*/ 0 h 3"/>
              <a:gd name="T6" fmla="*/ 0 w 6"/>
              <a:gd name="T7" fmla="*/ 2 h 3"/>
              <a:gd name="T8" fmla="*/ 0 w 6"/>
              <a:gd name="T9" fmla="*/ 3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3"/>
              <a:gd name="T17" fmla="*/ 6 w 6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3">
                <a:moveTo>
                  <a:pt x="0" y="3"/>
                </a:moveTo>
                <a:lnTo>
                  <a:pt x="6" y="2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77" name="Freeform 5"/>
          <p:cNvSpPr>
            <a:spLocks/>
          </p:cNvSpPr>
          <p:nvPr/>
        </p:nvSpPr>
        <p:spPr bwMode="auto">
          <a:xfrm>
            <a:off x="6611938" y="4819650"/>
            <a:ext cx="95250" cy="47625"/>
          </a:xfrm>
          <a:custGeom>
            <a:avLst/>
            <a:gdLst>
              <a:gd name="T0" fmla="*/ 0 w 60"/>
              <a:gd name="T1" fmla="*/ 30 h 30"/>
              <a:gd name="T2" fmla="*/ 60 w 60"/>
              <a:gd name="T3" fmla="*/ 20 h 30"/>
              <a:gd name="T4" fmla="*/ 0 w 60"/>
              <a:gd name="T5" fmla="*/ 0 h 30"/>
              <a:gd name="T6" fmla="*/ 0 w 60"/>
              <a:gd name="T7" fmla="*/ 20 h 30"/>
              <a:gd name="T8" fmla="*/ 0 w 60"/>
              <a:gd name="T9" fmla="*/ 3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30"/>
              <a:gd name="T17" fmla="*/ 60 w 6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30">
                <a:moveTo>
                  <a:pt x="0" y="30"/>
                </a:moveTo>
                <a:lnTo>
                  <a:pt x="60" y="20"/>
                </a:lnTo>
                <a:lnTo>
                  <a:pt x="0" y="0"/>
                </a:lnTo>
                <a:lnTo>
                  <a:pt x="0" y="20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78" name="Line 6"/>
          <p:cNvSpPr>
            <a:spLocks noChangeShapeType="1"/>
          </p:cNvSpPr>
          <p:nvPr/>
        </p:nvSpPr>
        <p:spPr bwMode="auto">
          <a:xfrm flipH="1">
            <a:off x="6310313" y="4851400"/>
            <a:ext cx="301625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79" name="Rectangle 7"/>
          <p:cNvSpPr>
            <a:spLocks noChangeArrowheads="1"/>
          </p:cNvSpPr>
          <p:nvPr/>
        </p:nvSpPr>
        <p:spPr bwMode="auto">
          <a:xfrm>
            <a:off x="6056313" y="5803900"/>
            <a:ext cx="254000" cy="23812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0" name="Rectangle 8"/>
          <p:cNvSpPr>
            <a:spLocks noChangeArrowheads="1"/>
          </p:cNvSpPr>
          <p:nvPr/>
        </p:nvSpPr>
        <p:spPr bwMode="auto">
          <a:xfrm>
            <a:off x="6056313" y="5327650"/>
            <a:ext cx="254000" cy="254000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1" name="Freeform 9"/>
          <p:cNvSpPr>
            <a:spLocks/>
          </p:cNvSpPr>
          <p:nvPr/>
        </p:nvSpPr>
        <p:spPr bwMode="auto">
          <a:xfrm>
            <a:off x="3068638" y="4835525"/>
            <a:ext cx="95250" cy="31750"/>
          </a:xfrm>
          <a:custGeom>
            <a:avLst/>
            <a:gdLst>
              <a:gd name="T0" fmla="*/ 0 w 6"/>
              <a:gd name="T1" fmla="*/ 2 h 2"/>
              <a:gd name="T2" fmla="*/ 6 w 6"/>
              <a:gd name="T3" fmla="*/ 1 h 2"/>
              <a:gd name="T4" fmla="*/ 0 w 6"/>
              <a:gd name="T5" fmla="*/ 0 h 2"/>
              <a:gd name="T6" fmla="*/ 0 w 6"/>
              <a:gd name="T7" fmla="*/ 1 h 2"/>
              <a:gd name="T8" fmla="*/ 0 w 6"/>
              <a:gd name="T9" fmla="*/ 2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2"/>
              <a:gd name="T17" fmla="*/ 6 w 6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2">
                <a:moveTo>
                  <a:pt x="0" y="2"/>
                </a:moveTo>
                <a:lnTo>
                  <a:pt x="6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2" name="Freeform 10"/>
          <p:cNvSpPr>
            <a:spLocks/>
          </p:cNvSpPr>
          <p:nvPr/>
        </p:nvSpPr>
        <p:spPr bwMode="auto">
          <a:xfrm>
            <a:off x="3068638" y="4835525"/>
            <a:ext cx="95250" cy="31750"/>
          </a:xfrm>
          <a:custGeom>
            <a:avLst/>
            <a:gdLst>
              <a:gd name="T0" fmla="*/ 0 w 60"/>
              <a:gd name="T1" fmla="*/ 20 h 20"/>
              <a:gd name="T2" fmla="*/ 60 w 60"/>
              <a:gd name="T3" fmla="*/ 10 h 20"/>
              <a:gd name="T4" fmla="*/ 0 w 60"/>
              <a:gd name="T5" fmla="*/ 0 h 20"/>
              <a:gd name="T6" fmla="*/ 0 w 60"/>
              <a:gd name="T7" fmla="*/ 10 h 20"/>
              <a:gd name="T8" fmla="*/ 0 w 60"/>
              <a:gd name="T9" fmla="*/ 20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20"/>
              <a:gd name="T17" fmla="*/ 60 w 60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20">
                <a:moveTo>
                  <a:pt x="0" y="20"/>
                </a:moveTo>
                <a:lnTo>
                  <a:pt x="60" y="10"/>
                </a:lnTo>
                <a:lnTo>
                  <a:pt x="0" y="0"/>
                </a:lnTo>
                <a:lnTo>
                  <a:pt x="0" y="10"/>
                </a:lnTo>
                <a:lnTo>
                  <a:pt x="0" y="2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3" name="Line 11"/>
          <p:cNvSpPr>
            <a:spLocks noChangeShapeType="1"/>
          </p:cNvSpPr>
          <p:nvPr/>
        </p:nvSpPr>
        <p:spPr bwMode="auto">
          <a:xfrm flipH="1">
            <a:off x="2846388" y="4851400"/>
            <a:ext cx="206375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4" name="Freeform 12"/>
          <p:cNvSpPr>
            <a:spLocks/>
          </p:cNvSpPr>
          <p:nvPr/>
        </p:nvSpPr>
        <p:spPr bwMode="auto">
          <a:xfrm>
            <a:off x="5961063" y="4819650"/>
            <a:ext cx="95250" cy="47625"/>
          </a:xfrm>
          <a:custGeom>
            <a:avLst/>
            <a:gdLst>
              <a:gd name="T0" fmla="*/ 0 w 6"/>
              <a:gd name="T1" fmla="*/ 3 h 3"/>
              <a:gd name="T2" fmla="*/ 6 w 6"/>
              <a:gd name="T3" fmla="*/ 1 h 3"/>
              <a:gd name="T4" fmla="*/ 0 w 6"/>
              <a:gd name="T5" fmla="*/ 0 h 3"/>
              <a:gd name="T6" fmla="*/ 0 w 6"/>
              <a:gd name="T7" fmla="*/ 1 h 3"/>
              <a:gd name="T8" fmla="*/ 0 w 6"/>
              <a:gd name="T9" fmla="*/ 3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3"/>
              <a:gd name="T17" fmla="*/ 6 w 6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3">
                <a:moveTo>
                  <a:pt x="0" y="3"/>
                </a:moveTo>
                <a:lnTo>
                  <a:pt x="6" y="1"/>
                </a:ln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5" name="Freeform 13"/>
          <p:cNvSpPr>
            <a:spLocks/>
          </p:cNvSpPr>
          <p:nvPr/>
        </p:nvSpPr>
        <p:spPr bwMode="auto">
          <a:xfrm>
            <a:off x="5961063" y="4819650"/>
            <a:ext cx="95250" cy="47625"/>
          </a:xfrm>
          <a:custGeom>
            <a:avLst/>
            <a:gdLst>
              <a:gd name="T0" fmla="*/ 0 w 60"/>
              <a:gd name="T1" fmla="*/ 30 h 30"/>
              <a:gd name="T2" fmla="*/ 60 w 60"/>
              <a:gd name="T3" fmla="*/ 10 h 30"/>
              <a:gd name="T4" fmla="*/ 0 w 60"/>
              <a:gd name="T5" fmla="*/ 0 h 30"/>
              <a:gd name="T6" fmla="*/ 0 w 60"/>
              <a:gd name="T7" fmla="*/ 10 h 30"/>
              <a:gd name="T8" fmla="*/ 0 w 60"/>
              <a:gd name="T9" fmla="*/ 3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30"/>
              <a:gd name="T17" fmla="*/ 60 w 6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30">
                <a:moveTo>
                  <a:pt x="0" y="30"/>
                </a:moveTo>
                <a:lnTo>
                  <a:pt x="60" y="10"/>
                </a:lnTo>
                <a:lnTo>
                  <a:pt x="0" y="0"/>
                </a:lnTo>
                <a:lnTo>
                  <a:pt x="0" y="10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6" name="Line 14"/>
          <p:cNvSpPr>
            <a:spLocks noChangeShapeType="1"/>
          </p:cNvSpPr>
          <p:nvPr/>
        </p:nvSpPr>
        <p:spPr bwMode="auto">
          <a:xfrm flipH="1">
            <a:off x="5738813" y="4835525"/>
            <a:ext cx="222250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287" name="Rectangle 15"/>
          <p:cNvSpPr>
            <a:spLocks noChangeArrowheads="1"/>
          </p:cNvSpPr>
          <p:nvPr/>
        </p:nvSpPr>
        <p:spPr bwMode="auto">
          <a:xfrm>
            <a:off x="6135688" y="4756150"/>
            <a:ext cx="101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88" name="Rectangle 16"/>
          <p:cNvSpPr>
            <a:spLocks noChangeArrowheads="1"/>
          </p:cNvSpPr>
          <p:nvPr/>
        </p:nvSpPr>
        <p:spPr bwMode="auto">
          <a:xfrm>
            <a:off x="4308475" y="4756150"/>
            <a:ext cx="1793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89" name="Rectangle 17"/>
          <p:cNvSpPr>
            <a:spLocks noChangeArrowheads="1"/>
          </p:cNvSpPr>
          <p:nvPr/>
        </p:nvSpPr>
        <p:spPr bwMode="auto">
          <a:xfrm>
            <a:off x="2719388" y="4756150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0" name="Rectangle 18"/>
          <p:cNvSpPr>
            <a:spLocks noChangeArrowheads="1"/>
          </p:cNvSpPr>
          <p:nvPr/>
        </p:nvSpPr>
        <p:spPr bwMode="auto">
          <a:xfrm>
            <a:off x="2401888" y="5359400"/>
            <a:ext cx="4333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before: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1" name="Rectangle 19"/>
          <p:cNvSpPr>
            <a:spLocks noChangeArrowheads="1"/>
          </p:cNvSpPr>
          <p:nvPr/>
        </p:nvSpPr>
        <p:spPr bwMode="auto">
          <a:xfrm>
            <a:off x="2497138" y="5819775"/>
            <a:ext cx="315912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after: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2" name="Rectangle 20"/>
          <p:cNvSpPr>
            <a:spLocks noChangeArrowheads="1"/>
          </p:cNvSpPr>
          <p:nvPr/>
        </p:nvSpPr>
        <p:spPr bwMode="auto">
          <a:xfrm>
            <a:off x="6151563" y="5359400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3" name="Rectangle 21"/>
          <p:cNvSpPr>
            <a:spLocks noChangeArrowheads="1"/>
          </p:cNvSpPr>
          <p:nvPr/>
        </p:nvSpPr>
        <p:spPr bwMode="auto">
          <a:xfrm>
            <a:off x="6151563" y="5819775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4" name="Rectangle 22"/>
          <p:cNvSpPr>
            <a:spLocks noChangeArrowheads="1"/>
          </p:cNvSpPr>
          <p:nvPr/>
        </p:nvSpPr>
        <p:spPr bwMode="auto">
          <a:xfrm>
            <a:off x="3276600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5" name="Rectangle 23"/>
          <p:cNvSpPr>
            <a:spLocks noChangeArrowheads="1"/>
          </p:cNvSpPr>
          <p:nvPr/>
        </p:nvSpPr>
        <p:spPr bwMode="auto">
          <a:xfrm>
            <a:off x="4197350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6" name="Rectangle 24"/>
          <p:cNvSpPr>
            <a:spLocks noChangeArrowheads="1"/>
          </p:cNvSpPr>
          <p:nvPr/>
        </p:nvSpPr>
        <p:spPr bwMode="auto">
          <a:xfrm>
            <a:off x="5102225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7" name="Rectangle 25"/>
          <p:cNvSpPr>
            <a:spLocks noChangeArrowheads="1"/>
          </p:cNvSpPr>
          <p:nvPr/>
        </p:nvSpPr>
        <p:spPr bwMode="auto">
          <a:xfrm>
            <a:off x="3498850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8" name="Rectangle 26"/>
          <p:cNvSpPr>
            <a:spLocks noChangeArrowheads="1"/>
          </p:cNvSpPr>
          <p:nvPr/>
        </p:nvSpPr>
        <p:spPr bwMode="auto">
          <a:xfrm>
            <a:off x="3736975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299" name="Rectangle 27"/>
          <p:cNvSpPr>
            <a:spLocks noChangeArrowheads="1"/>
          </p:cNvSpPr>
          <p:nvPr/>
        </p:nvSpPr>
        <p:spPr bwMode="auto">
          <a:xfrm>
            <a:off x="3959225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0" name="Rectangle 28"/>
          <p:cNvSpPr>
            <a:spLocks noChangeArrowheads="1"/>
          </p:cNvSpPr>
          <p:nvPr/>
        </p:nvSpPr>
        <p:spPr bwMode="auto">
          <a:xfrm>
            <a:off x="4435475" y="5264150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1" name="Rectangle 29"/>
          <p:cNvSpPr>
            <a:spLocks noChangeArrowheads="1"/>
          </p:cNvSpPr>
          <p:nvPr/>
        </p:nvSpPr>
        <p:spPr bwMode="auto">
          <a:xfrm>
            <a:off x="4657725" y="5264150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2" name="Rectangle 30"/>
          <p:cNvSpPr>
            <a:spLocks noChangeArrowheads="1"/>
          </p:cNvSpPr>
          <p:nvPr/>
        </p:nvSpPr>
        <p:spPr bwMode="auto">
          <a:xfrm>
            <a:off x="4895850" y="5264150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3" name="Rectangle 31"/>
          <p:cNvSpPr>
            <a:spLocks noChangeArrowheads="1"/>
          </p:cNvSpPr>
          <p:nvPr/>
        </p:nvSpPr>
        <p:spPr bwMode="auto">
          <a:xfrm>
            <a:off x="5562600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4" name="Rectangle 32"/>
          <p:cNvSpPr>
            <a:spLocks noChangeArrowheads="1"/>
          </p:cNvSpPr>
          <p:nvPr/>
        </p:nvSpPr>
        <p:spPr bwMode="auto">
          <a:xfrm>
            <a:off x="5340350" y="534352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5" name="Rectangle 33"/>
          <p:cNvSpPr>
            <a:spLocks noChangeArrowheads="1"/>
          </p:cNvSpPr>
          <p:nvPr/>
        </p:nvSpPr>
        <p:spPr bwMode="auto">
          <a:xfrm>
            <a:off x="3260725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6" name="Rectangle 34"/>
          <p:cNvSpPr>
            <a:spLocks noChangeArrowheads="1"/>
          </p:cNvSpPr>
          <p:nvPr/>
        </p:nvSpPr>
        <p:spPr bwMode="auto">
          <a:xfrm>
            <a:off x="3721100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7" name="Rectangle 35"/>
          <p:cNvSpPr>
            <a:spLocks noChangeArrowheads="1"/>
          </p:cNvSpPr>
          <p:nvPr/>
        </p:nvSpPr>
        <p:spPr bwMode="auto">
          <a:xfrm>
            <a:off x="3959225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8" name="Rectangle 36"/>
          <p:cNvSpPr>
            <a:spLocks noChangeArrowheads="1"/>
          </p:cNvSpPr>
          <p:nvPr/>
        </p:nvSpPr>
        <p:spPr bwMode="auto">
          <a:xfrm>
            <a:off x="4181475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09" name="Rectangle 37"/>
          <p:cNvSpPr>
            <a:spLocks noChangeArrowheads="1"/>
          </p:cNvSpPr>
          <p:nvPr/>
        </p:nvSpPr>
        <p:spPr bwMode="auto">
          <a:xfrm>
            <a:off x="4419600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0" name="Rectangle 38"/>
          <p:cNvSpPr>
            <a:spLocks noChangeArrowheads="1"/>
          </p:cNvSpPr>
          <p:nvPr/>
        </p:nvSpPr>
        <p:spPr bwMode="auto">
          <a:xfrm>
            <a:off x="5562600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1" name="Rectangle 39"/>
          <p:cNvSpPr>
            <a:spLocks noChangeArrowheads="1"/>
          </p:cNvSpPr>
          <p:nvPr/>
        </p:nvSpPr>
        <p:spPr bwMode="auto">
          <a:xfrm>
            <a:off x="4641850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2" name="Rectangle 40"/>
          <p:cNvSpPr>
            <a:spLocks noChangeArrowheads="1"/>
          </p:cNvSpPr>
          <p:nvPr/>
        </p:nvSpPr>
        <p:spPr bwMode="auto">
          <a:xfrm>
            <a:off x="3498850" y="5819775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3" name="Rectangle 41"/>
          <p:cNvSpPr>
            <a:spLocks noChangeArrowheads="1"/>
          </p:cNvSpPr>
          <p:nvPr/>
        </p:nvSpPr>
        <p:spPr bwMode="auto">
          <a:xfrm>
            <a:off x="2957513" y="6248400"/>
            <a:ext cx="10302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(b) Logical shift 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4" name="Rectangle 42"/>
          <p:cNvSpPr>
            <a:spLocks noChangeArrowheads="1"/>
          </p:cNvSpPr>
          <p:nvPr/>
        </p:nvSpPr>
        <p:spPr bwMode="auto">
          <a:xfrm>
            <a:off x="3940175" y="6248400"/>
            <a:ext cx="225425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ight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5" name="Rectangle 43"/>
          <p:cNvSpPr>
            <a:spLocks noChangeArrowheads="1"/>
          </p:cNvSpPr>
          <p:nvPr/>
        </p:nvSpPr>
        <p:spPr bwMode="auto">
          <a:xfrm>
            <a:off x="5181600" y="6248400"/>
            <a:ext cx="94615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LShiftR   #2,R0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6" name="Rectangle 44"/>
          <p:cNvSpPr>
            <a:spLocks noChangeArrowheads="1"/>
          </p:cNvSpPr>
          <p:nvPr/>
        </p:nvSpPr>
        <p:spPr bwMode="auto">
          <a:xfrm>
            <a:off x="2862263" y="4040188"/>
            <a:ext cx="11699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(a) Logical shift left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7" name="Rectangle 45"/>
          <p:cNvSpPr>
            <a:spLocks noChangeArrowheads="1"/>
          </p:cNvSpPr>
          <p:nvPr/>
        </p:nvSpPr>
        <p:spPr bwMode="auto">
          <a:xfrm>
            <a:off x="5038725" y="4040188"/>
            <a:ext cx="96043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LShiftL    #2,R0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18" name="Freeform 46"/>
          <p:cNvSpPr>
            <a:spLocks/>
          </p:cNvSpPr>
          <p:nvPr/>
        </p:nvSpPr>
        <p:spPr bwMode="auto">
          <a:xfrm>
            <a:off x="2767013" y="2579688"/>
            <a:ext cx="95250" cy="31750"/>
          </a:xfrm>
          <a:custGeom>
            <a:avLst/>
            <a:gdLst>
              <a:gd name="T0" fmla="*/ 6 w 6"/>
              <a:gd name="T1" fmla="*/ 0 h 2"/>
              <a:gd name="T2" fmla="*/ 0 w 6"/>
              <a:gd name="T3" fmla="*/ 1 h 2"/>
              <a:gd name="T4" fmla="*/ 6 w 6"/>
              <a:gd name="T5" fmla="*/ 2 h 2"/>
              <a:gd name="T6" fmla="*/ 6 w 6"/>
              <a:gd name="T7" fmla="*/ 1 h 2"/>
              <a:gd name="T8" fmla="*/ 6 w 6"/>
              <a:gd name="T9" fmla="*/ 0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2"/>
              <a:gd name="T17" fmla="*/ 6 w 6"/>
              <a:gd name="T18" fmla="*/ 2 h 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2">
                <a:moveTo>
                  <a:pt x="6" y="0"/>
                </a:moveTo>
                <a:lnTo>
                  <a:pt x="0" y="1"/>
                </a:lnTo>
                <a:lnTo>
                  <a:pt x="6" y="2"/>
                </a:lnTo>
                <a:lnTo>
                  <a:pt x="6" y="1"/>
                </a:lnTo>
                <a:lnTo>
                  <a:pt x="6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19" name="Freeform 47"/>
          <p:cNvSpPr>
            <a:spLocks/>
          </p:cNvSpPr>
          <p:nvPr/>
        </p:nvSpPr>
        <p:spPr bwMode="auto">
          <a:xfrm>
            <a:off x="2767013" y="2579688"/>
            <a:ext cx="95250" cy="31750"/>
          </a:xfrm>
          <a:custGeom>
            <a:avLst/>
            <a:gdLst>
              <a:gd name="T0" fmla="*/ 60 w 60"/>
              <a:gd name="T1" fmla="*/ 0 h 20"/>
              <a:gd name="T2" fmla="*/ 0 w 60"/>
              <a:gd name="T3" fmla="*/ 10 h 20"/>
              <a:gd name="T4" fmla="*/ 60 w 60"/>
              <a:gd name="T5" fmla="*/ 20 h 20"/>
              <a:gd name="T6" fmla="*/ 60 w 60"/>
              <a:gd name="T7" fmla="*/ 10 h 20"/>
              <a:gd name="T8" fmla="*/ 60 w 60"/>
              <a:gd name="T9" fmla="*/ 0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20"/>
              <a:gd name="T17" fmla="*/ 60 w 60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20">
                <a:moveTo>
                  <a:pt x="60" y="0"/>
                </a:moveTo>
                <a:lnTo>
                  <a:pt x="0" y="10"/>
                </a:lnTo>
                <a:lnTo>
                  <a:pt x="60" y="20"/>
                </a:lnTo>
                <a:lnTo>
                  <a:pt x="60" y="10"/>
                </a:lnTo>
                <a:lnTo>
                  <a:pt x="6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0" name="Line 48"/>
          <p:cNvSpPr>
            <a:spLocks noChangeShapeType="1"/>
          </p:cNvSpPr>
          <p:nvPr/>
        </p:nvSpPr>
        <p:spPr bwMode="auto">
          <a:xfrm>
            <a:off x="2862263" y="2595563"/>
            <a:ext cx="2857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1" name="Rectangle 49"/>
          <p:cNvSpPr>
            <a:spLocks noChangeArrowheads="1"/>
          </p:cNvSpPr>
          <p:nvPr/>
        </p:nvSpPr>
        <p:spPr bwMode="auto">
          <a:xfrm>
            <a:off x="3163888" y="3119438"/>
            <a:ext cx="2574925" cy="23812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2" name="Rectangle 50"/>
          <p:cNvSpPr>
            <a:spLocks noChangeArrowheads="1"/>
          </p:cNvSpPr>
          <p:nvPr/>
        </p:nvSpPr>
        <p:spPr bwMode="auto">
          <a:xfrm>
            <a:off x="2513013" y="2468563"/>
            <a:ext cx="238125" cy="254000"/>
          </a:xfrm>
          <a:prstGeom prst="rect">
            <a:avLst/>
          </a:prstGeom>
          <a:noFill/>
          <a:ln w="15875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3" name="Rectangle 51"/>
          <p:cNvSpPr>
            <a:spLocks noChangeArrowheads="1"/>
          </p:cNvSpPr>
          <p:nvPr/>
        </p:nvSpPr>
        <p:spPr bwMode="auto">
          <a:xfrm>
            <a:off x="2513013" y="3611563"/>
            <a:ext cx="238125" cy="23812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4" name="Rectangle 52"/>
          <p:cNvSpPr>
            <a:spLocks noChangeArrowheads="1"/>
          </p:cNvSpPr>
          <p:nvPr/>
        </p:nvSpPr>
        <p:spPr bwMode="auto">
          <a:xfrm>
            <a:off x="2513013" y="3119438"/>
            <a:ext cx="238125" cy="254000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5" name="Freeform 53"/>
          <p:cNvSpPr>
            <a:spLocks/>
          </p:cNvSpPr>
          <p:nvPr/>
        </p:nvSpPr>
        <p:spPr bwMode="auto">
          <a:xfrm>
            <a:off x="5738813" y="2579688"/>
            <a:ext cx="95250" cy="47625"/>
          </a:xfrm>
          <a:custGeom>
            <a:avLst/>
            <a:gdLst>
              <a:gd name="T0" fmla="*/ 6 w 6"/>
              <a:gd name="T1" fmla="*/ 0 h 3"/>
              <a:gd name="T2" fmla="*/ 0 w 6"/>
              <a:gd name="T3" fmla="*/ 1 h 3"/>
              <a:gd name="T4" fmla="*/ 6 w 6"/>
              <a:gd name="T5" fmla="*/ 3 h 3"/>
              <a:gd name="T6" fmla="*/ 6 w 6"/>
              <a:gd name="T7" fmla="*/ 1 h 3"/>
              <a:gd name="T8" fmla="*/ 6 w 6"/>
              <a:gd name="T9" fmla="*/ 0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3"/>
              <a:gd name="T17" fmla="*/ 6 w 6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3">
                <a:moveTo>
                  <a:pt x="6" y="0"/>
                </a:moveTo>
                <a:lnTo>
                  <a:pt x="0" y="1"/>
                </a:lnTo>
                <a:lnTo>
                  <a:pt x="6" y="3"/>
                </a:lnTo>
                <a:lnTo>
                  <a:pt x="6" y="1"/>
                </a:lnTo>
                <a:lnTo>
                  <a:pt x="6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6" name="Freeform 54"/>
          <p:cNvSpPr>
            <a:spLocks/>
          </p:cNvSpPr>
          <p:nvPr/>
        </p:nvSpPr>
        <p:spPr bwMode="auto">
          <a:xfrm>
            <a:off x="5738813" y="2579688"/>
            <a:ext cx="95250" cy="47625"/>
          </a:xfrm>
          <a:custGeom>
            <a:avLst/>
            <a:gdLst>
              <a:gd name="T0" fmla="*/ 60 w 60"/>
              <a:gd name="T1" fmla="*/ 0 h 30"/>
              <a:gd name="T2" fmla="*/ 0 w 60"/>
              <a:gd name="T3" fmla="*/ 10 h 30"/>
              <a:gd name="T4" fmla="*/ 60 w 60"/>
              <a:gd name="T5" fmla="*/ 30 h 30"/>
              <a:gd name="T6" fmla="*/ 60 w 60"/>
              <a:gd name="T7" fmla="*/ 10 h 30"/>
              <a:gd name="T8" fmla="*/ 60 w 60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30"/>
              <a:gd name="T17" fmla="*/ 60 w 6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30">
                <a:moveTo>
                  <a:pt x="60" y="0"/>
                </a:moveTo>
                <a:lnTo>
                  <a:pt x="0" y="10"/>
                </a:lnTo>
                <a:lnTo>
                  <a:pt x="60" y="30"/>
                </a:lnTo>
                <a:lnTo>
                  <a:pt x="60" y="10"/>
                </a:lnTo>
                <a:lnTo>
                  <a:pt x="6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7" name="Line 55"/>
          <p:cNvSpPr>
            <a:spLocks noChangeShapeType="1"/>
          </p:cNvSpPr>
          <p:nvPr/>
        </p:nvSpPr>
        <p:spPr bwMode="auto">
          <a:xfrm>
            <a:off x="5834063" y="2595563"/>
            <a:ext cx="2222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8" name="Freeform 56"/>
          <p:cNvSpPr>
            <a:spLocks/>
          </p:cNvSpPr>
          <p:nvPr/>
        </p:nvSpPr>
        <p:spPr bwMode="auto">
          <a:xfrm>
            <a:off x="2179638" y="2579688"/>
            <a:ext cx="95250" cy="47625"/>
          </a:xfrm>
          <a:custGeom>
            <a:avLst/>
            <a:gdLst>
              <a:gd name="T0" fmla="*/ 6 w 6"/>
              <a:gd name="T1" fmla="*/ 0 h 3"/>
              <a:gd name="T2" fmla="*/ 0 w 6"/>
              <a:gd name="T3" fmla="*/ 1 h 3"/>
              <a:gd name="T4" fmla="*/ 6 w 6"/>
              <a:gd name="T5" fmla="*/ 3 h 3"/>
              <a:gd name="T6" fmla="*/ 6 w 6"/>
              <a:gd name="T7" fmla="*/ 1 h 3"/>
              <a:gd name="T8" fmla="*/ 6 w 6"/>
              <a:gd name="T9" fmla="*/ 0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3"/>
              <a:gd name="T17" fmla="*/ 6 w 6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3">
                <a:moveTo>
                  <a:pt x="6" y="0"/>
                </a:moveTo>
                <a:lnTo>
                  <a:pt x="0" y="1"/>
                </a:lnTo>
                <a:lnTo>
                  <a:pt x="6" y="3"/>
                </a:lnTo>
                <a:lnTo>
                  <a:pt x="6" y="1"/>
                </a:lnTo>
                <a:lnTo>
                  <a:pt x="6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29" name="Freeform 57"/>
          <p:cNvSpPr>
            <a:spLocks/>
          </p:cNvSpPr>
          <p:nvPr/>
        </p:nvSpPr>
        <p:spPr bwMode="auto">
          <a:xfrm>
            <a:off x="2179638" y="2579688"/>
            <a:ext cx="95250" cy="47625"/>
          </a:xfrm>
          <a:custGeom>
            <a:avLst/>
            <a:gdLst>
              <a:gd name="T0" fmla="*/ 60 w 60"/>
              <a:gd name="T1" fmla="*/ 0 h 30"/>
              <a:gd name="T2" fmla="*/ 0 w 60"/>
              <a:gd name="T3" fmla="*/ 10 h 30"/>
              <a:gd name="T4" fmla="*/ 60 w 60"/>
              <a:gd name="T5" fmla="*/ 30 h 30"/>
              <a:gd name="T6" fmla="*/ 60 w 60"/>
              <a:gd name="T7" fmla="*/ 10 h 30"/>
              <a:gd name="T8" fmla="*/ 60 w 60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30"/>
              <a:gd name="T17" fmla="*/ 60 w 6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30">
                <a:moveTo>
                  <a:pt x="60" y="0"/>
                </a:moveTo>
                <a:lnTo>
                  <a:pt x="0" y="10"/>
                </a:lnTo>
                <a:lnTo>
                  <a:pt x="60" y="30"/>
                </a:lnTo>
                <a:lnTo>
                  <a:pt x="60" y="10"/>
                </a:lnTo>
                <a:lnTo>
                  <a:pt x="6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30" name="Line 58"/>
          <p:cNvSpPr>
            <a:spLocks noChangeShapeType="1"/>
          </p:cNvSpPr>
          <p:nvPr/>
        </p:nvSpPr>
        <p:spPr bwMode="auto">
          <a:xfrm>
            <a:off x="2290763" y="2595563"/>
            <a:ext cx="206375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31" name="Rectangle 59"/>
          <p:cNvSpPr>
            <a:spLocks noChangeArrowheads="1"/>
          </p:cNvSpPr>
          <p:nvPr/>
        </p:nvSpPr>
        <p:spPr bwMode="auto">
          <a:xfrm>
            <a:off x="2592388" y="2500313"/>
            <a:ext cx="101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2" name="Rectangle 60"/>
          <p:cNvSpPr>
            <a:spLocks noChangeArrowheads="1"/>
          </p:cNvSpPr>
          <p:nvPr/>
        </p:nvSpPr>
        <p:spPr bwMode="auto">
          <a:xfrm>
            <a:off x="4308475" y="2500313"/>
            <a:ext cx="1793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3" name="Rectangle 61"/>
          <p:cNvSpPr>
            <a:spLocks noChangeArrowheads="1"/>
          </p:cNvSpPr>
          <p:nvPr/>
        </p:nvSpPr>
        <p:spPr bwMode="auto">
          <a:xfrm>
            <a:off x="6151563" y="250031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4" name="Rectangle 62"/>
          <p:cNvSpPr>
            <a:spLocks noChangeArrowheads="1"/>
          </p:cNvSpPr>
          <p:nvPr/>
        </p:nvSpPr>
        <p:spPr bwMode="auto">
          <a:xfrm>
            <a:off x="2005013" y="3135313"/>
            <a:ext cx="4333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before: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5" name="Rectangle 63"/>
          <p:cNvSpPr>
            <a:spLocks noChangeArrowheads="1"/>
          </p:cNvSpPr>
          <p:nvPr/>
        </p:nvSpPr>
        <p:spPr bwMode="auto">
          <a:xfrm>
            <a:off x="2116138" y="3611563"/>
            <a:ext cx="315912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after: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6" name="Rectangle 64"/>
          <p:cNvSpPr>
            <a:spLocks noChangeArrowheads="1"/>
          </p:cNvSpPr>
          <p:nvPr/>
        </p:nvSpPr>
        <p:spPr bwMode="auto">
          <a:xfrm>
            <a:off x="2592388" y="31511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7" name="Rectangle 65"/>
          <p:cNvSpPr>
            <a:spLocks noChangeArrowheads="1"/>
          </p:cNvSpPr>
          <p:nvPr/>
        </p:nvSpPr>
        <p:spPr bwMode="auto">
          <a:xfrm>
            <a:off x="2592388" y="362743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8" name="Rectangle 66"/>
          <p:cNvSpPr>
            <a:spLocks noChangeArrowheads="1"/>
          </p:cNvSpPr>
          <p:nvPr/>
        </p:nvSpPr>
        <p:spPr bwMode="auto">
          <a:xfrm>
            <a:off x="3260725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39" name="Rectangle 67"/>
          <p:cNvSpPr>
            <a:spLocks noChangeArrowheads="1"/>
          </p:cNvSpPr>
          <p:nvPr/>
        </p:nvSpPr>
        <p:spPr bwMode="auto">
          <a:xfrm>
            <a:off x="4181475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0" name="Rectangle 68"/>
          <p:cNvSpPr>
            <a:spLocks noChangeArrowheads="1"/>
          </p:cNvSpPr>
          <p:nvPr/>
        </p:nvSpPr>
        <p:spPr bwMode="auto">
          <a:xfrm>
            <a:off x="5102225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1" name="Rectangle 69"/>
          <p:cNvSpPr>
            <a:spLocks noChangeArrowheads="1"/>
          </p:cNvSpPr>
          <p:nvPr/>
        </p:nvSpPr>
        <p:spPr bwMode="auto">
          <a:xfrm>
            <a:off x="3498850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2" name="Rectangle 70"/>
          <p:cNvSpPr>
            <a:spLocks noChangeArrowheads="1"/>
          </p:cNvSpPr>
          <p:nvPr/>
        </p:nvSpPr>
        <p:spPr bwMode="auto">
          <a:xfrm>
            <a:off x="3721100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3" name="Rectangle 71"/>
          <p:cNvSpPr>
            <a:spLocks noChangeArrowheads="1"/>
          </p:cNvSpPr>
          <p:nvPr/>
        </p:nvSpPr>
        <p:spPr bwMode="auto">
          <a:xfrm>
            <a:off x="3959225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4" name="Rectangle 72"/>
          <p:cNvSpPr>
            <a:spLocks noChangeArrowheads="1"/>
          </p:cNvSpPr>
          <p:nvPr/>
        </p:nvSpPr>
        <p:spPr bwMode="auto">
          <a:xfrm>
            <a:off x="4419600" y="3055938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5" name="Rectangle 73"/>
          <p:cNvSpPr>
            <a:spLocks noChangeArrowheads="1"/>
          </p:cNvSpPr>
          <p:nvPr/>
        </p:nvSpPr>
        <p:spPr bwMode="auto">
          <a:xfrm>
            <a:off x="4657725" y="3055938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6" name="Rectangle 74"/>
          <p:cNvSpPr>
            <a:spLocks noChangeArrowheads="1"/>
          </p:cNvSpPr>
          <p:nvPr/>
        </p:nvSpPr>
        <p:spPr bwMode="auto">
          <a:xfrm>
            <a:off x="4879975" y="3055938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7" name="Rectangle 75"/>
          <p:cNvSpPr>
            <a:spLocks noChangeArrowheads="1"/>
          </p:cNvSpPr>
          <p:nvPr/>
        </p:nvSpPr>
        <p:spPr bwMode="auto">
          <a:xfrm>
            <a:off x="5562600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8" name="Rectangle 76"/>
          <p:cNvSpPr>
            <a:spLocks noChangeArrowheads="1"/>
          </p:cNvSpPr>
          <p:nvPr/>
        </p:nvSpPr>
        <p:spPr bwMode="auto">
          <a:xfrm>
            <a:off x="5324475" y="315118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49" name="Rectangle 77"/>
          <p:cNvSpPr>
            <a:spLocks noChangeArrowheads="1"/>
          </p:cNvSpPr>
          <p:nvPr/>
        </p:nvSpPr>
        <p:spPr bwMode="auto">
          <a:xfrm>
            <a:off x="3260725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0" name="Rectangle 78"/>
          <p:cNvSpPr>
            <a:spLocks noChangeArrowheads="1"/>
          </p:cNvSpPr>
          <p:nvPr/>
        </p:nvSpPr>
        <p:spPr bwMode="auto">
          <a:xfrm>
            <a:off x="5102225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1" name="Rectangle 79"/>
          <p:cNvSpPr>
            <a:spLocks noChangeArrowheads="1"/>
          </p:cNvSpPr>
          <p:nvPr/>
        </p:nvSpPr>
        <p:spPr bwMode="auto">
          <a:xfrm>
            <a:off x="3721100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2" name="Rectangle 80"/>
          <p:cNvSpPr>
            <a:spLocks noChangeArrowheads="1"/>
          </p:cNvSpPr>
          <p:nvPr/>
        </p:nvSpPr>
        <p:spPr bwMode="auto">
          <a:xfrm>
            <a:off x="3959225" y="3548063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3" name="Rectangle 81"/>
          <p:cNvSpPr>
            <a:spLocks noChangeArrowheads="1"/>
          </p:cNvSpPr>
          <p:nvPr/>
        </p:nvSpPr>
        <p:spPr bwMode="auto">
          <a:xfrm>
            <a:off x="4197350" y="3548063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4" name="Rectangle 82"/>
          <p:cNvSpPr>
            <a:spLocks noChangeArrowheads="1"/>
          </p:cNvSpPr>
          <p:nvPr/>
        </p:nvSpPr>
        <p:spPr bwMode="auto">
          <a:xfrm>
            <a:off x="4419600" y="3548063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5" name="Rectangle 83"/>
          <p:cNvSpPr>
            <a:spLocks noChangeArrowheads="1"/>
          </p:cNvSpPr>
          <p:nvPr/>
        </p:nvSpPr>
        <p:spPr bwMode="auto">
          <a:xfrm>
            <a:off x="5562600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6" name="Rectangle 84"/>
          <p:cNvSpPr>
            <a:spLocks noChangeArrowheads="1"/>
          </p:cNvSpPr>
          <p:nvPr/>
        </p:nvSpPr>
        <p:spPr bwMode="auto">
          <a:xfrm>
            <a:off x="5324475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7" name="Rectangle 85"/>
          <p:cNvSpPr>
            <a:spLocks noChangeArrowheads="1"/>
          </p:cNvSpPr>
          <p:nvPr/>
        </p:nvSpPr>
        <p:spPr bwMode="auto">
          <a:xfrm>
            <a:off x="4864100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8" name="Rectangle 86"/>
          <p:cNvSpPr>
            <a:spLocks noChangeArrowheads="1"/>
          </p:cNvSpPr>
          <p:nvPr/>
        </p:nvSpPr>
        <p:spPr bwMode="auto">
          <a:xfrm>
            <a:off x="4641850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59" name="Rectangle 87"/>
          <p:cNvSpPr>
            <a:spLocks noChangeArrowheads="1"/>
          </p:cNvSpPr>
          <p:nvPr/>
        </p:nvSpPr>
        <p:spPr bwMode="auto">
          <a:xfrm>
            <a:off x="3498850" y="3627438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60" name="Rectangle 88"/>
          <p:cNvSpPr>
            <a:spLocks noChangeArrowheads="1"/>
          </p:cNvSpPr>
          <p:nvPr/>
        </p:nvSpPr>
        <p:spPr bwMode="auto">
          <a:xfrm>
            <a:off x="4895850" y="5756275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61" name="Rectangle 89"/>
          <p:cNvSpPr>
            <a:spLocks noChangeArrowheads="1"/>
          </p:cNvSpPr>
          <p:nvPr/>
        </p:nvSpPr>
        <p:spPr bwMode="auto">
          <a:xfrm>
            <a:off x="5118100" y="5756275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62" name="Rectangle 90"/>
          <p:cNvSpPr>
            <a:spLocks noChangeArrowheads="1"/>
          </p:cNvSpPr>
          <p:nvPr/>
        </p:nvSpPr>
        <p:spPr bwMode="auto">
          <a:xfrm>
            <a:off x="5356225" y="5756275"/>
            <a:ext cx="523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2363" name="Rectangle 91"/>
          <p:cNvSpPr>
            <a:spLocks noChangeArrowheads="1"/>
          </p:cNvSpPr>
          <p:nvPr/>
        </p:nvSpPr>
        <p:spPr bwMode="auto">
          <a:xfrm>
            <a:off x="3163888" y="3611563"/>
            <a:ext cx="2574925" cy="23812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64" name="Rectangle 92"/>
          <p:cNvSpPr>
            <a:spLocks noChangeArrowheads="1"/>
          </p:cNvSpPr>
          <p:nvPr/>
        </p:nvSpPr>
        <p:spPr bwMode="auto">
          <a:xfrm>
            <a:off x="3163888" y="4724400"/>
            <a:ext cx="2574925" cy="238125"/>
          </a:xfrm>
          <a:prstGeom prst="rect">
            <a:avLst/>
          </a:prstGeom>
          <a:noFill/>
          <a:ln w="15875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65" name="Rectangle 93"/>
          <p:cNvSpPr>
            <a:spLocks noChangeArrowheads="1"/>
          </p:cNvSpPr>
          <p:nvPr/>
        </p:nvSpPr>
        <p:spPr bwMode="auto">
          <a:xfrm>
            <a:off x="3163888" y="5327650"/>
            <a:ext cx="2574925" cy="254000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66" name="Rectangle 94"/>
          <p:cNvSpPr>
            <a:spLocks noChangeArrowheads="1"/>
          </p:cNvSpPr>
          <p:nvPr/>
        </p:nvSpPr>
        <p:spPr bwMode="auto">
          <a:xfrm>
            <a:off x="3163888" y="5803900"/>
            <a:ext cx="2574925" cy="23812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67" name="Rectangle 95"/>
          <p:cNvSpPr>
            <a:spLocks noChangeArrowheads="1"/>
          </p:cNvSpPr>
          <p:nvPr/>
        </p:nvSpPr>
        <p:spPr bwMode="auto">
          <a:xfrm>
            <a:off x="3163888" y="2468563"/>
            <a:ext cx="2574925" cy="254000"/>
          </a:xfrm>
          <a:prstGeom prst="rect">
            <a:avLst/>
          </a:prstGeom>
          <a:noFill/>
          <a:ln w="15875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68" name="Rectangle 96"/>
          <p:cNvSpPr>
            <a:spLocks noChangeArrowheads="1"/>
          </p:cNvSpPr>
          <p:nvPr/>
        </p:nvSpPr>
        <p:spPr bwMode="auto">
          <a:xfrm>
            <a:off x="6056313" y="4724400"/>
            <a:ext cx="254000" cy="238125"/>
          </a:xfrm>
          <a:prstGeom prst="rect">
            <a:avLst/>
          </a:prstGeom>
          <a:noFill/>
          <a:ln w="15875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Arithmetic Shifts</a:t>
            </a:r>
          </a:p>
        </p:txBody>
      </p:sp>
      <p:sp>
        <p:nvSpPr>
          <p:cNvPr id="184323" name="Freeform 4"/>
          <p:cNvSpPr>
            <a:spLocks/>
          </p:cNvSpPr>
          <p:nvPr/>
        </p:nvSpPr>
        <p:spPr bwMode="auto">
          <a:xfrm>
            <a:off x="6511925" y="3067050"/>
            <a:ext cx="111125" cy="47625"/>
          </a:xfrm>
          <a:custGeom>
            <a:avLst/>
            <a:gdLst>
              <a:gd name="T0" fmla="*/ 0 w 7"/>
              <a:gd name="T1" fmla="*/ 3 h 3"/>
              <a:gd name="T2" fmla="*/ 7 w 7"/>
              <a:gd name="T3" fmla="*/ 1 h 3"/>
              <a:gd name="T4" fmla="*/ 0 w 7"/>
              <a:gd name="T5" fmla="*/ 0 h 3"/>
              <a:gd name="T6" fmla="*/ 0 w 7"/>
              <a:gd name="T7" fmla="*/ 1 h 3"/>
              <a:gd name="T8" fmla="*/ 0 w 7"/>
              <a:gd name="T9" fmla="*/ 3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3"/>
              <a:gd name="T17" fmla="*/ 7 w 7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3">
                <a:moveTo>
                  <a:pt x="0" y="3"/>
                </a:moveTo>
                <a:lnTo>
                  <a:pt x="7" y="1"/>
                </a:ln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24" name="Freeform 5"/>
          <p:cNvSpPr>
            <a:spLocks/>
          </p:cNvSpPr>
          <p:nvPr/>
        </p:nvSpPr>
        <p:spPr bwMode="auto">
          <a:xfrm>
            <a:off x="6511925" y="3067050"/>
            <a:ext cx="111125" cy="47625"/>
          </a:xfrm>
          <a:custGeom>
            <a:avLst/>
            <a:gdLst>
              <a:gd name="T0" fmla="*/ 0 w 70"/>
              <a:gd name="T1" fmla="*/ 30 h 30"/>
              <a:gd name="T2" fmla="*/ 70 w 70"/>
              <a:gd name="T3" fmla="*/ 10 h 30"/>
              <a:gd name="T4" fmla="*/ 0 w 70"/>
              <a:gd name="T5" fmla="*/ 0 h 30"/>
              <a:gd name="T6" fmla="*/ 0 w 70"/>
              <a:gd name="T7" fmla="*/ 10 h 30"/>
              <a:gd name="T8" fmla="*/ 0 w 70"/>
              <a:gd name="T9" fmla="*/ 3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"/>
              <a:gd name="T16" fmla="*/ 0 h 30"/>
              <a:gd name="T17" fmla="*/ 70 w 7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" h="30">
                <a:moveTo>
                  <a:pt x="0" y="30"/>
                </a:moveTo>
                <a:lnTo>
                  <a:pt x="70" y="10"/>
                </a:lnTo>
                <a:lnTo>
                  <a:pt x="0" y="0"/>
                </a:lnTo>
                <a:lnTo>
                  <a:pt x="0" y="10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25" name="Line 6"/>
          <p:cNvSpPr>
            <a:spLocks noChangeShapeType="1"/>
          </p:cNvSpPr>
          <p:nvPr/>
        </p:nvSpPr>
        <p:spPr bwMode="auto">
          <a:xfrm flipH="1">
            <a:off x="6210300" y="3082925"/>
            <a:ext cx="301625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26" name="Rectangle 7"/>
          <p:cNvSpPr>
            <a:spLocks noChangeArrowheads="1"/>
          </p:cNvSpPr>
          <p:nvPr/>
        </p:nvSpPr>
        <p:spPr bwMode="auto">
          <a:xfrm>
            <a:off x="5972175" y="2971800"/>
            <a:ext cx="238125" cy="238125"/>
          </a:xfrm>
          <a:prstGeom prst="rect">
            <a:avLst/>
          </a:prstGeom>
          <a:noFill/>
          <a:ln w="15875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27" name="Rectangle 8"/>
          <p:cNvSpPr>
            <a:spLocks noChangeArrowheads="1"/>
          </p:cNvSpPr>
          <p:nvPr/>
        </p:nvSpPr>
        <p:spPr bwMode="auto">
          <a:xfrm>
            <a:off x="5956300" y="4052888"/>
            <a:ext cx="254000" cy="23812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28" name="Rectangle 9"/>
          <p:cNvSpPr>
            <a:spLocks noChangeArrowheads="1"/>
          </p:cNvSpPr>
          <p:nvPr/>
        </p:nvSpPr>
        <p:spPr bwMode="auto">
          <a:xfrm>
            <a:off x="5972175" y="3575050"/>
            <a:ext cx="254000" cy="239713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29" name="Freeform 10"/>
          <p:cNvSpPr>
            <a:spLocks/>
          </p:cNvSpPr>
          <p:nvPr/>
        </p:nvSpPr>
        <p:spPr bwMode="auto">
          <a:xfrm>
            <a:off x="5845175" y="3067050"/>
            <a:ext cx="111125" cy="47625"/>
          </a:xfrm>
          <a:custGeom>
            <a:avLst/>
            <a:gdLst>
              <a:gd name="T0" fmla="*/ 0 w 7"/>
              <a:gd name="T1" fmla="*/ 3 h 3"/>
              <a:gd name="T2" fmla="*/ 7 w 7"/>
              <a:gd name="T3" fmla="*/ 2 h 3"/>
              <a:gd name="T4" fmla="*/ 0 w 7"/>
              <a:gd name="T5" fmla="*/ 0 h 3"/>
              <a:gd name="T6" fmla="*/ 0 w 7"/>
              <a:gd name="T7" fmla="*/ 2 h 3"/>
              <a:gd name="T8" fmla="*/ 0 w 7"/>
              <a:gd name="T9" fmla="*/ 3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3"/>
              <a:gd name="T17" fmla="*/ 7 w 7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3">
                <a:moveTo>
                  <a:pt x="0" y="3"/>
                </a:moveTo>
                <a:lnTo>
                  <a:pt x="7" y="2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30" name="Freeform 11"/>
          <p:cNvSpPr>
            <a:spLocks/>
          </p:cNvSpPr>
          <p:nvPr/>
        </p:nvSpPr>
        <p:spPr bwMode="auto">
          <a:xfrm>
            <a:off x="5845175" y="3067050"/>
            <a:ext cx="111125" cy="47625"/>
          </a:xfrm>
          <a:custGeom>
            <a:avLst/>
            <a:gdLst>
              <a:gd name="T0" fmla="*/ 0 w 70"/>
              <a:gd name="T1" fmla="*/ 30 h 30"/>
              <a:gd name="T2" fmla="*/ 70 w 70"/>
              <a:gd name="T3" fmla="*/ 20 h 30"/>
              <a:gd name="T4" fmla="*/ 0 w 70"/>
              <a:gd name="T5" fmla="*/ 0 h 30"/>
              <a:gd name="T6" fmla="*/ 0 w 70"/>
              <a:gd name="T7" fmla="*/ 20 h 30"/>
              <a:gd name="T8" fmla="*/ 0 w 70"/>
              <a:gd name="T9" fmla="*/ 3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"/>
              <a:gd name="T16" fmla="*/ 0 h 30"/>
              <a:gd name="T17" fmla="*/ 70 w 7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" h="30">
                <a:moveTo>
                  <a:pt x="0" y="30"/>
                </a:moveTo>
                <a:lnTo>
                  <a:pt x="70" y="20"/>
                </a:lnTo>
                <a:lnTo>
                  <a:pt x="0" y="0"/>
                </a:lnTo>
                <a:lnTo>
                  <a:pt x="0" y="20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31" name="Line 12"/>
          <p:cNvSpPr>
            <a:spLocks noChangeShapeType="1"/>
          </p:cNvSpPr>
          <p:nvPr/>
        </p:nvSpPr>
        <p:spPr bwMode="auto">
          <a:xfrm flipH="1">
            <a:off x="5622925" y="3098800"/>
            <a:ext cx="222250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32" name="Rectangle 13"/>
          <p:cNvSpPr>
            <a:spLocks noChangeArrowheads="1"/>
          </p:cNvSpPr>
          <p:nvPr/>
        </p:nvSpPr>
        <p:spPr bwMode="auto">
          <a:xfrm>
            <a:off x="6035675" y="2987675"/>
            <a:ext cx="101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C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33" name="Rectangle 14"/>
          <p:cNvSpPr>
            <a:spLocks noChangeArrowheads="1"/>
          </p:cNvSpPr>
          <p:nvPr/>
        </p:nvSpPr>
        <p:spPr bwMode="auto">
          <a:xfrm>
            <a:off x="2286000" y="3592513"/>
            <a:ext cx="4333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before: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34" name="Rectangle 15"/>
          <p:cNvSpPr>
            <a:spLocks noChangeArrowheads="1"/>
          </p:cNvSpPr>
          <p:nvPr/>
        </p:nvSpPr>
        <p:spPr bwMode="auto">
          <a:xfrm>
            <a:off x="2381250" y="4068763"/>
            <a:ext cx="315913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after: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35" name="Rectangle 16"/>
          <p:cNvSpPr>
            <a:spLocks noChangeArrowheads="1"/>
          </p:cNvSpPr>
          <p:nvPr/>
        </p:nvSpPr>
        <p:spPr bwMode="auto">
          <a:xfrm>
            <a:off x="6051550" y="3592513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36" name="Rectangle 17"/>
          <p:cNvSpPr>
            <a:spLocks noChangeArrowheads="1"/>
          </p:cNvSpPr>
          <p:nvPr/>
        </p:nvSpPr>
        <p:spPr bwMode="auto">
          <a:xfrm>
            <a:off x="6051550" y="4068763"/>
            <a:ext cx="777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37" name="Rectangle 18"/>
          <p:cNvSpPr>
            <a:spLocks noChangeArrowheads="1"/>
          </p:cNvSpPr>
          <p:nvPr/>
        </p:nvSpPr>
        <p:spPr bwMode="auto">
          <a:xfrm>
            <a:off x="3144838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38" name="Rectangle 19"/>
          <p:cNvSpPr>
            <a:spLocks noChangeArrowheads="1"/>
          </p:cNvSpPr>
          <p:nvPr/>
        </p:nvSpPr>
        <p:spPr bwMode="auto">
          <a:xfrm>
            <a:off x="4065588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39" name="Rectangle 20"/>
          <p:cNvSpPr>
            <a:spLocks noChangeArrowheads="1"/>
          </p:cNvSpPr>
          <p:nvPr/>
        </p:nvSpPr>
        <p:spPr bwMode="auto">
          <a:xfrm>
            <a:off x="4986338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0" name="Rectangle 21"/>
          <p:cNvSpPr>
            <a:spLocks noChangeArrowheads="1"/>
          </p:cNvSpPr>
          <p:nvPr/>
        </p:nvSpPr>
        <p:spPr bwMode="auto">
          <a:xfrm>
            <a:off x="3382963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1" name="Rectangle 22"/>
          <p:cNvSpPr>
            <a:spLocks noChangeArrowheads="1"/>
          </p:cNvSpPr>
          <p:nvPr/>
        </p:nvSpPr>
        <p:spPr bwMode="auto">
          <a:xfrm>
            <a:off x="3605213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2" name="Rectangle 23"/>
          <p:cNvSpPr>
            <a:spLocks noChangeArrowheads="1"/>
          </p:cNvSpPr>
          <p:nvPr/>
        </p:nvSpPr>
        <p:spPr bwMode="auto">
          <a:xfrm>
            <a:off x="3843338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3" name="Rectangle 24"/>
          <p:cNvSpPr>
            <a:spLocks noChangeArrowheads="1"/>
          </p:cNvSpPr>
          <p:nvPr/>
        </p:nvSpPr>
        <p:spPr bwMode="auto">
          <a:xfrm>
            <a:off x="4303713" y="3513138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4" name="Rectangle 25"/>
          <p:cNvSpPr>
            <a:spLocks noChangeArrowheads="1"/>
          </p:cNvSpPr>
          <p:nvPr/>
        </p:nvSpPr>
        <p:spPr bwMode="auto">
          <a:xfrm>
            <a:off x="4541838" y="3513138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5" name="Rectangle 26"/>
          <p:cNvSpPr>
            <a:spLocks noChangeArrowheads="1"/>
          </p:cNvSpPr>
          <p:nvPr/>
        </p:nvSpPr>
        <p:spPr bwMode="auto">
          <a:xfrm>
            <a:off x="4764088" y="3513138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6" name="Rectangle 27"/>
          <p:cNvSpPr>
            <a:spLocks noChangeArrowheads="1"/>
          </p:cNvSpPr>
          <p:nvPr/>
        </p:nvSpPr>
        <p:spPr bwMode="auto">
          <a:xfrm>
            <a:off x="5446713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7" name="Rectangle 28"/>
          <p:cNvSpPr>
            <a:spLocks noChangeArrowheads="1"/>
          </p:cNvSpPr>
          <p:nvPr/>
        </p:nvSpPr>
        <p:spPr bwMode="auto">
          <a:xfrm>
            <a:off x="5208588" y="3608388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8" name="Rectangle 29"/>
          <p:cNvSpPr>
            <a:spLocks noChangeArrowheads="1"/>
          </p:cNvSpPr>
          <p:nvPr/>
        </p:nvSpPr>
        <p:spPr bwMode="auto">
          <a:xfrm>
            <a:off x="3144838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49" name="Rectangle 30"/>
          <p:cNvSpPr>
            <a:spLocks noChangeArrowheads="1"/>
          </p:cNvSpPr>
          <p:nvPr/>
        </p:nvSpPr>
        <p:spPr bwMode="auto">
          <a:xfrm>
            <a:off x="3605213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0" name="Rectangle 31"/>
          <p:cNvSpPr>
            <a:spLocks noChangeArrowheads="1"/>
          </p:cNvSpPr>
          <p:nvPr/>
        </p:nvSpPr>
        <p:spPr bwMode="auto">
          <a:xfrm>
            <a:off x="3843338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1" name="Rectangle 32"/>
          <p:cNvSpPr>
            <a:spLocks noChangeArrowheads="1"/>
          </p:cNvSpPr>
          <p:nvPr/>
        </p:nvSpPr>
        <p:spPr bwMode="auto">
          <a:xfrm>
            <a:off x="4065588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2" name="Rectangle 33"/>
          <p:cNvSpPr>
            <a:spLocks noChangeArrowheads="1"/>
          </p:cNvSpPr>
          <p:nvPr/>
        </p:nvSpPr>
        <p:spPr bwMode="auto">
          <a:xfrm>
            <a:off x="4303713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3" name="Rectangle 34"/>
          <p:cNvSpPr>
            <a:spLocks noChangeArrowheads="1"/>
          </p:cNvSpPr>
          <p:nvPr/>
        </p:nvSpPr>
        <p:spPr bwMode="auto">
          <a:xfrm>
            <a:off x="5446713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4" name="Rectangle 35"/>
          <p:cNvSpPr>
            <a:spLocks noChangeArrowheads="1"/>
          </p:cNvSpPr>
          <p:nvPr/>
        </p:nvSpPr>
        <p:spPr bwMode="auto">
          <a:xfrm>
            <a:off x="4525963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5" name="Rectangle 36"/>
          <p:cNvSpPr>
            <a:spLocks noChangeArrowheads="1"/>
          </p:cNvSpPr>
          <p:nvPr/>
        </p:nvSpPr>
        <p:spPr bwMode="auto">
          <a:xfrm>
            <a:off x="3382963" y="4068763"/>
            <a:ext cx="777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6" name="Rectangle 37"/>
          <p:cNvSpPr>
            <a:spLocks noChangeArrowheads="1"/>
          </p:cNvSpPr>
          <p:nvPr/>
        </p:nvSpPr>
        <p:spPr bwMode="auto">
          <a:xfrm>
            <a:off x="2794000" y="4481513"/>
            <a:ext cx="339725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(c) Ar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7" name="Rectangle 38"/>
          <p:cNvSpPr>
            <a:spLocks noChangeArrowheads="1"/>
          </p:cNvSpPr>
          <p:nvPr/>
        </p:nvSpPr>
        <p:spPr bwMode="auto">
          <a:xfrm>
            <a:off x="3135313" y="4481513"/>
            <a:ext cx="85883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ithmetic shift 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8" name="Rectangle 39"/>
          <p:cNvSpPr>
            <a:spLocks noChangeArrowheads="1"/>
          </p:cNvSpPr>
          <p:nvPr/>
        </p:nvSpPr>
        <p:spPr bwMode="auto">
          <a:xfrm>
            <a:off x="3957638" y="4481513"/>
            <a:ext cx="225425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ight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59" name="Rectangle 40"/>
          <p:cNvSpPr>
            <a:spLocks noChangeArrowheads="1"/>
          </p:cNvSpPr>
          <p:nvPr/>
        </p:nvSpPr>
        <p:spPr bwMode="auto">
          <a:xfrm>
            <a:off x="5081588" y="4481513"/>
            <a:ext cx="962025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AShiftR   #2,R0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60" name="Rectangle 41"/>
          <p:cNvSpPr>
            <a:spLocks noChangeArrowheads="1"/>
          </p:cNvSpPr>
          <p:nvPr/>
        </p:nvSpPr>
        <p:spPr bwMode="auto">
          <a:xfrm>
            <a:off x="4192588" y="2987675"/>
            <a:ext cx="179387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1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R0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61" name="Rectangle 42"/>
          <p:cNvSpPr>
            <a:spLocks noChangeArrowheads="1"/>
          </p:cNvSpPr>
          <p:nvPr/>
        </p:nvSpPr>
        <p:spPr bwMode="auto">
          <a:xfrm>
            <a:off x="4779963" y="3973513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62" name="Rectangle 43"/>
          <p:cNvSpPr>
            <a:spLocks noChangeArrowheads="1"/>
          </p:cNvSpPr>
          <p:nvPr/>
        </p:nvSpPr>
        <p:spPr bwMode="auto">
          <a:xfrm>
            <a:off x="5002213" y="3973513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63" name="Rectangle 44"/>
          <p:cNvSpPr>
            <a:spLocks noChangeArrowheads="1"/>
          </p:cNvSpPr>
          <p:nvPr/>
        </p:nvSpPr>
        <p:spPr bwMode="auto">
          <a:xfrm>
            <a:off x="5240338" y="3973513"/>
            <a:ext cx="52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4364" name="Freeform 45"/>
          <p:cNvSpPr>
            <a:spLocks/>
          </p:cNvSpPr>
          <p:nvPr/>
        </p:nvSpPr>
        <p:spPr bwMode="auto">
          <a:xfrm>
            <a:off x="2952750" y="3067050"/>
            <a:ext cx="63500" cy="47625"/>
          </a:xfrm>
          <a:custGeom>
            <a:avLst/>
            <a:gdLst>
              <a:gd name="T0" fmla="*/ 0 w 4"/>
              <a:gd name="T1" fmla="*/ 3 h 3"/>
              <a:gd name="T2" fmla="*/ 4 w 4"/>
              <a:gd name="T3" fmla="*/ 1 h 3"/>
              <a:gd name="T4" fmla="*/ 0 w 4"/>
              <a:gd name="T5" fmla="*/ 0 h 3"/>
              <a:gd name="T6" fmla="*/ 0 w 4"/>
              <a:gd name="T7" fmla="*/ 1 h 3"/>
              <a:gd name="T8" fmla="*/ 0 w 4"/>
              <a:gd name="T9" fmla="*/ 3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"/>
              <a:gd name="T16" fmla="*/ 0 h 3"/>
              <a:gd name="T17" fmla="*/ 4 w 4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" h="3">
                <a:moveTo>
                  <a:pt x="0" y="3"/>
                </a:moveTo>
                <a:lnTo>
                  <a:pt x="4" y="1"/>
                </a:ln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65" name="Freeform 46"/>
          <p:cNvSpPr>
            <a:spLocks/>
          </p:cNvSpPr>
          <p:nvPr/>
        </p:nvSpPr>
        <p:spPr bwMode="auto">
          <a:xfrm>
            <a:off x="2952750" y="3067050"/>
            <a:ext cx="63500" cy="47625"/>
          </a:xfrm>
          <a:custGeom>
            <a:avLst/>
            <a:gdLst>
              <a:gd name="T0" fmla="*/ 0 w 40"/>
              <a:gd name="T1" fmla="*/ 30 h 30"/>
              <a:gd name="T2" fmla="*/ 40 w 40"/>
              <a:gd name="T3" fmla="*/ 10 h 30"/>
              <a:gd name="T4" fmla="*/ 0 w 40"/>
              <a:gd name="T5" fmla="*/ 0 h 30"/>
              <a:gd name="T6" fmla="*/ 0 w 40"/>
              <a:gd name="T7" fmla="*/ 10 h 30"/>
              <a:gd name="T8" fmla="*/ 0 w 40"/>
              <a:gd name="T9" fmla="*/ 3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0"/>
              <a:gd name="T17" fmla="*/ 40 w 4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0">
                <a:moveTo>
                  <a:pt x="0" y="30"/>
                </a:moveTo>
                <a:lnTo>
                  <a:pt x="40" y="10"/>
                </a:lnTo>
                <a:lnTo>
                  <a:pt x="0" y="0"/>
                </a:lnTo>
                <a:lnTo>
                  <a:pt x="0" y="10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66" name="Freeform 47"/>
          <p:cNvSpPr>
            <a:spLocks/>
          </p:cNvSpPr>
          <p:nvPr/>
        </p:nvSpPr>
        <p:spPr bwMode="auto">
          <a:xfrm>
            <a:off x="2714625" y="2749550"/>
            <a:ext cx="461963" cy="333375"/>
          </a:xfrm>
          <a:custGeom>
            <a:avLst/>
            <a:gdLst>
              <a:gd name="T0" fmla="*/ 15 w 29"/>
              <a:gd name="T1" fmla="*/ 21 h 21"/>
              <a:gd name="T2" fmla="*/ 0 w 29"/>
              <a:gd name="T3" fmla="*/ 21 h 21"/>
              <a:gd name="T4" fmla="*/ 0 w 29"/>
              <a:gd name="T5" fmla="*/ 0 h 21"/>
              <a:gd name="T6" fmla="*/ 29 w 29"/>
              <a:gd name="T7" fmla="*/ 0 h 21"/>
              <a:gd name="T8" fmla="*/ 29 w 29"/>
              <a:gd name="T9" fmla="*/ 13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"/>
              <a:gd name="T16" fmla="*/ 0 h 21"/>
              <a:gd name="T17" fmla="*/ 29 w 29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" h="21">
                <a:moveTo>
                  <a:pt x="15" y="21"/>
                </a:moveTo>
                <a:lnTo>
                  <a:pt x="0" y="21"/>
                </a:lnTo>
                <a:lnTo>
                  <a:pt x="0" y="0"/>
                </a:lnTo>
                <a:lnTo>
                  <a:pt x="29" y="0"/>
                </a:lnTo>
                <a:lnTo>
                  <a:pt x="29" y="13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67" name="Rectangle 48"/>
          <p:cNvSpPr>
            <a:spLocks noChangeArrowheads="1"/>
          </p:cNvSpPr>
          <p:nvPr/>
        </p:nvSpPr>
        <p:spPr bwMode="auto">
          <a:xfrm>
            <a:off x="3048000" y="2971800"/>
            <a:ext cx="2574925" cy="238125"/>
          </a:xfrm>
          <a:prstGeom prst="rect">
            <a:avLst/>
          </a:prstGeom>
          <a:noFill/>
          <a:ln w="15875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68" name="Rectangle 49"/>
          <p:cNvSpPr>
            <a:spLocks noChangeArrowheads="1"/>
          </p:cNvSpPr>
          <p:nvPr/>
        </p:nvSpPr>
        <p:spPr bwMode="auto">
          <a:xfrm>
            <a:off x="3048000" y="3575050"/>
            <a:ext cx="2574925" cy="239713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69" name="Rectangle 50"/>
          <p:cNvSpPr>
            <a:spLocks noChangeArrowheads="1"/>
          </p:cNvSpPr>
          <p:nvPr/>
        </p:nvSpPr>
        <p:spPr bwMode="auto">
          <a:xfrm>
            <a:off x="3048000" y="4052888"/>
            <a:ext cx="2574925" cy="23812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Rotate</a:t>
            </a:r>
          </a:p>
        </p:txBody>
      </p:sp>
      <p:grpSp>
        <p:nvGrpSpPr>
          <p:cNvPr id="186371" name="Group 185"/>
          <p:cNvGrpSpPr>
            <a:grpSpLocks/>
          </p:cNvGrpSpPr>
          <p:nvPr/>
        </p:nvGrpSpPr>
        <p:grpSpPr bwMode="auto">
          <a:xfrm>
            <a:off x="2911475" y="282575"/>
            <a:ext cx="4075113" cy="6423025"/>
            <a:chOff x="1834" y="0"/>
            <a:chExt cx="2567" cy="4726"/>
          </a:xfrm>
        </p:grpSpPr>
        <p:sp>
          <p:nvSpPr>
            <p:cNvPr id="186372" name="Rectangle 4"/>
            <p:cNvSpPr>
              <a:spLocks noChangeArrowheads="1"/>
            </p:cNvSpPr>
            <p:nvPr/>
          </p:nvSpPr>
          <p:spPr bwMode="auto">
            <a:xfrm>
              <a:off x="2624" y="4602"/>
              <a:ext cx="1269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1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Figure 2.32.  Rotate instructions.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73" name="Rectangle 5"/>
            <p:cNvSpPr>
              <a:spLocks noChangeArrowheads="1"/>
            </p:cNvSpPr>
            <p:nvPr/>
          </p:nvSpPr>
          <p:spPr bwMode="auto">
            <a:xfrm>
              <a:off x="4092" y="2387"/>
              <a:ext cx="138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374" name="Rectangle 6"/>
            <p:cNvSpPr>
              <a:spLocks noChangeArrowheads="1"/>
            </p:cNvSpPr>
            <p:nvPr/>
          </p:nvSpPr>
          <p:spPr bwMode="auto">
            <a:xfrm>
              <a:off x="4092" y="2902"/>
              <a:ext cx="138" cy="137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375" name="Rectangle 7"/>
            <p:cNvSpPr>
              <a:spLocks noChangeArrowheads="1"/>
            </p:cNvSpPr>
            <p:nvPr/>
          </p:nvSpPr>
          <p:spPr bwMode="auto">
            <a:xfrm>
              <a:off x="4092" y="2670"/>
              <a:ext cx="138" cy="129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376" name="Freeform 8"/>
            <p:cNvSpPr>
              <a:spLocks/>
            </p:cNvSpPr>
            <p:nvPr/>
          </p:nvSpPr>
          <p:spPr bwMode="auto">
            <a:xfrm>
              <a:off x="4041" y="2447"/>
              <a:ext cx="51" cy="17"/>
            </a:xfrm>
            <a:custGeom>
              <a:avLst/>
              <a:gdLst>
                <a:gd name="T0" fmla="*/ 0 w 6"/>
                <a:gd name="T1" fmla="*/ 2 h 2"/>
                <a:gd name="T2" fmla="*/ 6 w 6"/>
                <a:gd name="T3" fmla="*/ 1 h 2"/>
                <a:gd name="T4" fmla="*/ 0 w 6"/>
                <a:gd name="T5" fmla="*/ 0 h 2"/>
                <a:gd name="T6" fmla="*/ 0 w 6"/>
                <a:gd name="T7" fmla="*/ 1 h 2"/>
                <a:gd name="T8" fmla="*/ 0 w 6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2"/>
                <a:gd name="T17" fmla="*/ 6 w 6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2">
                  <a:moveTo>
                    <a:pt x="0" y="2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377" name="Freeform 9"/>
            <p:cNvSpPr>
              <a:spLocks/>
            </p:cNvSpPr>
            <p:nvPr/>
          </p:nvSpPr>
          <p:spPr bwMode="auto">
            <a:xfrm>
              <a:off x="4041" y="2447"/>
              <a:ext cx="51" cy="17"/>
            </a:xfrm>
            <a:custGeom>
              <a:avLst/>
              <a:gdLst>
                <a:gd name="T0" fmla="*/ 0 w 51"/>
                <a:gd name="T1" fmla="*/ 17 h 17"/>
                <a:gd name="T2" fmla="*/ 51 w 51"/>
                <a:gd name="T3" fmla="*/ 8 h 17"/>
                <a:gd name="T4" fmla="*/ 0 w 51"/>
                <a:gd name="T5" fmla="*/ 0 h 17"/>
                <a:gd name="T6" fmla="*/ 0 w 51"/>
                <a:gd name="T7" fmla="*/ 8 h 17"/>
                <a:gd name="T8" fmla="*/ 0 w 51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17"/>
                <a:gd name="T17" fmla="*/ 51 w 51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17">
                  <a:moveTo>
                    <a:pt x="0" y="17"/>
                  </a:moveTo>
                  <a:lnTo>
                    <a:pt x="51" y="8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378" name="Line 10"/>
            <p:cNvSpPr>
              <a:spLocks noChangeShapeType="1"/>
            </p:cNvSpPr>
            <p:nvPr/>
          </p:nvSpPr>
          <p:spPr bwMode="auto">
            <a:xfrm flipH="1">
              <a:off x="3895" y="2455"/>
              <a:ext cx="13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379" name="Rectangle 11"/>
            <p:cNvSpPr>
              <a:spLocks noChangeArrowheads="1"/>
            </p:cNvSpPr>
            <p:nvPr/>
          </p:nvSpPr>
          <p:spPr bwMode="auto">
            <a:xfrm>
              <a:off x="4135" y="2404"/>
              <a:ext cx="58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C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0" name="Rectangle 12"/>
            <p:cNvSpPr>
              <a:spLocks noChangeArrowheads="1"/>
            </p:cNvSpPr>
            <p:nvPr/>
          </p:nvSpPr>
          <p:spPr bwMode="auto">
            <a:xfrm>
              <a:off x="3148" y="2404"/>
              <a:ext cx="102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1" name="Rectangle 13"/>
            <p:cNvSpPr>
              <a:spLocks noChangeArrowheads="1"/>
            </p:cNvSpPr>
            <p:nvPr/>
          </p:nvSpPr>
          <p:spPr bwMode="auto">
            <a:xfrm>
              <a:off x="2092" y="2687"/>
              <a:ext cx="247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before: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2" name="Rectangle 14"/>
            <p:cNvSpPr>
              <a:spLocks noChangeArrowheads="1"/>
            </p:cNvSpPr>
            <p:nvPr/>
          </p:nvSpPr>
          <p:spPr bwMode="auto">
            <a:xfrm>
              <a:off x="2143" y="2919"/>
              <a:ext cx="181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after: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3" name="Rectangle 15"/>
            <p:cNvSpPr>
              <a:spLocks noChangeArrowheads="1"/>
            </p:cNvSpPr>
            <p:nvPr/>
          </p:nvSpPr>
          <p:spPr bwMode="auto">
            <a:xfrm>
              <a:off x="4144" y="267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4" name="Rectangle 16"/>
            <p:cNvSpPr>
              <a:spLocks noChangeArrowheads="1"/>
            </p:cNvSpPr>
            <p:nvPr/>
          </p:nvSpPr>
          <p:spPr bwMode="auto">
            <a:xfrm>
              <a:off x="4135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5" name="Rectangle 17"/>
            <p:cNvSpPr>
              <a:spLocks noChangeArrowheads="1"/>
            </p:cNvSpPr>
            <p:nvPr/>
          </p:nvSpPr>
          <p:spPr bwMode="auto">
            <a:xfrm>
              <a:off x="2555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6" name="Rectangle 18"/>
            <p:cNvSpPr>
              <a:spLocks noChangeArrowheads="1"/>
            </p:cNvSpPr>
            <p:nvPr/>
          </p:nvSpPr>
          <p:spPr bwMode="auto">
            <a:xfrm>
              <a:off x="3053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7" name="Rectangle 19"/>
            <p:cNvSpPr>
              <a:spLocks noChangeArrowheads="1"/>
            </p:cNvSpPr>
            <p:nvPr/>
          </p:nvSpPr>
          <p:spPr bwMode="auto">
            <a:xfrm>
              <a:off x="3551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8" name="Rectangle 20"/>
            <p:cNvSpPr>
              <a:spLocks noChangeArrowheads="1"/>
            </p:cNvSpPr>
            <p:nvPr/>
          </p:nvSpPr>
          <p:spPr bwMode="auto">
            <a:xfrm>
              <a:off x="2675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89" name="Rectangle 21"/>
            <p:cNvSpPr>
              <a:spLocks noChangeArrowheads="1"/>
            </p:cNvSpPr>
            <p:nvPr/>
          </p:nvSpPr>
          <p:spPr bwMode="auto">
            <a:xfrm>
              <a:off x="2804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0" name="Rectangle 22"/>
            <p:cNvSpPr>
              <a:spLocks noChangeArrowheads="1"/>
            </p:cNvSpPr>
            <p:nvPr/>
          </p:nvSpPr>
          <p:spPr bwMode="auto">
            <a:xfrm>
              <a:off x="2925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1" name="Rectangle 23"/>
            <p:cNvSpPr>
              <a:spLocks noChangeArrowheads="1"/>
            </p:cNvSpPr>
            <p:nvPr/>
          </p:nvSpPr>
          <p:spPr bwMode="auto">
            <a:xfrm>
              <a:off x="3182" y="2636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2" name="Rectangle 24"/>
            <p:cNvSpPr>
              <a:spLocks noChangeArrowheads="1"/>
            </p:cNvSpPr>
            <p:nvPr/>
          </p:nvSpPr>
          <p:spPr bwMode="auto">
            <a:xfrm>
              <a:off x="3302" y="2636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3" name="Rectangle 25"/>
            <p:cNvSpPr>
              <a:spLocks noChangeArrowheads="1"/>
            </p:cNvSpPr>
            <p:nvPr/>
          </p:nvSpPr>
          <p:spPr bwMode="auto">
            <a:xfrm>
              <a:off x="3431" y="2636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4" name="Rectangle 26"/>
            <p:cNvSpPr>
              <a:spLocks noChangeArrowheads="1"/>
            </p:cNvSpPr>
            <p:nvPr/>
          </p:nvSpPr>
          <p:spPr bwMode="auto">
            <a:xfrm>
              <a:off x="3800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5" name="Rectangle 27"/>
            <p:cNvSpPr>
              <a:spLocks noChangeArrowheads="1"/>
            </p:cNvSpPr>
            <p:nvPr/>
          </p:nvSpPr>
          <p:spPr bwMode="auto">
            <a:xfrm>
              <a:off x="3672" y="2687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6" name="Rectangle 28"/>
            <p:cNvSpPr>
              <a:spLocks noChangeArrowheads="1"/>
            </p:cNvSpPr>
            <p:nvPr/>
          </p:nvSpPr>
          <p:spPr bwMode="auto">
            <a:xfrm>
              <a:off x="2555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7" name="Rectangle 29"/>
            <p:cNvSpPr>
              <a:spLocks noChangeArrowheads="1"/>
            </p:cNvSpPr>
            <p:nvPr/>
          </p:nvSpPr>
          <p:spPr bwMode="auto">
            <a:xfrm>
              <a:off x="2804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8" name="Rectangle 30"/>
            <p:cNvSpPr>
              <a:spLocks noChangeArrowheads="1"/>
            </p:cNvSpPr>
            <p:nvPr/>
          </p:nvSpPr>
          <p:spPr bwMode="auto">
            <a:xfrm>
              <a:off x="2925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399" name="Rectangle 31"/>
            <p:cNvSpPr>
              <a:spLocks noChangeArrowheads="1"/>
            </p:cNvSpPr>
            <p:nvPr/>
          </p:nvSpPr>
          <p:spPr bwMode="auto">
            <a:xfrm>
              <a:off x="3053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0" name="Rectangle 32"/>
            <p:cNvSpPr>
              <a:spLocks noChangeArrowheads="1"/>
            </p:cNvSpPr>
            <p:nvPr/>
          </p:nvSpPr>
          <p:spPr bwMode="auto">
            <a:xfrm>
              <a:off x="3174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1" name="Rectangle 33"/>
            <p:cNvSpPr>
              <a:spLocks noChangeArrowheads="1"/>
            </p:cNvSpPr>
            <p:nvPr/>
          </p:nvSpPr>
          <p:spPr bwMode="auto">
            <a:xfrm>
              <a:off x="3800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2" name="Rectangle 34"/>
            <p:cNvSpPr>
              <a:spLocks noChangeArrowheads="1"/>
            </p:cNvSpPr>
            <p:nvPr/>
          </p:nvSpPr>
          <p:spPr bwMode="auto">
            <a:xfrm>
              <a:off x="3302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3" name="Rectangle 35"/>
            <p:cNvSpPr>
              <a:spLocks noChangeArrowheads="1"/>
            </p:cNvSpPr>
            <p:nvPr/>
          </p:nvSpPr>
          <p:spPr bwMode="auto">
            <a:xfrm>
              <a:off x="2675" y="2919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4" name="Rectangle 36"/>
            <p:cNvSpPr>
              <a:spLocks noChangeArrowheads="1"/>
            </p:cNvSpPr>
            <p:nvPr/>
          </p:nvSpPr>
          <p:spPr bwMode="auto">
            <a:xfrm>
              <a:off x="2135" y="3143"/>
              <a:ext cx="399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(c) Rotate r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5" name="Rectangle 37"/>
            <p:cNvSpPr>
              <a:spLocks noChangeArrowheads="1"/>
            </p:cNvSpPr>
            <p:nvPr/>
          </p:nvSpPr>
          <p:spPr bwMode="auto">
            <a:xfrm>
              <a:off x="2497" y="3143"/>
              <a:ext cx="562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ight without carr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6" name="Rectangle 38"/>
            <p:cNvSpPr>
              <a:spLocks noChangeArrowheads="1"/>
            </p:cNvSpPr>
            <p:nvPr/>
          </p:nvSpPr>
          <p:spPr bwMode="auto">
            <a:xfrm>
              <a:off x="3034" y="3143"/>
              <a:ext cx="4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y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7" name="Rectangle 39"/>
            <p:cNvSpPr>
              <a:spLocks noChangeArrowheads="1"/>
            </p:cNvSpPr>
            <p:nvPr/>
          </p:nvSpPr>
          <p:spPr bwMode="auto">
            <a:xfrm>
              <a:off x="3474" y="3143"/>
              <a:ext cx="57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RotateR   #2,R0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8" name="Rectangle 40"/>
            <p:cNvSpPr>
              <a:spLocks noChangeArrowheads="1"/>
            </p:cNvSpPr>
            <p:nvPr/>
          </p:nvSpPr>
          <p:spPr bwMode="auto">
            <a:xfrm>
              <a:off x="2135" y="858"/>
              <a:ext cx="916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(a) Rotate left without carr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09" name="Rectangle 41"/>
            <p:cNvSpPr>
              <a:spLocks noChangeArrowheads="1"/>
            </p:cNvSpPr>
            <p:nvPr/>
          </p:nvSpPr>
          <p:spPr bwMode="auto">
            <a:xfrm>
              <a:off x="2995" y="858"/>
              <a:ext cx="40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y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10" name="Rectangle 42"/>
            <p:cNvSpPr>
              <a:spLocks noChangeArrowheads="1"/>
            </p:cNvSpPr>
            <p:nvPr/>
          </p:nvSpPr>
          <p:spPr bwMode="auto">
            <a:xfrm>
              <a:off x="3474" y="858"/>
              <a:ext cx="57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RotateL    #2,R0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11" name="Freeform 43"/>
            <p:cNvSpPr>
              <a:spLocks/>
            </p:cNvSpPr>
            <p:nvPr/>
          </p:nvSpPr>
          <p:spPr bwMode="auto">
            <a:xfrm>
              <a:off x="2281" y="154"/>
              <a:ext cx="51" cy="26"/>
            </a:xfrm>
            <a:custGeom>
              <a:avLst/>
              <a:gdLst>
                <a:gd name="T0" fmla="*/ 6 w 6"/>
                <a:gd name="T1" fmla="*/ 0 h 3"/>
                <a:gd name="T2" fmla="*/ 0 w 6"/>
                <a:gd name="T3" fmla="*/ 2 h 3"/>
                <a:gd name="T4" fmla="*/ 6 w 6"/>
                <a:gd name="T5" fmla="*/ 3 h 3"/>
                <a:gd name="T6" fmla="*/ 6 w 6"/>
                <a:gd name="T7" fmla="*/ 2 h 3"/>
                <a:gd name="T8" fmla="*/ 6 w 6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"/>
                <a:gd name="T17" fmla="*/ 6 w 6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">
                  <a:moveTo>
                    <a:pt x="6" y="0"/>
                  </a:moveTo>
                  <a:lnTo>
                    <a:pt x="0" y="2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2" name="Freeform 44"/>
            <p:cNvSpPr>
              <a:spLocks/>
            </p:cNvSpPr>
            <p:nvPr/>
          </p:nvSpPr>
          <p:spPr bwMode="auto">
            <a:xfrm>
              <a:off x="2281" y="154"/>
              <a:ext cx="51" cy="26"/>
            </a:xfrm>
            <a:custGeom>
              <a:avLst/>
              <a:gdLst>
                <a:gd name="T0" fmla="*/ 51 w 51"/>
                <a:gd name="T1" fmla="*/ 0 h 26"/>
                <a:gd name="T2" fmla="*/ 0 w 51"/>
                <a:gd name="T3" fmla="*/ 17 h 26"/>
                <a:gd name="T4" fmla="*/ 51 w 51"/>
                <a:gd name="T5" fmla="*/ 26 h 26"/>
                <a:gd name="T6" fmla="*/ 51 w 51"/>
                <a:gd name="T7" fmla="*/ 17 h 26"/>
                <a:gd name="T8" fmla="*/ 51 w 51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26"/>
                <a:gd name="T17" fmla="*/ 51 w 51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26">
                  <a:moveTo>
                    <a:pt x="51" y="0"/>
                  </a:moveTo>
                  <a:lnTo>
                    <a:pt x="0" y="17"/>
                  </a:lnTo>
                  <a:lnTo>
                    <a:pt x="51" y="26"/>
                  </a:lnTo>
                  <a:lnTo>
                    <a:pt x="51" y="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3" name="Line 45"/>
            <p:cNvSpPr>
              <a:spLocks noChangeShapeType="1"/>
            </p:cNvSpPr>
            <p:nvPr/>
          </p:nvSpPr>
          <p:spPr bwMode="auto">
            <a:xfrm>
              <a:off x="2332" y="171"/>
              <a:ext cx="16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4" name="Rectangle 46"/>
            <p:cNvSpPr>
              <a:spLocks noChangeArrowheads="1"/>
            </p:cNvSpPr>
            <p:nvPr/>
          </p:nvSpPr>
          <p:spPr bwMode="auto">
            <a:xfrm>
              <a:off x="2135" y="103"/>
              <a:ext cx="137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5" name="Rectangle 47"/>
            <p:cNvSpPr>
              <a:spLocks noChangeArrowheads="1"/>
            </p:cNvSpPr>
            <p:nvPr/>
          </p:nvSpPr>
          <p:spPr bwMode="auto">
            <a:xfrm>
              <a:off x="2135" y="609"/>
              <a:ext cx="137" cy="138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6" name="Rectangle 48"/>
            <p:cNvSpPr>
              <a:spLocks noChangeArrowheads="1"/>
            </p:cNvSpPr>
            <p:nvPr/>
          </p:nvSpPr>
          <p:spPr bwMode="auto">
            <a:xfrm>
              <a:off x="2135" y="377"/>
              <a:ext cx="137" cy="138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7" name="Freeform 49"/>
            <p:cNvSpPr>
              <a:spLocks/>
            </p:cNvSpPr>
            <p:nvPr/>
          </p:nvSpPr>
          <p:spPr bwMode="auto">
            <a:xfrm>
              <a:off x="1963" y="163"/>
              <a:ext cx="51" cy="17"/>
            </a:xfrm>
            <a:custGeom>
              <a:avLst/>
              <a:gdLst>
                <a:gd name="T0" fmla="*/ 6 w 6"/>
                <a:gd name="T1" fmla="*/ 0 h 2"/>
                <a:gd name="T2" fmla="*/ 0 w 6"/>
                <a:gd name="T3" fmla="*/ 1 h 2"/>
                <a:gd name="T4" fmla="*/ 6 w 6"/>
                <a:gd name="T5" fmla="*/ 2 h 2"/>
                <a:gd name="T6" fmla="*/ 6 w 6"/>
                <a:gd name="T7" fmla="*/ 1 h 2"/>
                <a:gd name="T8" fmla="*/ 6 w 6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2"/>
                <a:gd name="T17" fmla="*/ 6 w 6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2">
                  <a:moveTo>
                    <a:pt x="6" y="0"/>
                  </a:moveTo>
                  <a:lnTo>
                    <a:pt x="0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8" name="Freeform 50"/>
            <p:cNvSpPr>
              <a:spLocks/>
            </p:cNvSpPr>
            <p:nvPr/>
          </p:nvSpPr>
          <p:spPr bwMode="auto">
            <a:xfrm>
              <a:off x="1963" y="163"/>
              <a:ext cx="51" cy="17"/>
            </a:xfrm>
            <a:custGeom>
              <a:avLst/>
              <a:gdLst>
                <a:gd name="T0" fmla="*/ 51 w 51"/>
                <a:gd name="T1" fmla="*/ 0 h 17"/>
                <a:gd name="T2" fmla="*/ 0 w 51"/>
                <a:gd name="T3" fmla="*/ 8 h 17"/>
                <a:gd name="T4" fmla="*/ 51 w 51"/>
                <a:gd name="T5" fmla="*/ 17 h 17"/>
                <a:gd name="T6" fmla="*/ 51 w 51"/>
                <a:gd name="T7" fmla="*/ 8 h 17"/>
                <a:gd name="T8" fmla="*/ 51 w 51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17"/>
                <a:gd name="T17" fmla="*/ 51 w 51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17">
                  <a:moveTo>
                    <a:pt x="51" y="0"/>
                  </a:moveTo>
                  <a:lnTo>
                    <a:pt x="0" y="8"/>
                  </a:lnTo>
                  <a:lnTo>
                    <a:pt x="51" y="17"/>
                  </a:lnTo>
                  <a:lnTo>
                    <a:pt x="51" y="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19" name="Line 51"/>
            <p:cNvSpPr>
              <a:spLocks noChangeShapeType="1"/>
            </p:cNvSpPr>
            <p:nvPr/>
          </p:nvSpPr>
          <p:spPr bwMode="auto">
            <a:xfrm>
              <a:off x="2014" y="171"/>
              <a:ext cx="12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20" name="Rectangle 52"/>
            <p:cNvSpPr>
              <a:spLocks noChangeArrowheads="1"/>
            </p:cNvSpPr>
            <p:nvPr/>
          </p:nvSpPr>
          <p:spPr bwMode="auto">
            <a:xfrm>
              <a:off x="2177" y="120"/>
              <a:ext cx="58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C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1" name="Rectangle 53"/>
            <p:cNvSpPr>
              <a:spLocks noChangeArrowheads="1"/>
            </p:cNvSpPr>
            <p:nvPr/>
          </p:nvSpPr>
          <p:spPr bwMode="auto">
            <a:xfrm>
              <a:off x="3122" y="120"/>
              <a:ext cx="102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2" name="Rectangle 54"/>
            <p:cNvSpPr>
              <a:spLocks noChangeArrowheads="1"/>
            </p:cNvSpPr>
            <p:nvPr/>
          </p:nvSpPr>
          <p:spPr bwMode="auto">
            <a:xfrm>
              <a:off x="1834" y="385"/>
              <a:ext cx="247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before: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3" name="Rectangle 55"/>
            <p:cNvSpPr>
              <a:spLocks noChangeArrowheads="1"/>
            </p:cNvSpPr>
            <p:nvPr/>
          </p:nvSpPr>
          <p:spPr bwMode="auto">
            <a:xfrm>
              <a:off x="1886" y="627"/>
              <a:ext cx="181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after: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4" name="Rectangle 56"/>
            <p:cNvSpPr>
              <a:spLocks noChangeArrowheads="1"/>
            </p:cNvSpPr>
            <p:nvPr/>
          </p:nvSpPr>
          <p:spPr bwMode="auto">
            <a:xfrm>
              <a:off x="2186" y="395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5" name="Rectangle 57"/>
            <p:cNvSpPr>
              <a:spLocks noChangeArrowheads="1"/>
            </p:cNvSpPr>
            <p:nvPr/>
          </p:nvSpPr>
          <p:spPr bwMode="auto">
            <a:xfrm>
              <a:off x="2186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6" name="Rectangle 58"/>
            <p:cNvSpPr>
              <a:spLocks noChangeArrowheads="1"/>
            </p:cNvSpPr>
            <p:nvPr/>
          </p:nvSpPr>
          <p:spPr bwMode="auto">
            <a:xfrm>
              <a:off x="2555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7" name="Rectangle 59"/>
            <p:cNvSpPr>
              <a:spLocks noChangeArrowheads="1"/>
            </p:cNvSpPr>
            <p:nvPr/>
          </p:nvSpPr>
          <p:spPr bwMode="auto">
            <a:xfrm>
              <a:off x="3053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8" name="Rectangle 60"/>
            <p:cNvSpPr>
              <a:spLocks noChangeArrowheads="1"/>
            </p:cNvSpPr>
            <p:nvPr/>
          </p:nvSpPr>
          <p:spPr bwMode="auto">
            <a:xfrm>
              <a:off x="3543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29" name="Rectangle 61"/>
            <p:cNvSpPr>
              <a:spLocks noChangeArrowheads="1"/>
            </p:cNvSpPr>
            <p:nvPr/>
          </p:nvSpPr>
          <p:spPr bwMode="auto">
            <a:xfrm>
              <a:off x="2675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0" name="Rectangle 62"/>
            <p:cNvSpPr>
              <a:spLocks noChangeArrowheads="1"/>
            </p:cNvSpPr>
            <p:nvPr/>
          </p:nvSpPr>
          <p:spPr bwMode="auto">
            <a:xfrm>
              <a:off x="2804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1" name="Rectangle 63"/>
            <p:cNvSpPr>
              <a:spLocks noChangeArrowheads="1"/>
            </p:cNvSpPr>
            <p:nvPr/>
          </p:nvSpPr>
          <p:spPr bwMode="auto">
            <a:xfrm>
              <a:off x="2925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2" name="Rectangle 64"/>
            <p:cNvSpPr>
              <a:spLocks noChangeArrowheads="1"/>
            </p:cNvSpPr>
            <p:nvPr/>
          </p:nvSpPr>
          <p:spPr bwMode="auto">
            <a:xfrm>
              <a:off x="3182" y="343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3" name="Rectangle 65"/>
            <p:cNvSpPr>
              <a:spLocks noChangeArrowheads="1"/>
            </p:cNvSpPr>
            <p:nvPr/>
          </p:nvSpPr>
          <p:spPr bwMode="auto">
            <a:xfrm>
              <a:off x="3302" y="343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4" name="Rectangle 66"/>
            <p:cNvSpPr>
              <a:spLocks noChangeArrowheads="1"/>
            </p:cNvSpPr>
            <p:nvPr/>
          </p:nvSpPr>
          <p:spPr bwMode="auto">
            <a:xfrm>
              <a:off x="3431" y="343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5" name="Rectangle 67"/>
            <p:cNvSpPr>
              <a:spLocks noChangeArrowheads="1"/>
            </p:cNvSpPr>
            <p:nvPr/>
          </p:nvSpPr>
          <p:spPr bwMode="auto">
            <a:xfrm>
              <a:off x="3792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6" name="Rectangle 68"/>
            <p:cNvSpPr>
              <a:spLocks noChangeArrowheads="1"/>
            </p:cNvSpPr>
            <p:nvPr/>
          </p:nvSpPr>
          <p:spPr bwMode="auto">
            <a:xfrm>
              <a:off x="3672" y="38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7" name="Rectangle 69"/>
            <p:cNvSpPr>
              <a:spLocks noChangeArrowheads="1"/>
            </p:cNvSpPr>
            <p:nvPr/>
          </p:nvSpPr>
          <p:spPr bwMode="auto">
            <a:xfrm>
              <a:off x="2555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8" name="Rectangle 70"/>
            <p:cNvSpPr>
              <a:spLocks noChangeArrowheads="1"/>
            </p:cNvSpPr>
            <p:nvPr/>
          </p:nvSpPr>
          <p:spPr bwMode="auto">
            <a:xfrm>
              <a:off x="3543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39" name="Rectangle 71"/>
            <p:cNvSpPr>
              <a:spLocks noChangeArrowheads="1"/>
            </p:cNvSpPr>
            <p:nvPr/>
          </p:nvSpPr>
          <p:spPr bwMode="auto">
            <a:xfrm>
              <a:off x="2804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0" name="Rectangle 72"/>
            <p:cNvSpPr>
              <a:spLocks noChangeArrowheads="1"/>
            </p:cNvSpPr>
            <p:nvPr/>
          </p:nvSpPr>
          <p:spPr bwMode="auto">
            <a:xfrm>
              <a:off x="2933" y="58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1" name="Rectangle 73"/>
            <p:cNvSpPr>
              <a:spLocks noChangeArrowheads="1"/>
            </p:cNvSpPr>
            <p:nvPr/>
          </p:nvSpPr>
          <p:spPr bwMode="auto">
            <a:xfrm>
              <a:off x="3053" y="58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2" name="Rectangle 74"/>
            <p:cNvSpPr>
              <a:spLocks noChangeArrowheads="1"/>
            </p:cNvSpPr>
            <p:nvPr/>
          </p:nvSpPr>
          <p:spPr bwMode="auto">
            <a:xfrm>
              <a:off x="3182" y="58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3" name="Rectangle 75"/>
            <p:cNvSpPr>
              <a:spLocks noChangeArrowheads="1"/>
            </p:cNvSpPr>
            <p:nvPr/>
          </p:nvSpPr>
          <p:spPr bwMode="auto">
            <a:xfrm>
              <a:off x="3792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4" name="Rectangle 76"/>
            <p:cNvSpPr>
              <a:spLocks noChangeArrowheads="1"/>
            </p:cNvSpPr>
            <p:nvPr/>
          </p:nvSpPr>
          <p:spPr bwMode="auto">
            <a:xfrm>
              <a:off x="3672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5" name="Rectangle 77"/>
            <p:cNvSpPr>
              <a:spLocks noChangeArrowheads="1"/>
            </p:cNvSpPr>
            <p:nvPr/>
          </p:nvSpPr>
          <p:spPr bwMode="auto">
            <a:xfrm>
              <a:off x="3423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6" name="Rectangle 78"/>
            <p:cNvSpPr>
              <a:spLocks noChangeArrowheads="1"/>
            </p:cNvSpPr>
            <p:nvPr/>
          </p:nvSpPr>
          <p:spPr bwMode="auto">
            <a:xfrm>
              <a:off x="3294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7" name="Rectangle 79"/>
            <p:cNvSpPr>
              <a:spLocks noChangeArrowheads="1"/>
            </p:cNvSpPr>
            <p:nvPr/>
          </p:nvSpPr>
          <p:spPr bwMode="auto">
            <a:xfrm>
              <a:off x="2675" y="627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48" name="Rectangle 80"/>
            <p:cNvSpPr>
              <a:spLocks noChangeArrowheads="1"/>
            </p:cNvSpPr>
            <p:nvPr/>
          </p:nvSpPr>
          <p:spPr bwMode="auto">
            <a:xfrm>
              <a:off x="2504" y="4095"/>
              <a:ext cx="1391" cy="138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49" name="Rectangle 81"/>
            <p:cNvSpPr>
              <a:spLocks noChangeArrowheads="1"/>
            </p:cNvSpPr>
            <p:nvPr/>
          </p:nvSpPr>
          <p:spPr bwMode="auto">
            <a:xfrm>
              <a:off x="4092" y="4095"/>
              <a:ext cx="138" cy="129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50" name="Rectangle 82"/>
            <p:cNvSpPr>
              <a:spLocks noChangeArrowheads="1"/>
            </p:cNvSpPr>
            <p:nvPr/>
          </p:nvSpPr>
          <p:spPr bwMode="auto">
            <a:xfrm>
              <a:off x="4092" y="3838"/>
              <a:ext cx="138" cy="137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51" name="Rectangle 83"/>
            <p:cNvSpPr>
              <a:spLocks noChangeArrowheads="1"/>
            </p:cNvSpPr>
            <p:nvPr/>
          </p:nvSpPr>
          <p:spPr bwMode="auto">
            <a:xfrm>
              <a:off x="4135" y="3563"/>
              <a:ext cx="5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C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2" name="Rectangle 84"/>
            <p:cNvSpPr>
              <a:spLocks noChangeArrowheads="1"/>
            </p:cNvSpPr>
            <p:nvPr/>
          </p:nvSpPr>
          <p:spPr bwMode="auto">
            <a:xfrm>
              <a:off x="2092" y="3864"/>
              <a:ext cx="247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before: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3" name="Rectangle 85"/>
            <p:cNvSpPr>
              <a:spLocks noChangeArrowheads="1"/>
            </p:cNvSpPr>
            <p:nvPr/>
          </p:nvSpPr>
          <p:spPr bwMode="auto">
            <a:xfrm>
              <a:off x="2143" y="4114"/>
              <a:ext cx="181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after: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4" name="Rectangle 86"/>
            <p:cNvSpPr>
              <a:spLocks noChangeArrowheads="1"/>
            </p:cNvSpPr>
            <p:nvPr/>
          </p:nvSpPr>
          <p:spPr bwMode="auto">
            <a:xfrm>
              <a:off x="4144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5" name="Rectangle 87"/>
            <p:cNvSpPr>
              <a:spLocks noChangeArrowheads="1"/>
            </p:cNvSpPr>
            <p:nvPr/>
          </p:nvSpPr>
          <p:spPr bwMode="auto">
            <a:xfrm>
              <a:off x="4144" y="410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6" name="Rectangle 88"/>
            <p:cNvSpPr>
              <a:spLocks noChangeArrowheads="1"/>
            </p:cNvSpPr>
            <p:nvPr/>
          </p:nvSpPr>
          <p:spPr bwMode="auto">
            <a:xfrm>
              <a:off x="2555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7" name="Rectangle 89"/>
            <p:cNvSpPr>
              <a:spLocks noChangeArrowheads="1"/>
            </p:cNvSpPr>
            <p:nvPr/>
          </p:nvSpPr>
          <p:spPr bwMode="auto">
            <a:xfrm>
              <a:off x="3053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8" name="Rectangle 90"/>
            <p:cNvSpPr>
              <a:spLocks noChangeArrowheads="1"/>
            </p:cNvSpPr>
            <p:nvPr/>
          </p:nvSpPr>
          <p:spPr bwMode="auto">
            <a:xfrm>
              <a:off x="3551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59" name="Rectangle 91"/>
            <p:cNvSpPr>
              <a:spLocks noChangeArrowheads="1"/>
            </p:cNvSpPr>
            <p:nvPr/>
          </p:nvSpPr>
          <p:spPr bwMode="auto">
            <a:xfrm>
              <a:off x="2675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0" name="Rectangle 92"/>
            <p:cNvSpPr>
              <a:spLocks noChangeArrowheads="1"/>
            </p:cNvSpPr>
            <p:nvPr/>
          </p:nvSpPr>
          <p:spPr bwMode="auto">
            <a:xfrm>
              <a:off x="2804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1" name="Rectangle 93"/>
            <p:cNvSpPr>
              <a:spLocks noChangeArrowheads="1"/>
            </p:cNvSpPr>
            <p:nvPr/>
          </p:nvSpPr>
          <p:spPr bwMode="auto">
            <a:xfrm>
              <a:off x="2925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2" name="Rectangle 94"/>
            <p:cNvSpPr>
              <a:spLocks noChangeArrowheads="1"/>
            </p:cNvSpPr>
            <p:nvPr/>
          </p:nvSpPr>
          <p:spPr bwMode="auto">
            <a:xfrm>
              <a:off x="3182" y="380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3" name="Rectangle 95"/>
            <p:cNvSpPr>
              <a:spLocks noChangeArrowheads="1"/>
            </p:cNvSpPr>
            <p:nvPr/>
          </p:nvSpPr>
          <p:spPr bwMode="auto">
            <a:xfrm>
              <a:off x="3302" y="380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4" name="Rectangle 96"/>
            <p:cNvSpPr>
              <a:spLocks noChangeArrowheads="1"/>
            </p:cNvSpPr>
            <p:nvPr/>
          </p:nvSpPr>
          <p:spPr bwMode="auto">
            <a:xfrm>
              <a:off x="3431" y="380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5" name="Rectangle 97"/>
            <p:cNvSpPr>
              <a:spLocks noChangeArrowheads="1"/>
            </p:cNvSpPr>
            <p:nvPr/>
          </p:nvSpPr>
          <p:spPr bwMode="auto">
            <a:xfrm>
              <a:off x="3800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6" name="Rectangle 98"/>
            <p:cNvSpPr>
              <a:spLocks noChangeArrowheads="1"/>
            </p:cNvSpPr>
            <p:nvPr/>
          </p:nvSpPr>
          <p:spPr bwMode="auto">
            <a:xfrm>
              <a:off x="3672" y="3855"/>
              <a:ext cx="44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7" name="Rectangle 99"/>
            <p:cNvSpPr>
              <a:spLocks noChangeArrowheads="1"/>
            </p:cNvSpPr>
            <p:nvPr/>
          </p:nvSpPr>
          <p:spPr bwMode="auto">
            <a:xfrm>
              <a:off x="2555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8" name="Rectangle 100"/>
            <p:cNvSpPr>
              <a:spLocks noChangeArrowheads="1"/>
            </p:cNvSpPr>
            <p:nvPr/>
          </p:nvSpPr>
          <p:spPr bwMode="auto">
            <a:xfrm>
              <a:off x="2804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69" name="Rectangle 101"/>
            <p:cNvSpPr>
              <a:spLocks noChangeArrowheads="1"/>
            </p:cNvSpPr>
            <p:nvPr/>
          </p:nvSpPr>
          <p:spPr bwMode="auto">
            <a:xfrm>
              <a:off x="2925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0" name="Rectangle 102"/>
            <p:cNvSpPr>
              <a:spLocks noChangeArrowheads="1"/>
            </p:cNvSpPr>
            <p:nvPr/>
          </p:nvSpPr>
          <p:spPr bwMode="auto">
            <a:xfrm>
              <a:off x="3053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1" name="Rectangle 103"/>
            <p:cNvSpPr>
              <a:spLocks noChangeArrowheads="1"/>
            </p:cNvSpPr>
            <p:nvPr/>
          </p:nvSpPr>
          <p:spPr bwMode="auto">
            <a:xfrm>
              <a:off x="3174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2" name="Rectangle 104"/>
            <p:cNvSpPr>
              <a:spLocks noChangeArrowheads="1"/>
            </p:cNvSpPr>
            <p:nvPr/>
          </p:nvSpPr>
          <p:spPr bwMode="auto">
            <a:xfrm>
              <a:off x="3800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3" name="Rectangle 105"/>
            <p:cNvSpPr>
              <a:spLocks noChangeArrowheads="1"/>
            </p:cNvSpPr>
            <p:nvPr/>
          </p:nvSpPr>
          <p:spPr bwMode="auto">
            <a:xfrm>
              <a:off x="3302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4" name="Rectangle 106"/>
            <p:cNvSpPr>
              <a:spLocks noChangeArrowheads="1"/>
            </p:cNvSpPr>
            <p:nvPr/>
          </p:nvSpPr>
          <p:spPr bwMode="auto">
            <a:xfrm>
              <a:off x="2675" y="4114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5" name="Rectangle 107"/>
            <p:cNvSpPr>
              <a:spLocks noChangeArrowheads="1"/>
            </p:cNvSpPr>
            <p:nvPr/>
          </p:nvSpPr>
          <p:spPr bwMode="auto">
            <a:xfrm>
              <a:off x="2143" y="4310"/>
              <a:ext cx="403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(d) Rotate r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6" name="Rectangle 108"/>
            <p:cNvSpPr>
              <a:spLocks noChangeArrowheads="1"/>
            </p:cNvSpPr>
            <p:nvPr/>
          </p:nvSpPr>
          <p:spPr bwMode="auto">
            <a:xfrm>
              <a:off x="2512" y="4310"/>
              <a:ext cx="452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ight with carr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7" name="Rectangle 109"/>
            <p:cNvSpPr>
              <a:spLocks noChangeArrowheads="1"/>
            </p:cNvSpPr>
            <p:nvPr/>
          </p:nvSpPr>
          <p:spPr bwMode="auto">
            <a:xfrm>
              <a:off x="2943" y="4310"/>
              <a:ext cx="4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y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8" name="Rectangle 110"/>
            <p:cNvSpPr>
              <a:spLocks noChangeArrowheads="1"/>
            </p:cNvSpPr>
            <p:nvPr/>
          </p:nvSpPr>
          <p:spPr bwMode="auto">
            <a:xfrm>
              <a:off x="3474" y="4310"/>
              <a:ext cx="628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RotateRC   #2,R0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79" name="Rectangle 111"/>
            <p:cNvSpPr>
              <a:spLocks noChangeArrowheads="1"/>
            </p:cNvSpPr>
            <p:nvPr/>
          </p:nvSpPr>
          <p:spPr bwMode="auto">
            <a:xfrm>
              <a:off x="3122" y="3563"/>
              <a:ext cx="10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0" name="Rectangle 112"/>
            <p:cNvSpPr>
              <a:spLocks noChangeArrowheads="1"/>
            </p:cNvSpPr>
            <p:nvPr/>
          </p:nvSpPr>
          <p:spPr bwMode="auto">
            <a:xfrm>
              <a:off x="3414" y="2868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1" name="Rectangle 113"/>
            <p:cNvSpPr>
              <a:spLocks noChangeArrowheads="1"/>
            </p:cNvSpPr>
            <p:nvPr/>
          </p:nvSpPr>
          <p:spPr bwMode="auto">
            <a:xfrm>
              <a:off x="3534" y="2868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2" name="Rectangle 114"/>
            <p:cNvSpPr>
              <a:spLocks noChangeArrowheads="1"/>
            </p:cNvSpPr>
            <p:nvPr/>
          </p:nvSpPr>
          <p:spPr bwMode="auto">
            <a:xfrm>
              <a:off x="3663" y="2868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3" name="Rectangle 115"/>
            <p:cNvSpPr>
              <a:spLocks noChangeArrowheads="1"/>
            </p:cNvSpPr>
            <p:nvPr/>
          </p:nvSpPr>
          <p:spPr bwMode="auto">
            <a:xfrm>
              <a:off x="3431" y="4070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4" name="Rectangle 116"/>
            <p:cNvSpPr>
              <a:spLocks noChangeArrowheads="1"/>
            </p:cNvSpPr>
            <p:nvPr/>
          </p:nvSpPr>
          <p:spPr bwMode="auto">
            <a:xfrm>
              <a:off x="3560" y="4070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5" name="Rectangle 117"/>
            <p:cNvSpPr>
              <a:spLocks noChangeArrowheads="1"/>
            </p:cNvSpPr>
            <p:nvPr/>
          </p:nvSpPr>
          <p:spPr bwMode="auto">
            <a:xfrm>
              <a:off x="3680" y="4070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6" name="Rectangle 118"/>
            <p:cNvSpPr>
              <a:spLocks noChangeArrowheads="1"/>
            </p:cNvSpPr>
            <p:nvPr/>
          </p:nvSpPr>
          <p:spPr bwMode="auto">
            <a:xfrm>
              <a:off x="2135" y="2001"/>
              <a:ext cx="806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(b) Rotate left with carr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7" name="Rectangle 119"/>
            <p:cNvSpPr>
              <a:spLocks noChangeArrowheads="1"/>
            </p:cNvSpPr>
            <p:nvPr/>
          </p:nvSpPr>
          <p:spPr bwMode="auto">
            <a:xfrm>
              <a:off x="2889" y="2001"/>
              <a:ext cx="4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y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8" name="Rectangle 120"/>
            <p:cNvSpPr>
              <a:spLocks noChangeArrowheads="1"/>
            </p:cNvSpPr>
            <p:nvPr/>
          </p:nvSpPr>
          <p:spPr bwMode="auto">
            <a:xfrm>
              <a:off x="3474" y="2001"/>
              <a:ext cx="61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Sans L" charset="0"/>
                  <a:ea typeface="SimSun" pitchFamily="2" charset="-122"/>
                </a:rPr>
                <a:t>RotateLC   #2,R0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89" name="Freeform 121"/>
            <p:cNvSpPr>
              <a:spLocks/>
            </p:cNvSpPr>
            <p:nvPr/>
          </p:nvSpPr>
          <p:spPr bwMode="auto">
            <a:xfrm>
              <a:off x="2281" y="1296"/>
              <a:ext cx="51" cy="17"/>
            </a:xfrm>
            <a:custGeom>
              <a:avLst/>
              <a:gdLst>
                <a:gd name="T0" fmla="*/ 6 w 6"/>
                <a:gd name="T1" fmla="*/ 0 h 2"/>
                <a:gd name="T2" fmla="*/ 0 w 6"/>
                <a:gd name="T3" fmla="*/ 1 h 2"/>
                <a:gd name="T4" fmla="*/ 6 w 6"/>
                <a:gd name="T5" fmla="*/ 2 h 2"/>
                <a:gd name="T6" fmla="*/ 6 w 6"/>
                <a:gd name="T7" fmla="*/ 1 h 2"/>
                <a:gd name="T8" fmla="*/ 6 w 6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2"/>
                <a:gd name="T17" fmla="*/ 6 w 6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2">
                  <a:moveTo>
                    <a:pt x="6" y="0"/>
                  </a:moveTo>
                  <a:lnTo>
                    <a:pt x="0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90" name="Freeform 122"/>
            <p:cNvSpPr>
              <a:spLocks/>
            </p:cNvSpPr>
            <p:nvPr/>
          </p:nvSpPr>
          <p:spPr bwMode="auto">
            <a:xfrm>
              <a:off x="2281" y="1296"/>
              <a:ext cx="51" cy="17"/>
            </a:xfrm>
            <a:custGeom>
              <a:avLst/>
              <a:gdLst>
                <a:gd name="T0" fmla="*/ 51 w 51"/>
                <a:gd name="T1" fmla="*/ 0 h 17"/>
                <a:gd name="T2" fmla="*/ 0 w 51"/>
                <a:gd name="T3" fmla="*/ 9 h 17"/>
                <a:gd name="T4" fmla="*/ 51 w 51"/>
                <a:gd name="T5" fmla="*/ 17 h 17"/>
                <a:gd name="T6" fmla="*/ 51 w 51"/>
                <a:gd name="T7" fmla="*/ 9 h 17"/>
                <a:gd name="T8" fmla="*/ 51 w 51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17"/>
                <a:gd name="T17" fmla="*/ 51 w 51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17">
                  <a:moveTo>
                    <a:pt x="51" y="0"/>
                  </a:moveTo>
                  <a:lnTo>
                    <a:pt x="0" y="9"/>
                  </a:lnTo>
                  <a:lnTo>
                    <a:pt x="51" y="17"/>
                  </a:lnTo>
                  <a:lnTo>
                    <a:pt x="51" y="9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91" name="Line 123"/>
            <p:cNvSpPr>
              <a:spLocks noChangeShapeType="1"/>
            </p:cNvSpPr>
            <p:nvPr/>
          </p:nvSpPr>
          <p:spPr bwMode="auto">
            <a:xfrm>
              <a:off x="2332" y="1305"/>
              <a:ext cx="16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92" name="Rectangle 124"/>
            <p:cNvSpPr>
              <a:spLocks noChangeArrowheads="1"/>
            </p:cNvSpPr>
            <p:nvPr/>
          </p:nvSpPr>
          <p:spPr bwMode="auto">
            <a:xfrm>
              <a:off x="2135" y="1236"/>
              <a:ext cx="137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93" name="Rectangle 125"/>
            <p:cNvSpPr>
              <a:spLocks noChangeArrowheads="1"/>
            </p:cNvSpPr>
            <p:nvPr/>
          </p:nvSpPr>
          <p:spPr bwMode="auto">
            <a:xfrm>
              <a:off x="2135" y="1760"/>
              <a:ext cx="137" cy="129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94" name="Rectangle 126"/>
            <p:cNvSpPr>
              <a:spLocks noChangeArrowheads="1"/>
            </p:cNvSpPr>
            <p:nvPr/>
          </p:nvSpPr>
          <p:spPr bwMode="auto">
            <a:xfrm>
              <a:off x="2135" y="1519"/>
              <a:ext cx="137" cy="129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95" name="Rectangle 127"/>
            <p:cNvSpPr>
              <a:spLocks noChangeArrowheads="1"/>
            </p:cNvSpPr>
            <p:nvPr/>
          </p:nvSpPr>
          <p:spPr bwMode="auto">
            <a:xfrm>
              <a:off x="2177" y="1254"/>
              <a:ext cx="58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C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96" name="Rectangle 128"/>
            <p:cNvSpPr>
              <a:spLocks noChangeArrowheads="1"/>
            </p:cNvSpPr>
            <p:nvPr/>
          </p:nvSpPr>
          <p:spPr bwMode="auto">
            <a:xfrm>
              <a:off x="3148" y="1254"/>
              <a:ext cx="102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R0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97" name="Rectangle 129"/>
            <p:cNvSpPr>
              <a:spLocks noChangeArrowheads="1"/>
            </p:cNvSpPr>
            <p:nvPr/>
          </p:nvSpPr>
          <p:spPr bwMode="auto">
            <a:xfrm>
              <a:off x="1834" y="1528"/>
              <a:ext cx="247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before: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98" name="Rectangle 130"/>
            <p:cNvSpPr>
              <a:spLocks noChangeArrowheads="1"/>
            </p:cNvSpPr>
            <p:nvPr/>
          </p:nvSpPr>
          <p:spPr bwMode="auto">
            <a:xfrm>
              <a:off x="1886" y="1760"/>
              <a:ext cx="181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after: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499" name="Rectangle 131"/>
            <p:cNvSpPr>
              <a:spLocks noChangeArrowheads="1"/>
            </p:cNvSpPr>
            <p:nvPr/>
          </p:nvSpPr>
          <p:spPr bwMode="auto">
            <a:xfrm>
              <a:off x="2186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0" name="Rectangle 132"/>
            <p:cNvSpPr>
              <a:spLocks noChangeArrowheads="1"/>
            </p:cNvSpPr>
            <p:nvPr/>
          </p:nvSpPr>
          <p:spPr bwMode="auto">
            <a:xfrm>
              <a:off x="2186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1" name="Rectangle 133"/>
            <p:cNvSpPr>
              <a:spLocks noChangeArrowheads="1"/>
            </p:cNvSpPr>
            <p:nvPr/>
          </p:nvSpPr>
          <p:spPr bwMode="auto">
            <a:xfrm>
              <a:off x="2555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2" name="Rectangle 134"/>
            <p:cNvSpPr>
              <a:spLocks noChangeArrowheads="1"/>
            </p:cNvSpPr>
            <p:nvPr/>
          </p:nvSpPr>
          <p:spPr bwMode="auto">
            <a:xfrm>
              <a:off x="3053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3" name="Rectangle 135"/>
            <p:cNvSpPr>
              <a:spLocks noChangeArrowheads="1"/>
            </p:cNvSpPr>
            <p:nvPr/>
          </p:nvSpPr>
          <p:spPr bwMode="auto">
            <a:xfrm>
              <a:off x="3543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4" name="Rectangle 136"/>
            <p:cNvSpPr>
              <a:spLocks noChangeArrowheads="1"/>
            </p:cNvSpPr>
            <p:nvPr/>
          </p:nvSpPr>
          <p:spPr bwMode="auto">
            <a:xfrm>
              <a:off x="2675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5" name="Rectangle 137"/>
            <p:cNvSpPr>
              <a:spLocks noChangeArrowheads="1"/>
            </p:cNvSpPr>
            <p:nvPr/>
          </p:nvSpPr>
          <p:spPr bwMode="auto">
            <a:xfrm>
              <a:off x="2804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6" name="Rectangle 138"/>
            <p:cNvSpPr>
              <a:spLocks noChangeArrowheads="1"/>
            </p:cNvSpPr>
            <p:nvPr/>
          </p:nvSpPr>
          <p:spPr bwMode="auto">
            <a:xfrm>
              <a:off x="2925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7" name="Rectangle 139"/>
            <p:cNvSpPr>
              <a:spLocks noChangeArrowheads="1"/>
            </p:cNvSpPr>
            <p:nvPr/>
          </p:nvSpPr>
          <p:spPr bwMode="auto">
            <a:xfrm>
              <a:off x="3182" y="148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8" name="Rectangle 140"/>
            <p:cNvSpPr>
              <a:spLocks noChangeArrowheads="1"/>
            </p:cNvSpPr>
            <p:nvPr/>
          </p:nvSpPr>
          <p:spPr bwMode="auto">
            <a:xfrm>
              <a:off x="3302" y="148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09" name="Rectangle 141"/>
            <p:cNvSpPr>
              <a:spLocks noChangeArrowheads="1"/>
            </p:cNvSpPr>
            <p:nvPr/>
          </p:nvSpPr>
          <p:spPr bwMode="auto">
            <a:xfrm>
              <a:off x="3431" y="1484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0" name="Rectangle 142"/>
            <p:cNvSpPr>
              <a:spLocks noChangeArrowheads="1"/>
            </p:cNvSpPr>
            <p:nvPr/>
          </p:nvSpPr>
          <p:spPr bwMode="auto">
            <a:xfrm>
              <a:off x="3792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1" name="Rectangle 143"/>
            <p:cNvSpPr>
              <a:spLocks noChangeArrowheads="1"/>
            </p:cNvSpPr>
            <p:nvPr/>
          </p:nvSpPr>
          <p:spPr bwMode="auto">
            <a:xfrm>
              <a:off x="3672" y="1528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2" name="Rectangle 144"/>
            <p:cNvSpPr>
              <a:spLocks noChangeArrowheads="1"/>
            </p:cNvSpPr>
            <p:nvPr/>
          </p:nvSpPr>
          <p:spPr bwMode="auto">
            <a:xfrm>
              <a:off x="2555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3" name="Rectangle 145"/>
            <p:cNvSpPr>
              <a:spLocks noChangeArrowheads="1"/>
            </p:cNvSpPr>
            <p:nvPr/>
          </p:nvSpPr>
          <p:spPr bwMode="auto">
            <a:xfrm>
              <a:off x="3543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4" name="Rectangle 146"/>
            <p:cNvSpPr>
              <a:spLocks noChangeArrowheads="1"/>
            </p:cNvSpPr>
            <p:nvPr/>
          </p:nvSpPr>
          <p:spPr bwMode="auto">
            <a:xfrm>
              <a:off x="2804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5" name="Rectangle 147"/>
            <p:cNvSpPr>
              <a:spLocks noChangeArrowheads="1"/>
            </p:cNvSpPr>
            <p:nvPr/>
          </p:nvSpPr>
          <p:spPr bwMode="auto">
            <a:xfrm>
              <a:off x="2933" y="1717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6" name="Rectangle 148"/>
            <p:cNvSpPr>
              <a:spLocks noChangeArrowheads="1"/>
            </p:cNvSpPr>
            <p:nvPr/>
          </p:nvSpPr>
          <p:spPr bwMode="auto">
            <a:xfrm>
              <a:off x="3053" y="1717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7" name="Rectangle 149"/>
            <p:cNvSpPr>
              <a:spLocks noChangeArrowheads="1"/>
            </p:cNvSpPr>
            <p:nvPr/>
          </p:nvSpPr>
          <p:spPr bwMode="auto">
            <a:xfrm>
              <a:off x="3182" y="1717"/>
              <a:ext cx="2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3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.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8" name="Rectangle 150"/>
            <p:cNvSpPr>
              <a:spLocks noChangeArrowheads="1"/>
            </p:cNvSpPr>
            <p:nvPr/>
          </p:nvSpPr>
          <p:spPr bwMode="auto">
            <a:xfrm>
              <a:off x="3792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19" name="Rectangle 151"/>
            <p:cNvSpPr>
              <a:spLocks noChangeArrowheads="1"/>
            </p:cNvSpPr>
            <p:nvPr/>
          </p:nvSpPr>
          <p:spPr bwMode="auto">
            <a:xfrm>
              <a:off x="3672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20" name="Rectangle 152"/>
            <p:cNvSpPr>
              <a:spLocks noChangeArrowheads="1"/>
            </p:cNvSpPr>
            <p:nvPr/>
          </p:nvSpPr>
          <p:spPr bwMode="auto">
            <a:xfrm>
              <a:off x="3423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21" name="Rectangle 153"/>
            <p:cNvSpPr>
              <a:spLocks noChangeArrowheads="1"/>
            </p:cNvSpPr>
            <p:nvPr/>
          </p:nvSpPr>
          <p:spPr bwMode="auto">
            <a:xfrm>
              <a:off x="3294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0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22" name="Rectangle 154"/>
            <p:cNvSpPr>
              <a:spLocks noChangeArrowheads="1"/>
            </p:cNvSpPr>
            <p:nvPr/>
          </p:nvSpPr>
          <p:spPr bwMode="auto">
            <a:xfrm>
              <a:off x="2675" y="1760"/>
              <a:ext cx="4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CA" altLang="zh-CN" sz="1000">
                  <a:solidFill>
                    <a:srgbClr val="000000"/>
                  </a:solidFill>
                  <a:latin typeface="Nimbus Roman No9 L" charset="0"/>
                  <a:ea typeface="SimSun" pitchFamily="2" charset="-122"/>
                </a:rPr>
                <a:t>1</a:t>
              </a:r>
              <a:endParaRPr lang="en-CA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86523" name="Freeform 155"/>
            <p:cNvSpPr>
              <a:spLocks/>
            </p:cNvSpPr>
            <p:nvPr/>
          </p:nvSpPr>
          <p:spPr bwMode="auto">
            <a:xfrm>
              <a:off x="2452" y="2447"/>
              <a:ext cx="35" cy="26"/>
            </a:xfrm>
            <a:custGeom>
              <a:avLst/>
              <a:gdLst>
                <a:gd name="T0" fmla="*/ 0 w 4"/>
                <a:gd name="T1" fmla="*/ 3 h 3"/>
                <a:gd name="T2" fmla="*/ 4 w 4"/>
                <a:gd name="T3" fmla="*/ 2 h 3"/>
                <a:gd name="T4" fmla="*/ 0 w 4"/>
                <a:gd name="T5" fmla="*/ 0 h 3"/>
                <a:gd name="T6" fmla="*/ 0 w 4"/>
                <a:gd name="T7" fmla="*/ 2 h 3"/>
                <a:gd name="T8" fmla="*/ 0 w 4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"/>
                <a:gd name="T16" fmla="*/ 0 h 3"/>
                <a:gd name="T17" fmla="*/ 4 w 4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" h="3">
                  <a:moveTo>
                    <a:pt x="0" y="3"/>
                  </a:moveTo>
                  <a:lnTo>
                    <a:pt x="4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24" name="Freeform 156"/>
            <p:cNvSpPr>
              <a:spLocks/>
            </p:cNvSpPr>
            <p:nvPr/>
          </p:nvSpPr>
          <p:spPr bwMode="auto">
            <a:xfrm>
              <a:off x="2452" y="2447"/>
              <a:ext cx="35" cy="26"/>
            </a:xfrm>
            <a:custGeom>
              <a:avLst/>
              <a:gdLst>
                <a:gd name="T0" fmla="*/ 0 w 35"/>
                <a:gd name="T1" fmla="*/ 26 h 26"/>
                <a:gd name="T2" fmla="*/ 35 w 35"/>
                <a:gd name="T3" fmla="*/ 17 h 26"/>
                <a:gd name="T4" fmla="*/ 0 w 35"/>
                <a:gd name="T5" fmla="*/ 0 h 26"/>
                <a:gd name="T6" fmla="*/ 0 w 35"/>
                <a:gd name="T7" fmla="*/ 17 h 26"/>
                <a:gd name="T8" fmla="*/ 0 w 35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26"/>
                <a:gd name="T17" fmla="*/ 35 w 35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26">
                  <a:moveTo>
                    <a:pt x="0" y="26"/>
                  </a:moveTo>
                  <a:lnTo>
                    <a:pt x="35" y="17"/>
                  </a:lnTo>
                  <a:lnTo>
                    <a:pt x="0" y="0"/>
                  </a:lnTo>
                  <a:lnTo>
                    <a:pt x="0" y="17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25" name="Freeform 157"/>
            <p:cNvSpPr>
              <a:spLocks/>
            </p:cNvSpPr>
            <p:nvPr/>
          </p:nvSpPr>
          <p:spPr bwMode="auto">
            <a:xfrm>
              <a:off x="2332" y="2292"/>
              <a:ext cx="1649" cy="172"/>
            </a:xfrm>
            <a:custGeom>
              <a:avLst/>
              <a:gdLst>
                <a:gd name="T0" fmla="*/ 13 w 192"/>
                <a:gd name="T1" fmla="*/ 20 h 20"/>
                <a:gd name="T2" fmla="*/ 0 w 192"/>
                <a:gd name="T3" fmla="*/ 20 h 20"/>
                <a:gd name="T4" fmla="*/ 0 w 192"/>
                <a:gd name="T5" fmla="*/ 0 h 20"/>
                <a:gd name="T6" fmla="*/ 192 w 192"/>
                <a:gd name="T7" fmla="*/ 0 h 20"/>
                <a:gd name="T8" fmla="*/ 192 w 192"/>
                <a:gd name="T9" fmla="*/ 19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0"/>
                <a:gd name="T17" fmla="*/ 192 w 192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0">
                  <a:moveTo>
                    <a:pt x="13" y="20"/>
                  </a:moveTo>
                  <a:lnTo>
                    <a:pt x="0" y="20"/>
                  </a:lnTo>
                  <a:lnTo>
                    <a:pt x="0" y="0"/>
                  </a:lnTo>
                  <a:lnTo>
                    <a:pt x="192" y="0"/>
                  </a:lnTo>
                  <a:lnTo>
                    <a:pt x="192" y="19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26" name="Freeform 158"/>
            <p:cNvSpPr>
              <a:spLocks/>
            </p:cNvSpPr>
            <p:nvPr/>
          </p:nvSpPr>
          <p:spPr bwMode="auto">
            <a:xfrm>
              <a:off x="2452" y="3597"/>
              <a:ext cx="43" cy="26"/>
            </a:xfrm>
            <a:custGeom>
              <a:avLst/>
              <a:gdLst>
                <a:gd name="T0" fmla="*/ 0 w 5"/>
                <a:gd name="T1" fmla="*/ 3 h 3"/>
                <a:gd name="T2" fmla="*/ 5 w 5"/>
                <a:gd name="T3" fmla="*/ 1 h 3"/>
                <a:gd name="T4" fmla="*/ 0 w 5"/>
                <a:gd name="T5" fmla="*/ 0 h 3"/>
                <a:gd name="T6" fmla="*/ 0 w 5"/>
                <a:gd name="T7" fmla="*/ 1 h 3"/>
                <a:gd name="T8" fmla="*/ 0 w 5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"/>
                <a:gd name="T16" fmla="*/ 0 h 3"/>
                <a:gd name="T17" fmla="*/ 5 w 5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" h="3">
                  <a:moveTo>
                    <a:pt x="0" y="3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27" name="Freeform 159"/>
            <p:cNvSpPr>
              <a:spLocks/>
            </p:cNvSpPr>
            <p:nvPr/>
          </p:nvSpPr>
          <p:spPr bwMode="auto">
            <a:xfrm>
              <a:off x="2452" y="3597"/>
              <a:ext cx="43" cy="26"/>
            </a:xfrm>
            <a:custGeom>
              <a:avLst/>
              <a:gdLst>
                <a:gd name="T0" fmla="*/ 0 w 43"/>
                <a:gd name="T1" fmla="*/ 26 h 26"/>
                <a:gd name="T2" fmla="*/ 43 w 43"/>
                <a:gd name="T3" fmla="*/ 9 h 26"/>
                <a:gd name="T4" fmla="*/ 0 w 43"/>
                <a:gd name="T5" fmla="*/ 0 h 26"/>
                <a:gd name="T6" fmla="*/ 0 w 43"/>
                <a:gd name="T7" fmla="*/ 9 h 26"/>
                <a:gd name="T8" fmla="*/ 0 w 43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26"/>
                <a:gd name="T17" fmla="*/ 43 w 43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26">
                  <a:moveTo>
                    <a:pt x="0" y="26"/>
                  </a:moveTo>
                  <a:lnTo>
                    <a:pt x="43" y="9"/>
                  </a:lnTo>
                  <a:lnTo>
                    <a:pt x="0" y="0"/>
                  </a:lnTo>
                  <a:lnTo>
                    <a:pt x="0" y="9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28" name="Freeform 160"/>
            <p:cNvSpPr>
              <a:spLocks/>
            </p:cNvSpPr>
            <p:nvPr/>
          </p:nvSpPr>
          <p:spPr bwMode="auto">
            <a:xfrm>
              <a:off x="2349" y="3443"/>
              <a:ext cx="1984" cy="172"/>
            </a:xfrm>
            <a:custGeom>
              <a:avLst/>
              <a:gdLst>
                <a:gd name="T0" fmla="*/ 12 w 231"/>
                <a:gd name="T1" fmla="*/ 19 h 20"/>
                <a:gd name="T2" fmla="*/ 0 w 231"/>
                <a:gd name="T3" fmla="*/ 19 h 20"/>
                <a:gd name="T4" fmla="*/ 0 w 231"/>
                <a:gd name="T5" fmla="*/ 0 h 20"/>
                <a:gd name="T6" fmla="*/ 231 w 231"/>
                <a:gd name="T7" fmla="*/ 0 h 20"/>
                <a:gd name="T8" fmla="*/ 231 w 231"/>
                <a:gd name="T9" fmla="*/ 20 h 20"/>
                <a:gd name="T10" fmla="*/ 219 w 231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1"/>
                <a:gd name="T19" fmla="*/ 0 h 20"/>
                <a:gd name="T20" fmla="*/ 231 w 231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1" h="20">
                  <a:moveTo>
                    <a:pt x="12" y="19"/>
                  </a:moveTo>
                  <a:lnTo>
                    <a:pt x="0" y="19"/>
                  </a:lnTo>
                  <a:lnTo>
                    <a:pt x="0" y="0"/>
                  </a:lnTo>
                  <a:lnTo>
                    <a:pt x="231" y="0"/>
                  </a:lnTo>
                  <a:lnTo>
                    <a:pt x="231" y="20"/>
                  </a:lnTo>
                  <a:lnTo>
                    <a:pt x="219" y="2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29" name="Freeform 161"/>
            <p:cNvSpPr>
              <a:spLocks/>
            </p:cNvSpPr>
            <p:nvPr/>
          </p:nvSpPr>
          <p:spPr bwMode="auto">
            <a:xfrm>
              <a:off x="3895" y="163"/>
              <a:ext cx="43" cy="17"/>
            </a:xfrm>
            <a:custGeom>
              <a:avLst/>
              <a:gdLst>
                <a:gd name="T0" fmla="*/ 5 w 5"/>
                <a:gd name="T1" fmla="*/ 0 h 2"/>
                <a:gd name="T2" fmla="*/ 0 w 5"/>
                <a:gd name="T3" fmla="*/ 1 h 2"/>
                <a:gd name="T4" fmla="*/ 5 w 5"/>
                <a:gd name="T5" fmla="*/ 2 h 2"/>
                <a:gd name="T6" fmla="*/ 5 w 5"/>
                <a:gd name="T7" fmla="*/ 1 h 2"/>
                <a:gd name="T8" fmla="*/ 5 w 5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"/>
                <a:gd name="T16" fmla="*/ 0 h 2"/>
                <a:gd name="T17" fmla="*/ 5 w 5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" h="2">
                  <a:moveTo>
                    <a:pt x="5" y="0"/>
                  </a:moveTo>
                  <a:lnTo>
                    <a:pt x="0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0" name="Freeform 162"/>
            <p:cNvSpPr>
              <a:spLocks/>
            </p:cNvSpPr>
            <p:nvPr/>
          </p:nvSpPr>
          <p:spPr bwMode="auto">
            <a:xfrm>
              <a:off x="3895" y="163"/>
              <a:ext cx="43" cy="17"/>
            </a:xfrm>
            <a:custGeom>
              <a:avLst/>
              <a:gdLst>
                <a:gd name="T0" fmla="*/ 43 w 43"/>
                <a:gd name="T1" fmla="*/ 0 h 17"/>
                <a:gd name="T2" fmla="*/ 0 w 43"/>
                <a:gd name="T3" fmla="*/ 8 h 17"/>
                <a:gd name="T4" fmla="*/ 43 w 43"/>
                <a:gd name="T5" fmla="*/ 17 h 17"/>
                <a:gd name="T6" fmla="*/ 43 w 43"/>
                <a:gd name="T7" fmla="*/ 8 h 17"/>
                <a:gd name="T8" fmla="*/ 43 w 4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7"/>
                <a:gd name="T17" fmla="*/ 43 w 43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7">
                  <a:moveTo>
                    <a:pt x="43" y="0"/>
                  </a:moveTo>
                  <a:lnTo>
                    <a:pt x="0" y="8"/>
                  </a:lnTo>
                  <a:lnTo>
                    <a:pt x="43" y="17"/>
                  </a:lnTo>
                  <a:lnTo>
                    <a:pt x="43" y="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1" name="Freeform 163"/>
            <p:cNvSpPr>
              <a:spLocks/>
            </p:cNvSpPr>
            <p:nvPr/>
          </p:nvSpPr>
          <p:spPr bwMode="auto">
            <a:xfrm>
              <a:off x="2392" y="0"/>
              <a:ext cx="1649" cy="171"/>
            </a:xfrm>
            <a:custGeom>
              <a:avLst/>
              <a:gdLst>
                <a:gd name="T0" fmla="*/ 180 w 192"/>
                <a:gd name="T1" fmla="*/ 20 h 20"/>
                <a:gd name="T2" fmla="*/ 192 w 192"/>
                <a:gd name="T3" fmla="*/ 20 h 20"/>
                <a:gd name="T4" fmla="*/ 192 w 192"/>
                <a:gd name="T5" fmla="*/ 0 h 20"/>
                <a:gd name="T6" fmla="*/ 0 w 192"/>
                <a:gd name="T7" fmla="*/ 0 h 20"/>
                <a:gd name="T8" fmla="*/ 0 w 192"/>
                <a:gd name="T9" fmla="*/ 2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0"/>
                <a:gd name="T17" fmla="*/ 192 w 192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0">
                  <a:moveTo>
                    <a:pt x="180" y="20"/>
                  </a:moveTo>
                  <a:lnTo>
                    <a:pt x="192" y="20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2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2" name="Freeform 164"/>
            <p:cNvSpPr>
              <a:spLocks/>
            </p:cNvSpPr>
            <p:nvPr/>
          </p:nvSpPr>
          <p:spPr bwMode="auto">
            <a:xfrm>
              <a:off x="3903" y="1288"/>
              <a:ext cx="35" cy="25"/>
            </a:xfrm>
            <a:custGeom>
              <a:avLst/>
              <a:gdLst>
                <a:gd name="T0" fmla="*/ 4 w 4"/>
                <a:gd name="T1" fmla="*/ 0 h 3"/>
                <a:gd name="T2" fmla="*/ 0 w 4"/>
                <a:gd name="T3" fmla="*/ 1 h 3"/>
                <a:gd name="T4" fmla="*/ 4 w 4"/>
                <a:gd name="T5" fmla="*/ 3 h 3"/>
                <a:gd name="T6" fmla="*/ 4 w 4"/>
                <a:gd name="T7" fmla="*/ 1 h 3"/>
                <a:gd name="T8" fmla="*/ 4 w 4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"/>
                <a:gd name="T16" fmla="*/ 0 h 3"/>
                <a:gd name="T17" fmla="*/ 4 w 4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" h="3">
                  <a:moveTo>
                    <a:pt x="4" y="0"/>
                  </a:moveTo>
                  <a:lnTo>
                    <a:pt x="0" y="1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3" name="Freeform 165"/>
            <p:cNvSpPr>
              <a:spLocks/>
            </p:cNvSpPr>
            <p:nvPr/>
          </p:nvSpPr>
          <p:spPr bwMode="auto">
            <a:xfrm>
              <a:off x="3903" y="1288"/>
              <a:ext cx="35" cy="25"/>
            </a:xfrm>
            <a:custGeom>
              <a:avLst/>
              <a:gdLst>
                <a:gd name="T0" fmla="*/ 35 w 35"/>
                <a:gd name="T1" fmla="*/ 0 h 25"/>
                <a:gd name="T2" fmla="*/ 0 w 35"/>
                <a:gd name="T3" fmla="*/ 8 h 25"/>
                <a:gd name="T4" fmla="*/ 35 w 35"/>
                <a:gd name="T5" fmla="*/ 25 h 25"/>
                <a:gd name="T6" fmla="*/ 35 w 35"/>
                <a:gd name="T7" fmla="*/ 8 h 25"/>
                <a:gd name="T8" fmla="*/ 35 w 3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25"/>
                <a:gd name="T17" fmla="*/ 35 w 3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25">
                  <a:moveTo>
                    <a:pt x="35" y="0"/>
                  </a:moveTo>
                  <a:lnTo>
                    <a:pt x="0" y="8"/>
                  </a:lnTo>
                  <a:lnTo>
                    <a:pt x="35" y="25"/>
                  </a:lnTo>
                  <a:lnTo>
                    <a:pt x="35" y="8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4" name="Freeform 166"/>
            <p:cNvSpPr>
              <a:spLocks/>
            </p:cNvSpPr>
            <p:nvPr/>
          </p:nvSpPr>
          <p:spPr bwMode="auto">
            <a:xfrm>
              <a:off x="1997" y="1124"/>
              <a:ext cx="2035" cy="181"/>
            </a:xfrm>
            <a:custGeom>
              <a:avLst/>
              <a:gdLst>
                <a:gd name="T0" fmla="*/ 227 w 237"/>
                <a:gd name="T1" fmla="*/ 20 h 21"/>
                <a:gd name="T2" fmla="*/ 237 w 237"/>
                <a:gd name="T3" fmla="*/ 20 h 21"/>
                <a:gd name="T4" fmla="*/ 237 w 237"/>
                <a:gd name="T5" fmla="*/ 1 h 21"/>
                <a:gd name="T6" fmla="*/ 0 w 237"/>
                <a:gd name="T7" fmla="*/ 0 h 21"/>
                <a:gd name="T8" fmla="*/ 0 w 237"/>
                <a:gd name="T9" fmla="*/ 21 h 21"/>
                <a:gd name="T10" fmla="*/ 15 w 237"/>
                <a:gd name="T11" fmla="*/ 21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7"/>
                <a:gd name="T19" fmla="*/ 0 h 21"/>
                <a:gd name="T20" fmla="*/ 237 w 237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7" h="21">
                  <a:moveTo>
                    <a:pt x="227" y="20"/>
                  </a:moveTo>
                  <a:lnTo>
                    <a:pt x="237" y="20"/>
                  </a:lnTo>
                  <a:lnTo>
                    <a:pt x="237" y="1"/>
                  </a:lnTo>
                  <a:lnTo>
                    <a:pt x="0" y="0"/>
                  </a:lnTo>
                  <a:lnTo>
                    <a:pt x="0" y="21"/>
                  </a:lnTo>
                  <a:lnTo>
                    <a:pt x="15" y="21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5" name="Rectangle 167"/>
            <p:cNvSpPr>
              <a:spLocks noChangeArrowheads="1"/>
            </p:cNvSpPr>
            <p:nvPr/>
          </p:nvSpPr>
          <p:spPr bwMode="auto">
            <a:xfrm>
              <a:off x="2504" y="3838"/>
              <a:ext cx="1391" cy="137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6" name="Rectangle 168"/>
            <p:cNvSpPr>
              <a:spLocks noChangeArrowheads="1"/>
            </p:cNvSpPr>
            <p:nvPr/>
          </p:nvSpPr>
          <p:spPr bwMode="auto">
            <a:xfrm>
              <a:off x="2495" y="2902"/>
              <a:ext cx="1400" cy="137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7" name="Rectangle 169"/>
            <p:cNvSpPr>
              <a:spLocks noChangeArrowheads="1"/>
            </p:cNvSpPr>
            <p:nvPr/>
          </p:nvSpPr>
          <p:spPr bwMode="auto">
            <a:xfrm>
              <a:off x="2495" y="2670"/>
              <a:ext cx="1400" cy="137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8" name="Rectangle 170"/>
            <p:cNvSpPr>
              <a:spLocks noChangeArrowheads="1"/>
            </p:cNvSpPr>
            <p:nvPr/>
          </p:nvSpPr>
          <p:spPr bwMode="auto">
            <a:xfrm>
              <a:off x="2495" y="1751"/>
              <a:ext cx="1391" cy="138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9" name="Rectangle 171"/>
            <p:cNvSpPr>
              <a:spLocks noChangeArrowheads="1"/>
            </p:cNvSpPr>
            <p:nvPr/>
          </p:nvSpPr>
          <p:spPr bwMode="auto">
            <a:xfrm>
              <a:off x="2495" y="1511"/>
              <a:ext cx="1391" cy="137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0" name="Rectangle 172"/>
            <p:cNvSpPr>
              <a:spLocks noChangeArrowheads="1"/>
            </p:cNvSpPr>
            <p:nvPr/>
          </p:nvSpPr>
          <p:spPr bwMode="auto">
            <a:xfrm>
              <a:off x="2495" y="609"/>
              <a:ext cx="1391" cy="138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1" name="Rectangle 173"/>
            <p:cNvSpPr>
              <a:spLocks noChangeArrowheads="1"/>
            </p:cNvSpPr>
            <p:nvPr/>
          </p:nvSpPr>
          <p:spPr bwMode="auto">
            <a:xfrm>
              <a:off x="2495" y="369"/>
              <a:ext cx="1391" cy="137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2" name="Rectangle 174"/>
            <p:cNvSpPr>
              <a:spLocks noChangeArrowheads="1"/>
            </p:cNvSpPr>
            <p:nvPr/>
          </p:nvSpPr>
          <p:spPr bwMode="auto">
            <a:xfrm>
              <a:off x="2504" y="103"/>
              <a:ext cx="1391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3" name="Freeform 175"/>
            <p:cNvSpPr>
              <a:spLocks/>
            </p:cNvSpPr>
            <p:nvPr/>
          </p:nvSpPr>
          <p:spPr bwMode="auto">
            <a:xfrm>
              <a:off x="4350" y="2438"/>
              <a:ext cx="51" cy="26"/>
            </a:xfrm>
            <a:custGeom>
              <a:avLst/>
              <a:gdLst>
                <a:gd name="T0" fmla="*/ 0 w 6"/>
                <a:gd name="T1" fmla="*/ 3 h 3"/>
                <a:gd name="T2" fmla="*/ 6 w 6"/>
                <a:gd name="T3" fmla="*/ 2 h 3"/>
                <a:gd name="T4" fmla="*/ 0 w 6"/>
                <a:gd name="T5" fmla="*/ 0 h 3"/>
                <a:gd name="T6" fmla="*/ 0 w 6"/>
                <a:gd name="T7" fmla="*/ 2 h 3"/>
                <a:gd name="T8" fmla="*/ 0 w 6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"/>
                <a:gd name="T17" fmla="*/ 6 w 6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">
                  <a:moveTo>
                    <a:pt x="0" y="3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4" name="Freeform 176"/>
            <p:cNvSpPr>
              <a:spLocks/>
            </p:cNvSpPr>
            <p:nvPr/>
          </p:nvSpPr>
          <p:spPr bwMode="auto">
            <a:xfrm>
              <a:off x="4350" y="2438"/>
              <a:ext cx="51" cy="26"/>
            </a:xfrm>
            <a:custGeom>
              <a:avLst/>
              <a:gdLst>
                <a:gd name="T0" fmla="*/ 0 w 51"/>
                <a:gd name="T1" fmla="*/ 26 h 26"/>
                <a:gd name="T2" fmla="*/ 51 w 51"/>
                <a:gd name="T3" fmla="*/ 17 h 26"/>
                <a:gd name="T4" fmla="*/ 0 w 51"/>
                <a:gd name="T5" fmla="*/ 0 h 26"/>
                <a:gd name="T6" fmla="*/ 0 w 51"/>
                <a:gd name="T7" fmla="*/ 17 h 26"/>
                <a:gd name="T8" fmla="*/ 0 w 51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26"/>
                <a:gd name="T17" fmla="*/ 51 w 51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26">
                  <a:moveTo>
                    <a:pt x="0" y="26"/>
                  </a:moveTo>
                  <a:lnTo>
                    <a:pt x="51" y="17"/>
                  </a:lnTo>
                  <a:lnTo>
                    <a:pt x="0" y="0"/>
                  </a:lnTo>
                  <a:lnTo>
                    <a:pt x="0" y="17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5" name="Line 177"/>
            <p:cNvSpPr>
              <a:spLocks noChangeShapeType="1"/>
            </p:cNvSpPr>
            <p:nvPr/>
          </p:nvSpPr>
          <p:spPr bwMode="auto">
            <a:xfrm flipH="1">
              <a:off x="4230" y="2455"/>
              <a:ext cx="120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6" name="Freeform 178"/>
            <p:cNvSpPr>
              <a:spLocks/>
            </p:cNvSpPr>
            <p:nvPr/>
          </p:nvSpPr>
          <p:spPr bwMode="auto">
            <a:xfrm>
              <a:off x="4032" y="3606"/>
              <a:ext cx="52" cy="17"/>
            </a:xfrm>
            <a:custGeom>
              <a:avLst/>
              <a:gdLst>
                <a:gd name="T0" fmla="*/ 0 w 6"/>
                <a:gd name="T1" fmla="*/ 2 h 2"/>
                <a:gd name="T2" fmla="*/ 6 w 6"/>
                <a:gd name="T3" fmla="*/ 1 h 2"/>
                <a:gd name="T4" fmla="*/ 0 w 6"/>
                <a:gd name="T5" fmla="*/ 0 h 2"/>
                <a:gd name="T6" fmla="*/ 0 w 6"/>
                <a:gd name="T7" fmla="*/ 1 h 2"/>
                <a:gd name="T8" fmla="*/ 0 w 6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2"/>
                <a:gd name="T17" fmla="*/ 6 w 6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2">
                  <a:moveTo>
                    <a:pt x="0" y="2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7" name="Freeform 179"/>
            <p:cNvSpPr>
              <a:spLocks/>
            </p:cNvSpPr>
            <p:nvPr/>
          </p:nvSpPr>
          <p:spPr bwMode="auto">
            <a:xfrm>
              <a:off x="4032" y="3606"/>
              <a:ext cx="52" cy="17"/>
            </a:xfrm>
            <a:custGeom>
              <a:avLst/>
              <a:gdLst>
                <a:gd name="T0" fmla="*/ 0 w 52"/>
                <a:gd name="T1" fmla="*/ 17 h 17"/>
                <a:gd name="T2" fmla="*/ 52 w 52"/>
                <a:gd name="T3" fmla="*/ 9 h 17"/>
                <a:gd name="T4" fmla="*/ 0 w 52"/>
                <a:gd name="T5" fmla="*/ 0 h 17"/>
                <a:gd name="T6" fmla="*/ 0 w 52"/>
                <a:gd name="T7" fmla="*/ 9 h 17"/>
                <a:gd name="T8" fmla="*/ 0 w 52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17"/>
                <a:gd name="T17" fmla="*/ 52 w 52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17">
                  <a:moveTo>
                    <a:pt x="0" y="17"/>
                  </a:moveTo>
                  <a:lnTo>
                    <a:pt x="52" y="9"/>
                  </a:lnTo>
                  <a:lnTo>
                    <a:pt x="0" y="0"/>
                  </a:lnTo>
                  <a:lnTo>
                    <a:pt x="0" y="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8" name="Line 180"/>
            <p:cNvSpPr>
              <a:spLocks noChangeShapeType="1"/>
            </p:cNvSpPr>
            <p:nvPr/>
          </p:nvSpPr>
          <p:spPr bwMode="auto">
            <a:xfrm flipH="1">
              <a:off x="3895" y="3615"/>
              <a:ext cx="13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9" name="Rectangle 181"/>
            <p:cNvSpPr>
              <a:spLocks noChangeArrowheads="1"/>
            </p:cNvSpPr>
            <p:nvPr/>
          </p:nvSpPr>
          <p:spPr bwMode="auto">
            <a:xfrm>
              <a:off x="4092" y="3546"/>
              <a:ext cx="138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50" name="Rectangle 182"/>
            <p:cNvSpPr>
              <a:spLocks noChangeArrowheads="1"/>
            </p:cNvSpPr>
            <p:nvPr/>
          </p:nvSpPr>
          <p:spPr bwMode="auto">
            <a:xfrm>
              <a:off x="2504" y="1236"/>
              <a:ext cx="1391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51" name="Rectangle 183"/>
            <p:cNvSpPr>
              <a:spLocks noChangeArrowheads="1"/>
            </p:cNvSpPr>
            <p:nvPr/>
          </p:nvSpPr>
          <p:spPr bwMode="auto">
            <a:xfrm>
              <a:off x="2504" y="2387"/>
              <a:ext cx="1391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52" name="Rectangle 184"/>
            <p:cNvSpPr>
              <a:spLocks noChangeArrowheads="1"/>
            </p:cNvSpPr>
            <p:nvPr/>
          </p:nvSpPr>
          <p:spPr bwMode="auto">
            <a:xfrm>
              <a:off x="2504" y="3546"/>
              <a:ext cx="1391" cy="137"/>
            </a:xfrm>
            <a:prstGeom prst="rect">
              <a:avLst/>
            </a:prstGeom>
            <a:noFill/>
            <a:ln w="14288">
              <a:solidFill>
                <a:srgbClr val="00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Multiplication and Division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Not very popular (especially division)</a:t>
            </a:r>
          </a:p>
          <a:p>
            <a:r>
              <a:rPr lang="en-US" altLang="zh-CN">
                <a:ea typeface="SimSun" pitchFamily="2" charset="-122"/>
              </a:rPr>
              <a:t>Multiply  R</a:t>
            </a:r>
            <a:r>
              <a:rPr lang="en-US" altLang="zh-CN" baseline="-25000">
                <a:ea typeface="SimSun" pitchFamily="2" charset="-122"/>
              </a:rPr>
              <a:t>i</a:t>
            </a:r>
            <a:r>
              <a:rPr lang="en-US" altLang="zh-CN">
                <a:ea typeface="SimSun" pitchFamily="2" charset="-122"/>
              </a:rPr>
              <a:t>, 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/>
            </a:r>
            <a:br>
              <a:rPr lang="en-US" altLang="zh-CN">
                <a:ea typeface="SimSun" pitchFamily="2" charset="-122"/>
              </a:rPr>
            </a:br>
            <a:r>
              <a:rPr lang="en-US" altLang="zh-CN">
                <a:ea typeface="SimSun" pitchFamily="2" charset="-122"/>
              </a:rPr>
              <a:t>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 </a:t>
            </a:r>
            <a:r>
              <a:rPr lang="en-US" altLang="zh-CN">
                <a:ea typeface="SimSun" pitchFamily="2" charset="-122"/>
                <a:cs typeface="Arial" pitchFamily="34" charset="0"/>
              </a:rPr>
              <a:t>← [R</a:t>
            </a:r>
            <a:r>
              <a:rPr lang="en-US" altLang="zh-CN" baseline="-25000">
                <a:ea typeface="SimSun" pitchFamily="2" charset="-122"/>
                <a:cs typeface="Arial" pitchFamily="34" charset="0"/>
              </a:rPr>
              <a:t>i</a:t>
            </a:r>
            <a:r>
              <a:rPr lang="en-US" altLang="zh-CN">
                <a:ea typeface="SimSun" pitchFamily="2" charset="-122"/>
                <a:cs typeface="Arial" pitchFamily="34" charset="0"/>
              </a:rPr>
              <a:t>] </a:t>
            </a:r>
            <a:r>
              <a:rPr lang="ru-RU" altLang="zh-CN">
                <a:cs typeface="Arial" pitchFamily="34" charset="0"/>
              </a:rPr>
              <a:t>х</a:t>
            </a:r>
            <a:r>
              <a:rPr lang="en-US" altLang="zh-CN">
                <a:ea typeface="SimSun" pitchFamily="2" charset="-122"/>
              </a:rPr>
              <a:t> [R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]</a:t>
            </a:r>
          </a:p>
          <a:p>
            <a:r>
              <a:rPr lang="en-US" altLang="zh-CN">
                <a:ea typeface="SimSun" pitchFamily="2" charset="-122"/>
              </a:rPr>
              <a:t>2n-bit product case: high-order half in R(j+1)</a:t>
            </a:r>
          </a:p>
          <a:p>
            <a:r>
              <a:rPr lang="en-US" altLang="zh-CN">
                <a:ea typeface="SimSun" pitchFamily="2" charset="-122"/>
              </a:rPr>
              <a:t>Divide  R</a:t>
            </a:r>
            <a:r>
              <a:rPr lang="en-US" altLang="zh-CN" baseline="-25000">
                <a:ea typeface="SimSun" pitchFamily="2" charset="-122"/>
              </a:rPr>
              <a:t>i</a:t>
            </a:r>
            <a:r>
              <a:rPr lang="en-US" altLang="zh-CN">
                <a:ea typeface="SimSun" pitchFamily="2" charset="-122"/>
              </a:rPr>
              <a:t>, 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/>
            </a:r>
            <a:br>
              <a:rPr lang="en-US" altLang="zh-CN">
                <a:ea typeface="SimSun" pitchFamily="2" charset="-122"/>
              </a:rPr>
            </a:br>
            <a:r>
              <a:rPr lang="en-US" altLang="zh-CN">
                <a:ea typeface="SimSun" pitchFamily="2" charset="-122"/>
              </a:rPr>
              <a:t> 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 ← [R</a:t>
            </a:r>
            <a:r>
              <a:rPr lang="en-US" altLang="zh-CN" baseline="-25000">
                <a:ea typeface="SimSun" pitchFamily="2" charset="-122"/>
              </a:rPr>
              <a:t>i</a:t>
            </a:r>
            <a:r>
              <a:rPr lang="en-US" altLang="zh-CN">
                <a:ea typeface="SimSun" pitchFamily="2" charset="-122"/>
              </a:rPr>
              <a:t>] / [R</a:t>
            </a:r>
            <a:r>
              <a:rPr lang="en-US" altLang="zh-CN" baseline="-25000">
                <a:ea typeface="SimSun" pitchFamily="2" charset="-122"/>
              </a:rPr>
              <a:t>j</a:t>
            </a:r>
            <a:r>
              <a:rPr lang="en-US" altLang="zh-CN">
                <a:ea typeface="SimSun" pitchFamily="2" charset="-122"/>
              </a:rPr>
              <a:t>]</a:t>
            </a:r>
          </a:p>
          <a:p>
            <a:pPr lvl="1">
              <a:buFont typeface="Wingdings" pitchFamily="2" charset="2"/>
              <a:buNone/>
            </a:pPr>
            <a:r>
              <a:rPr lang="en-US" altLang="zh-CN">
                <a:ea typeface="SimSun" pitchFamily="2" charset="-122"/>
              </a:rPr>
              <a:t>Quotient is in Rj, remainder may be placed in R(j+1)</a:t>
            </a:r>
            <a:endParaRPr lang="ru-RU" altLang="zh-CN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r"/>
            <a:r>
              <a:rPr lang="en-US" altLang="zh-CN" sz="6100">
                <a:ea typeface="SimSun" pitchFamily="2" charset="-122"/>
              </a:rPr>
              <a:t>Encoding of Machine Instructions</a:t>
            </a:r>
          </a:p>
        </p:txBody>
      </p:sp>
      <p:sp>
        <p:nvSpPr>
          <p:cNvPr id="190467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849313" y="3049588"/>
            <a:ext cx="6248400" cy="2362200"/>
          </a:xfrm>
        </p:spPr>
        <p:txBody>
          <a:bodyPr/>
          <a:lstStyle/>
          <a:p>
            <a:pPr marL="0" indent="0" algn="r">
              <a:buFont typeface="Wingdings" pitchFamily="2" charset="2"/>
              <a:buNone/>
            </a:pPr>
            <a:endParaRPr lang="zh-CN" altLang="en-US" sz="340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Encoding of Machine Instructions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Assembly language program needs to be converted into machine instructions. (ADD = 0100 in ARM instruction set)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In the previous section, an assumption was made that all instructions are one word in length.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OP code: the type of operation to be performed and the type of operands used may be specified using an encoded binary pattern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Suppose 32-bit word length, 8-bit OP code (how many instructions can we have?), 16 registers in total (how many bits?), 3-bit addressing mode indicator.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Add  R1, R2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Move  24(R0), R5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LshiftR  #2, R0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Move  #$3A, R1</a:t>
            </a:r>
          </a:p>
          <a:p>
            <a:pPr>
              <a:lnSpc>
                <a:spcPct val="80000"/>
              </a:lnSpc>
            </a:pPr>
            <a:r>
              <a:rPr lang="en-US" altLang="zh-CN" sz="2000">
                <a:ea typeface="SimSun" pitchFamily="2" charset="-122"/>
              </a:rPr>
              <a:t>Branch&gt;0  LOOP</a:t>
            </a:r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3927475" y="4681538"/>
            <a:ext cx="741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OP code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5089525" y="4681538"/>
            <a:ext cx="6048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Source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6208713" y="4681538"/>
            <a:ext cx="3921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Dest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7245350" y="4681538"/>
            <a:ext cx="836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Other info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20" name="Rectangle 8"/>
          <p:cNvSpPr>
            <a:spLocks noChangeArrowheads="1"/>
          </p:cNvSpPr>
          <p:nvPr/>
        </p:nvSpPr>
        <p:spPr bwMode="auto">
          <a:xfrm>
            <a:off x="4197350" y="4164013"/>
            <a:ext cx="106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8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21" name="Rectangle 9"/>
          <p:cNvSpPr>
            <a:spLocks noChangeArrowheads="1"/>
          </p:cNvSpPr>
          <p:nvPr/>
        </p:nvSpPr>
        <p:spPr bwMode="auto">
          <a:xfrm>
            <a:off x="5295900" y="4164013"/>
            <a:ext cx="106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22" name="Rectangle 10"/>
          <p:cNvSpPr>
            <a:spLocks noChangeArrowheads="1"/>
          </p:cNvSpPr>
          <p:nvPr/>
        </p:nvSpPr>
        <p:spPr bwMode="auto">
          <a:xfrm>
            <a:off x="6311900" y="4164013"/>
            <a:ext cx="106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7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23" name="Rectangle 11"/>
          <p:cNvSpPr>
            <a:spLocks noChangeArrowheads="1"/>
          </p:cNvSpPr>
          <p:nvPr/>
        </p:nvSpPr>
        <p:spPr bwMode="auto">
          <a:xfrm>
            <a:off x="7515225" y="4164013"/>
            <a:ext cx="212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10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2524" name="Rectangle 12"/>
          <p:cNvSpPr>
            <a:spLocks noChangeArrowheads="1"/>
          </p:cNvSpPr>
          <p:nvPr/>
        </p:nvSpPr>
        <p:spPr bwMode="auto">
          <a:xfrm>
            <a:off x="3657600" y="4495800"/>
            <a:ext cx="4708525" cy="581025"/>
          </a:xfrm>
          <a:prstGeom prst="rect">
            <a:avLst/>
          </a:prstGeom>
          <a:noFill/>
          <a:ln w="20638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25" name="Line 13"/>
          <p:cNvSpPr>
            <a:spLocks noChangeShapeType="1"/>
          </p:cNvSpPr>
          <p:nvPr/>
        </p:nvSpPr>
        <p:spPr bwMode="auto">
          <a:xfrm flipV="1">
            <a:off x="4840288" y="4495800"/>
            <a:ext cx="1587" cy="581025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26" name="Line 14"/>
          <p:cNvSpPr>
            <a:spLocks noChangeShapeType="1"/>
          </p:cNvSpPr>
          <p:nvPr/>
        </p:nvSpPr>
        <p:spPr bwMode="auto">
          <a:xfrm flipV="1">
            <a:off x="6892925" y="4495800"/>
            <a:ext cx="1588" cy="581025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27" name="Line 15"/>
          <p:cNvSpPr>
            <a:spLocks noChangeShapeType="1"/>
          </p:cNvSpPr>
          <p:nvPr/>
        </p:nvSpPr>
        <p:spPr bwMode="auto">
          <a:xfrm flipV="1">
            <a:off x="5856288" y="4495800"/>
            <a:ext cx="1587" cy="581025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28" name="Rectangle 16"/>
          <p:cNvSpPr>
            <a:spLocks noChangeArrowheads="1"/>
          </p:cNvSpPr>
          <p:nvPr/>
        </p:nvSpPr>
        <p:spPr bwMode="auto">
          <a:xfrm>
            <a:off x="5097463" y="5364163"/>
            <a:ext cx="20462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(a) One-w</a:t>
            </a:r>
            <a:r>
              <a:rPr lang="en-US" altLang="zh-CN" sz="15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ord instruction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Encoding of Machine Instructions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229600" cy="2547937"/>
          </a:xfrm>
        </p:spPr>
        <p:txBody>
          <a:bodyPr/>
          <a:lstStyle/>
          <a:p>
            <a:r>
              <a:rPr lang="en-US" altLang="zh-CN" sz="2600">
                <a:ea typeface="SimSun" pitchFamily="2" charset="-122"/>
              </a:rPr>
              <a:t>What happens if we want to specify a memory operand using the Absolute addressing mode?</a:t>
            </a:r>
          </a:p>
          <a:p>
            <a:r>
              <a:rPr lang="en-US" altLang="zh-CN" sz="2600">
                <a:ea typeface="SimSun" pitchFamily="2" charset="-122"/>
              </a:rPr>
              <a:t>Move  R2, LOC</a:t>
            </a:r>
          </a:p>
          <a:p>
            <a:r>
              <a:rPr lang="en-US" altLang="zh-CN" sz="2600">
                <a:ea typeface="SimSun" pitchFamily="2" charset="-122"/>
              </a:rPr>
              <a:t>14-bit for LOC – insufficient</a:t>
            </a:r>
          </a:p>
          <a:p>
            <a:r>
              <a:rPr lang="en-US" altLang="zh-CN" sz="2600">
                <a:ea typeface="SimSun" pitchFamily="2" charset="-122"/>
              </a:rPr>
              <a:t>Solution – use two words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3505200" y="5715000"/>
            <a:ext cx="204628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(b) T</a:t>
            </a:r>
            <a:r>
              <a:rPr lang="en-US" altLang="zh-CN" sz="1500">
                <a:solidFill>
                  <a:srgbClr val="000000"/>
                </a:solidFill>
                <a:latin typeface="Nimbus Sans L" charset="0"/>
                <a:ea typeface="SimSun" pitchFamily="2" charset="-122"/>
              </a:rPr>
              <a:t>wo-word instruction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2986088" y="5048250"/>
            <a:ext cx="31178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Memory address/Immediate operand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2032000" y="4302125"/>
            <a:ext cx="4708525" cy="1162050"/>
          </a:xfrm>
          <a:prstGeom prst="rect">
            <a:avLst/>
          </a:prstGeom>
          <a:noFill/>
          <a:ln w="20638">
            <a:solidFill>
              <a:srgbClr val="00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1319" name="Line 7"/>
          <p:cNvSpPr>
            <a:spLocks noChangeShapeType="1"/>
          </p:cNvSpPr>
          <p:nvPr/>
        </p:nvSpPr>
        <p:spPr bwMode="auto">
          <a:xfrm flipH="1">
            <a:off x="2032000" y="4883150"/>
            <a:ext cx="4708525" cy="1588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1320" name="Line 8"/>
          <p:cNvSpPr>
            <a:spLocks noChangeShapeType="1"/>
          </p:cNvSpPr>
          <p:nvPr/>
        </p:nvSpPr>
        <p:spPr bwMode="auto">
          <a:xfrm flipV="1">
            <a:off x="3214688" y="4281488"/>
            <a:ext cx="1587" cy="581025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1321" name="Line 9"/>
          <p:cNvSpPr>
            <a:spLocks noChangeShapeType="1"/>
          </p:cNvSpPr>
          <p:nvPr/>
        </p:nvSpPr>
        <p:spPr bwMode="auto">
          <a:xfrm flipV="1">
            <a:off x="5267325" y="4281488"/>
            <a:ext cx="1588" cy="581025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1322" name="Line 10"/>
          <p:cNvSpPr>
            <a:spLocks noChangeShapeType="1"/>
          </p:cNvSpPr>
          <p:nvPr/>
        </p:nvSpPr>
        <p:spPr bwMode="auto">
          <a:xfrm flipV="1">
            <a:off x="4230688" y="4281488"/>
            <a:ext cx="1587" cy="581025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1323" name="Rectangle 11"/>
          <p:cNvSpPr>
            <a:spLocks noChangeArrowheads="1"/>
          </p:cNvSpPr>
          <p:nvPr/>
        </p:nvSpPr>
        <p:spPr bwMode="auto">
          <a:xfrm>
            <a:off x="2343150" y="4467225"/>
            <a:ext cx="741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OP code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1324" name="Rectangle 12"/>
          <p:cNvSpPr>
            <a:spLocks noChangeArrowheads="1"/>
          </p:cNvSpPr>
          <p:nvPr/>
        </p:nvSpPr>
        <p:spPr bwMode="auto">
          <a:xfrm>
            <a:off x="3505200" y="4467225"/>
            <a:ext cx="6048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Source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1325" name="Rectangle 13"/>
          <p:cNvSpPr>
            <a:spLocks noChangeArrowheads="1"/>
          </p:cNvSpPr>
          <p:nvPr/>
        </p:nvSpPr>
        <p:spPr bwMode="auto">
          <a:xfrm>
            <a:off x="4624388" y="4467225"/>
            <a:ext cx="3921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Dest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1326" name="Rectangle 14"/>
          <p:cNvSpPr>
            <a:spLocks noChangeArrowheads="1"/>
          </p:cNvSpPr>
          <p:nvPr/>
        </p:nvSpPr>
        <p:spPr bwMode="auto">
          <a:xfrm>
            <a:off x="5662613" y="4467225"/>
            <a:ext cx="8366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CA" altLang="zh-CN" sz="1500">
                <a:solidFill>
                  <a:srgbClr val="000000"/>
                </a:solidFill>
                <a:latin typeface="Nimbus Roman No9 L" charset="0"/>
                <a:ea typeface="SimSun" pitchFamily="2" charset="-122"/>
              </a:rPr>
              <a:t>Other info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/>
      <p:bldP spid="141316" grpId="0"/>
      <p:bldP spid="141317" grpId="0"/>
      <p:bldP spid="141318" grpId="0" animBg="1"/>
      <p:bldP spid="141319" grpId="0" animBg="1"/>
      <p:bldP spid="141320" grpId="0" animBg="1"/>
      <p:bldP spid="141321" grpId="0" animBg="1"/>
      <p:bldP spid="141322" grpId="0" animBg="1"/>
      <p:bldP spid="141323" grpId="0"/>
      <p:bldP spid="141324" grpId="0"/>
      <p:bldP spid="141325" grpId="0"/>
      <p:bldP spid="14132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Encoding of Machine Instructions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600">
                <a:ea typeface="SimSun" pitchFamily="2" charset="-122"/>
              </a:rPr>
              <a:t>Then what if an instruction in which two operands can be specified using the Absolute addressing mode?</a:t>
            </a:r>
          </a:p>
          <a:p>
            <a:r>
              <a:rPr lang="en-US" altLang="zh-CN" sz="2600">
                <a:ea typeface="SimSun" pitchFamily="2" charset="-122"/>
              </a:rPr>
              <a:t>Move  LOC1, LOC2</a:t>
            </a:r>
          </a:p>
          <a:p>
            <a:r>
              <a:rPr lang="en-US" altLang="zh-CN" sz="2600">
                <a:ea typeface="SimSun" pitchFamily="2" charset="-122"/>
              </a:rPr>
              <a:t>Solution – use two additional words</a:t>
            </a:r>
          </a:p>
          <a:p>
            <a:r>
              <a:rPr lang="en-US" altLang="zh-CN" sz="2600">
                <a:ea typeface="SimSun" pitchFamily="2" charset="-122"/>
              </a:rPr>
              <a:t>This approach results in instructions of variable length. Complex instructions can be implemented, closely resembling operations in high-level programming languages – Complex Instruction Set Computer (CISC)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Encoding of Machine Instructions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600">
                <a:ea typeface="SimSun" pitchFamily="2" charset="-122"/>
              </a:rPr>
              <a:t>If we insist that all instructions must fit into a single 32-bit word, it is not possible to provide a 32-bit address or a 32-bit immediate operand within the instruction.</a:t>
            </a:r>
          </a:p>
          <a:p>
            <a:r>
              <a:rPr lang="en-US" altLang="zh-CN" sz="2600">
                <a:ea typeface="SimSun" pitchFamily="2" charset="-122"/>
              </a:rPr>
              <a:t>It is still possible to define a highly functional instruction set, which makes extensive use of the processor registers.</a:t>
            </a:r>
          </a:p>
          <a:p>
            <a:r>
              <a:rPr lang="en-US" altLang="zh-CN" sz="2600">
                <a:ea typeface="SimSun" pitchFamily="2" charset="-122"/>
              </a:rPr>
              <a:t>Add  R1, R2 ----- yes</a:t>
            </a:r>
          </a:p>
          <a:p>
            <a:r>
              <a:rPr lang="en-US" altLang="zh-CN" sz="2600">
                <a:ea typeface="SimSun" pitchFamily="2" charset="-122"/>
              </a:rPr>
              <a:t>Add  LOC, R2 ----- no</a:t>
            </a:r>
          </a:p>
          <a:p>
            <a:r>
              <a:rPr lang="en-US" altLang="zh-CN" sz="2600">
                <a:ea typeface="SimSun" pitchFamily="2" charset="-122"/>
              </a:rPr>
              <a:t>Add  (R3), R2 ----- 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</p:bld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709</TotalTime>
  <Words>6305</Words>
  <Application>Microsoft Office PowerPoint</Application>
  <PresentationFormat>On-screen Show (4:3)</PresentationFormat>
  <Paragraphs>2228</Paragraphs>
  <Slides>119</Slides>
  <Notes>57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119</vt:i4>
      </vt:variant>
    </vt:vector>
  </HeadingPairs>
  <TitlesOfParts>
    <vt:vector size="122" baseType="lpstr">
      <vt:lpstr>Network</vt:lpstr>
      <vt:lpstr>Visio</vt:lpstr>
      <vt:lpstr>Equation</vt:lpstr>
      <vt:lpstr>Chapter 1. Basic Structure of Computers</vt:lpstr>
      <vt:lpstr>Functional Units</vt:lpstr>
      <vt:lpstr>Functional Units</vt:lpstr>
      <vt:lpstr>Information Handled by a Computer</vt:lpstr>
      <vt:lpstr>Memory Unit</vt:lpstr>
      <vt:lpstr>Arithmetic and Logic Unit (ALU)</vt:lpstr>
      <vt:lpstr>Control Unit</vt:lpstr>
      <vt:lpstr>The processor : Data Path and Control</vt:lpstr>
      <vt:lpstr>Five Execution Steps</vt:lpstr>
      <vt:lpstr>Basic Operational Concepts</vt:lpstr>
      <vt:lpstr>Review</vt:lpstr>
      <vt:lpstr>A Typical Instruction</vt:lpstr>
      <vt:lpstr>Separate Memory Access and ALU Operation</vt:lpstr>
      <vt:lpstr>Connection Between the Processor and the Memory</vt:lpstr>
      <vt:lpstr>Registers</vt:lpstr>
      <vt:lpstr>Typical Operating Steps</vt:lpstr>
      <vt:lpstr>Typical Operating Steps (Cont’)</vt:lpstr>
      <vt:lpstr>Interrupt</vt:lpstr>
      <vt:lpstr>Bus Structures</vt:lpstr>
      <vt:lpstr>Bus Structure</vt:lpstr>
      <vt:lpstr>Speed Issue</vt:lpstr>
      <vt:lpstr>Performance</vt:lpstr>
      <vt:lpstr>Performance</vt:lpstr>
      <vt:lpstr>Performance</vt:lpstr>
      <vt:lpstr>Performance</vt:lpstr>
      <vt:lpstr>Processor Clock</vt:lpstr>
      <vt:lpstr>Basic Performance Equation</vt:lpstr>
      <vt:lpstr>Pipeline and Superscalar Operation</vt:lpstr>
      <vt:lpstr>Clock Rate</vt:lpstr>
      <vt:lpstr>CISC and RISC</vt:lpstr>
      <vt:lpstr>Compiler</vt:lpstr>
      <vt:lpstr>Performance Measurement</vt:lpstr>
      <vt:lpstr>Multiprocessors and Multicomputers</vt:lpstr>
      <vt:lpstr>Slide 34</vt:lpstr>
      <vt:lpstr>Chapter 2. Machine Instructions and Programs</vt:lpstr>
      <vt:lpstr>Objectives</vt:lpstr>
      <vt:lpstr>Number, Arithmetic Operations, and Characters</vt:lpstr>
      <vt:lpstr>Signed Integer</vt:lpstr>
      <vt:lpstr>Sign and Magnitude Representation</vt:lpstr>
      <vt:lpstr>One’s Complement Representation</vt:lpstr>
      <vt:lpstr>Two’s Complement Representation</vt:lpstr>
      <vt:lpstr>Binary, Signed-Integer Representations</vt:lpstr>
      <vt:lpstr>Addition and Subtraction – 2’s Complement</vt:lpstr>
      <vt:lpstr>2’s-Complement Add and Subtract Operations</vt:lpstr>
      <vt:lpstr>Overflow - Add two positive numbers to get a negative number or two negative numbers to get a positive number</vt:lpstr>
      <vt:lpstr>Overflow Conditions</vt:lpstr>
      <vt:lpstr>Sign Extension</vt:lpstr>
      <vt:lpstr>Sign Extension Example</vt:lpstr>
      <vt:lpstr>Memory Locations, Addresses, and Operations</vt:lpstr>
      <vt:lpstr>Memory Location, Addresses, and Operation</vt:lpstr>
      <vt:lpstr>Memory Location, Addresses, and Operation</vt:lpstr>
      <vt:lpstr>Memory Location, Addresses, and Operation</vt:lpstr>
      <vt:lpstr>Memory Location, Addresses, and Operation</vt:lpstr>
      <vt:lpstr>Big-Endian and Little-Endian Assignments</vt:lpstr>
      <vt:lpstr>Memory Location, Addresses, and Operation</vt:lpstr>
      <vt:lpstr>Memory Operation</vt:lpstr>
      <vt:lpstr>Instruction and Instruction Sequencing</vt:lpstr>
      <vt:lpstr>“Must-Perform” Operations</vt:lpstr>
      <vt:lpstr>Register Transfer Notation</vt:lpstr>
      <vt:lpstr>Assembly Language Notation</vt:lpstr>
      <vt:lpstr>CPU Organization</vt:lpstr>
      <vt:lpstr>Instruction Formats</vt:lpstr>
      <vt:lpstr>Instruction Formats</vt:lpstr>
      <vt:lpstr>Instruction Formats</vt:lpstr>
      <vt:lpstr>Instruction Formats</vt:lpstr>
      <vt:lpstr>Instruction Formats</vt:lpstr>
      <vt:lpstr>Instruction Formats</vt:lpstr>
      <vt:lpstr>Using Registers</vt:lpstr>
      <vt:lpstr>Instruction Execution and Straight-Line Sequencing</vt:lpstr>
      <vt:lpstr>Branching</vt:lpstr>
      <vt:lpstr>Branching</vt:lpstr>
      <vt:lpstr>Condition Codes</vt:lpstr>
      <vt:lpstr>Conditional Branch Instructions</vt:lpstr>
      <vt:lpstr>Status Bits</vt:lpstr>
      <vt:lpstr>Addressing Modes</vt:lpstr>
      <vt:lpstr>Generating Memory Addresses</vt:lpstr>
      <vt:lpstr>Addressing Modes</vt:lpstr>
      <vt:lpstr>Addressing Modes</vt:lpstr>
      <vt:lpstr>Addressing Modes</vt:lpstr>
      <vt:lpstr>Addressing Modes</vt:lpstr>
      <vt:lpstr>Addressing Modes</vt:lpstr>
      <vt:lpstr>Addressing Modes</vt:lpstr>
      <vt:lpstr>Addressing Modes</vt:lpstr>
      <vt:lpstr>Indexing and Arrays</vt:lpstr>
      <vt:lpstr>Indexing and Arrays</vt:lpstr>
      <vt:lpstr>Relative Addressing</vt:lpstr>
      <vt:lpstr>Additional Modes</vt:lpstr>
      <vt:lpstr>Assembly Language</vt:lpstr>
      <vt:lpstr>Types of Instructions</vt:lpstr>
      <vt:lpstr>Data Transfer Instructions</vt:lpstr>
      <vt:lpstr>Data Manipulation Instructions</vt:lpstr>
      <vt:lpstr>Program Control Instructions</vt:lpstr>
      <vt:lpstr>Conditional Branch Instructions</vt:lpstr>
      <vt:lpstr>Basic Input/Output Operations</vt:lpstr>
      <vt:lpstr>I/O</vt:lpstr>
      <vt:lpstr>Program-Controlled I/O Example</vt:lpstr>
      <vt:lpstr>Program-Controlled I/O Example</vt:lpstr>
      <vt:lpstr>Program-Controlled I/O Example</vt:lpstr>
      <vt:lpstr>Program-Controlled I/O Example</vt:lpstr>
      <vt:lpstr>Program-Controlled I/O Example</vt:lpstr>
      <vt:lpstr>Stacks</vt:lpstr>
      <vt:lpstr>Home Work</vt:lpstr>
      <vt:lpstr>Stack Organization</vt:lpstr>
      <vt:lpstr>Stack Organization</vt:lpstr>
      <vt:lpstr>Stack Organization</vt:lpstr>
      <vt:lpstr>Stack Organization</vt:lpstr>
      <vt:lpstr>Reverse Polish Notation</vt:lpstr>
      <vt:lpstr>Reverse Polish Notation</vt:lpstr>
      <vt:lpstr>Reverse Polish Notation</vt:lpstr>
      <vt:lpstr>Additional Instructions</vt:lpstr>
      <vt:lpstr>Logical Shifts</vt:lpstr>
      <vt:lpstr>Arithmetic Shifts</vt:lpstr>
      <vt:lpstr>Rotate</vt:lpstr>
      <vt:lpstr>Multiplication and Division</vt:lpstr>
      <vt:lpstr>Encoding of Machine Instructions</vt:lpstr>
      <vt:lpstr>Encoding of Machine Instructions</vt:lpstr>
      <vt:lpstr>Encoding of Machine Instructions</vt:lpstr>
      <vt:lpstr>Encoding of Machine Instructions</vt:lpstr>
      <vt:lpstr>Encoding of Machine Instructions</vt:lpstr>
    </vt:vector>
  </TitlesOfParts>
  <Company>University of Arkansas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1. Basic Structure of Computers</dc:title>
  <dc:creator>CSCE Department</dc:creator>
  <cp:lastModifiedBy>KIIT0001</cp:lastModifiedBy>
  <cp:revision>65</cp:revision>
  <dcterms:created xsi:type="dcterms:W3CDTF">2005-06-14T20:24:17Z</dcterms:created>
  <dcterms:modified xsi:type="dcterms:W3CDTF">2025-01-09T09:29:37Z</dcterms:modified>
</cp:coreProperties>
</file>